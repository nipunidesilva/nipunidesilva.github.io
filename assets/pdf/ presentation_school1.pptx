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Garamond"/>
      <p:regular r:id="rId25"/>
      <p:bold r:id="rId26"/>
      <p:italic r:id="rId27"/>
      <p:boldItalic r:id="rId28"/>
    </p:embeddedFont>
    <p:embeddedFont>
      <p:font typeface="Oswa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aramond-bold.fntdata"/><Relationship Id="rId25" Type="http://schemas.openxmlformats.org/officeDocument/2006/relationships/font" Target="fonts/Garamond-regular.fntdata"/><Relationship Id="rId28" Type="http://schemas.openxmlformats.org/officeDocument/2006/relationships/font" Target="fonts/Garamond-boldItalic.fntdata"/><Relationship Id="rId27" Type="http://schemas.openxmlformats.org/officeDocument/2006/relationships/font" Target="fonts/Garamon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this presentation I’m going to give a simple </a:t>
            </a:r>
            <a:r>
              <a:rPr lang="en"/>
              <a:t>explanation</a:t>
            </a:r>
            <a:r>
              <a:rPr lang="en"/>
              <a:t> about Neural ODE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6fa6b9858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6fa6b9858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lets see how to solve an ODE generally and then we will move on 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ODE model and then I’ll show you some simulations of it.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0e88cfbc2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0e88cfbc2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are given an ODE we can solve it from two different way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1.Analytical Solution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example shows how to solving an ODE using Integrating factor and we can get the solution analytically.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next example show that we also can get an approximation to the solution of ODE using Numerical method such as Euler method.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the methods to solve an ODE if we know the what the differential Equation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what if we don’t know the dynamics or the ode of the function?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me  answer this question with Neural ODE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0e88cfbc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0e88cfbc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know that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dynamics of the system can be describe using 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We have lots of data which fit to this ODE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We don’t know what the ode model look like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case we can train NN to get the  RHS of the ODE of the given 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 </a:t>
            </a:r>
            <a:r>
              <a:rPr lang="en"/>
              <a:t>have</a:t>
            </a:r>
            <a:r>
              <a:rPr lang="en"/>
              <a:t> experimental data that replicates this system (time series data)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#------------------------------------------------------------------------------#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graphical representation of a spiral 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plots below it shows how how Neural ODE gives the approximation to the ode system as it was </a:t>
            </a:r>
            <a:r>
              <a:rPr lang="en"/>
              <a:t>training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 line show the Neural ODE output.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1261ff05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1261ff05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 ,Learning of NODE means learning the parameters of a  NN which represent the the RHS of ODE 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we solving Numerical ODE , Ode solver requires an RHS of ode, IC, Time interval and tolerance.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Difference here is when solving using an neural ode is  ode here is a NN.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idea here is that we integrate the NN derivative by a ODE solver such as Euler , RK4 or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Dormand–Prince (RKDP) method .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get a trajectory as an output  and tune the NN parameters until NN produce a trajectory that matches the data/ trajectory that has.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b6504c14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b6504c14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diagram shows How we train the Neural ODE to learn the </a:t>
            </a:r>
            <a:r>
              <a:rPr lang="en"/>
              <a:t>parameters</a:t>
            </a:r>
            <a:r>
              <a:rPr lang="en"/>
              <a:t> teta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I explain this process, i’ll talk about NN and how we usually train a NN.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#-------------------------------------------------------------------------------------------------------------#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plots in the RHS shows the Neural ODE output with initial parameter values (blue line) and how it trying to fit to the system after some </a:t>
            </a:r>
            <a:r>
              <a:rPr lang="en"/>
              <a:t>training</a:t>
            </a:r>
            <a:r>
              <a:rPr lang="en"/>
              <a:t> iterations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give input and output over and over again.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Universal approximation theorem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</a:rPr>
              <a:t>We can learn the parameters   of the dynamics f(z(t); t;  ) using standard backpropagation through the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</a:rPr>
              <a:t>discretized version of the NODE. This approach is based on the observation that a discretized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</a:rPr>
              <a:t>NODE is itself a neural network. We demonstrate this procedure for the Euler method and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</a:rPr>
              <a:t>the midpoint method.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15faf81e2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15faf81e2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NN is has the architecture as we can see in this picture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feed our data to input layer and process through the hidden layers and output layer </a:t>
            </a:r>
            <a:r>
              <a:rPr lang="en"/>
              <a:t>execute</a:t>
            </a:r>
            <a:r>
              <a:rPr lang="en"/>
              <a:t> the output.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me explain how this really happen </a:t>
            </a:r>
            <a:r>
              <a:rPr lang="en"/>
              <a:t>inside</a:t>
            </a:r>
            <a:r>
              <a:rPr lang="en"/>
              <a:t> the NN using this simple NN.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NN contains only one layer . That is output layer.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target is to produce y from input 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me explain what </a:t>
            </a:r>
            <a:r>
              <a:rPr lang="en"/>
              <a:t>happened</a:t>
            </a:r>
            <a:r>
              <a:rPr lang="en"/>
              <a:t> inside of a node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15af3343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15af3343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15faf81e23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15faf81e23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13B3F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13B3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Assign random weights to each layers.</a:t>
            </a:r>
            <a:endParaRPr sz="1500">
              <a:solidFill>
                <a:srgbClr val="313B3F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13B3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Loss function calculates how far is the nn output from the true target as a value:</a:t>
            </a:r>
            <a:endParaRPr sz="1500">
              <a:solidFill>
                <a:srgbClr val="313B3F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13B3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Optimize how to minimize this loss score by changing weights using method called backpropagation. </a:t>
            </a:r>
            <a:endParaRPr sz="1500">
              <a:solidFill>
                <a:srgbClr val="313B3F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13B3F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we send the error backwards to update the weights this is a small adjustment compared to earlier values.</a:t>
            </a:r>
            <a:endParaRPr sz="1500">
              <a:solidFill>
                <a:srgbClr val="313B3F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13B3F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13B3F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We go over this loop over and over again until we get correct accuracy : minimum loss we can obtain.</a:t>
            </a:r>
            <a:endParaRPr sz="1500">
              <a:solidFill>
                <a:srgbClr val="313B3F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13B3F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0f591bbf2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0f591bbf2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lets see how we can generate the data to train the Neural ODE. There are two ways.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can take one trajectory to train if the system is </a:t>
            </a:r>
            <a:r>
              <a:rPr lang="en"/>
              <a:t>periodic</a:t>
            </a:r>
            <a:r>
              <a:rPr lang="en"/>
              <a:t> type and when </a:t>
            </a:r>
            <a:r>
              <a:rPr lang="en"/>
              <a:t>training</a:t>
            </a:r>
            <a:r>
              <a:rPr lang="en"/>
              <a:t> 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every </a:t>
            </a:r>
            <a:r>
              <a:rPr lang="en"/>
              <a:t>training</a:t>
            </a:r>
            <a:r>
              <a:rPr lang="en"/>
              <a:t> iteration,</a:t>
            </a:r>
            <a:r>
              <a:rPr lang="en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get </a:t>
            </a:r>
            <a:r>
              <a:rPr lang="en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observed states of  the trajectory at different points in time. We called this set of sequence a batch of data.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way of generate data is by getting multiple of trajectory instead of one. 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">
                <a:solidFill>
                  <a:schemeClr val="dk1"/>
                </a:solidFill>
              </a:rPr>
              <a:t>For every training iteration,</a:t>
            </a:r>
            <a:r>
              <a:rPr lang="en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choosing a random trajectory from it and then getting a batch of data just like in the previous  case.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b6504c14a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b6504c14a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Batch:</a:t>
            </a:r>
            <a:r>
              <a:rPr lang="en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observed states of  the trajectory at different points in time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let me show the full algorithm .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we  Setting up the Neural Network parameters with random weights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then for each iteration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Forward pass: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Given a sequence of observed states(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batchY )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we compute the predicted states( predY ) by solving the ODE system using a numerical solver.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Loss computation: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 a loss function that measures the discrepancy between the predicted states and the true observed states. We used mean absolute error (MAE)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= mean(| predY - batchY|)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Backward pass: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 the gradients of the loss function with respect to the network parameters using backpropagation.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Parameter update: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Update the network parameters using an optimization algorithm, such as stochastic gradient descent (SGD) or Adam, to minimize the loss function.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0f591bbf25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0f591bbf25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0e88cfbc2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0e88cfbc2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0e88cfbc2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0e88cfbc2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76176da82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76176da82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the conclusion ,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63658" y="453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0" y="231450"/>
            <a:ext cx="9144000" cy="534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0" y="117150"/>
            <a:ext cx="9144000" cy="1143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0" y="4895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desilvr@clarkson.edu" TargetMode="External"/><Relationship Id="rId4" Type="http://schemas.openxmlformats.org/officeDocument/2006/relationships/image" Target="../media/image8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4.png"/><Relationship Id="rId13" Type="http://schemas.openxmlformats.org/officeDocument/2006/relationships/image" Target="../media/image20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9" Type="http://schemas.openxmlformats.org/officeDocument/2006/relationships/image" Target="../media/image5.png"/><Relationship Id="rId15" Type="http://schemas.openxmlformats.org/officeDocument/2006/relationships/image" Target="../media/image22.png"/><Relationship Id="rId14" Type="http://schemas.openxmlformats.org/officeDocument/2006/relationships/image" Target="../media/image8.png"/><Relationship Id="rId16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35.png"/><Relationship Id="rId8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11" Type="http://schemas.openxmlformats.org/officeDocument/2006/relationships/image" Target="../media/image20.png"/><Relationship Id="rId10" Type="http://schemas.openxmlformats.org/officeDocument/2006/relationships/image" Target="../media/image7.png"/><Relationship Id="rId13" Type="http://schemas.openxmlformats.org/officeDocument/2006/relationships/image" Target="../media/image22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Relationship Id="rId15" Type="http://schemas.openxmlformats.org/officeDocument/2006/relationships/image" Target="../media/image32.png"/><Relationship Id="rId14" Type="http://schemas.openxmlformats.org/officeDocument/2006/relationships/image" Target="../media/image26.png"/><Relationship Id="rId17" Type="http://schemas.openxmlformats.org/officeDocument/2006/relationships/image" Target="../media/image21.png"/><Relationship Id="rId16" Type="http://schemas.openxmlformats.org/officeDocument/2006/relationships/image" Target="../media/image28.png"/><Relationship Id="rId5" Type="http://schemas.openxmlformats.org/officeDocument/2006/relationships/image" Target="../media/image6.png"/><Relationship Id="rId19" Type="http://schemas.openxmlformats.org/officeDocument/2006/relationships/image" Target="../media/image39.png"/><Relationship Id="rId6" Type="http://schemas.openxmlformats.org/officeDocument/2006/relationships/image" Target="../media/image14.png"/><Relationship Id="rId18" Type="http://schemas.openxmlformats.org/officeDocument/2006/relationships/image" Target="../media/image27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7.png"/><Relationship Id="rId13" Type="http://schemas.openxmlformats.org/officeDocument/2006/relationships/image" Target="../media/image40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46.png"/><Relationship Id="rId14" Type="http://schemas.openxmlformats.org/officeDocument/2006/relationships/image" Target="../media/image47.png"/><Relationship Id="rId5" Type="http://schemas.openxmlformats.org/officeDocument/2006/relationships/image" Target="../media/image31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56.png"/><Relationship Id="rId13" Type="http://schemas.openxmlformats.org/officeDocument/2006/relationships/image" Target="../media/image59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5" Type="http://schemas.openxmlformats.org/officeDocument/2006/relationships/image" Target="../media/image45.png"/><Relationship Id="rId6" Type="http://schemas.openxmlformats.org/officeDocument/2006/relationships/image" Target="../media/image44.png"/><Relationship Id="rId7" Type="http://schemas.openxmlformats.org/officeDocument/2006/relationships/image" Target="../media/image41.png"/><Relationship Id="rId8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78.png"/><Relationship Id="rId22" Type="http://schemas.openxmlformats.org/officeDocument/2006/relationships/image" Target="../media/image68.png"/><Relationship Id="rId21" Type="http://schemas.openxmlformats.org/officeDocument/2006/relationships/image" Target="../media/image57.png"/><Relationship Id="rId24" Type="http://schemas.openxmlformats.org/officeDocument/2006/relationships/image" Target="../media/image71.png"/><Relationship Id="rId23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Relationship Id="rId4" Type="http://schemas.openxmlformats.org/officeDocument/2006/relationships/image" Target="../media/image45.png"/><Relationship Id="rId9" Type="http://schemas.openxmlformats.org/officeDocument/2006/relationships/image" Target="../media/image53.png"/><Relationship Id="rId26" Type="http://schemas.openxmlformats.org/officeDocument/2006/relationships/image" Target="../media/image61.png"/><Relationship Id="rId25" Type="http://schemas.openxmlformats.org/officeDocument/2006/relationships/image" Target="../media/image79.png"/><Relationship Id="rId28" Type="http://schemas.openxmlformats.org/officeDocument/2006/relationships/image" Target="../media/image82.png"/><Relationship Id="rId27" Type="http://schemas.openxmlformats.org/officeDocument/2006/relationships/image" Target="../media/image63.png"/><Relationship Id="rId5" Type="http://schemas.openxmlformats.org/officeDocument/2006/relationships/image" Target="../media/image44.png"/><Relationship Id="rId6" Type="http://schemas.openxmlformats.org/officeDocument/2006/relationships/image" Target="../media/image52.png"/><Relationship Id="rId7" Type="http://schemas.openxmlformats.org/officeDocument/2006/relationships/image" Target="../media/image51.png"/><Relationship Id="rId8" Type="http://schemas.openxmlformats.org/officeDocument/2006/relationships/image" Target="../media/image65.png"/><Relationship Id="rId11" Type="http://schemas.openxmlformats.org/officeDocument/2006/relationships/image" Target="../media/image64.png"/><Relationship Id="rId10" Type="http://schemas.openxmlformats.org/officeDocument/2006/relationships/image" Target="../media/image55.png"/><Relationship Id="rId13" Type="http://schemas.openxmlformats.org/officeDocument/2006/relationships/image" Target="../media/image50.png"/><Relationship Id="rId12" Type="http://schemas.openxmlformats.org/officeDocument/2006/relationships/image" Target="../media/image41.png"/><Relationship Id="rId15" Type="http://schemas.openxmlformats.org/officeDocument/2006/relationships/image" Target="../media/image56.png"/><Relationship Id="rId14" Type="http://schemas.openxmlformats.org/officeDocument/2006/relationships/image" Target="../media/image48.png"/><Relationship Id="rId17" Type="http://schemas.openxmlformats.org/officeDocument/2006/relationships/image" Target="../media/image54.png"/><Relationship Id="rId16" Type="http://schemas.openxmlformats.org/officeDocument/2006/relationships/image" Target="../media/image49.png"/><Relationship Id="rId19" Type="http://schemas.openxmlformats.org/officeDocument/2006/relationships/image" Target="../media/image62.png"/><Relationship Id="rId18" Type="http://schemas.openxmlformats.org/officeDocument/2006/relationships/image" Target="../media/image6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8.png"/><Relationship Id="rId4" Type="http://schemas.openxmlformats.org/officeDocument/2006/relationships/image" Target="../media/image75.png"/><Relationship Id="rId5" Type="http://schemas.openxmlformats.org/officeDocument/2006/relationships/image" Target="../media/image6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9.png"/><Relationship Id="rId4" Type="http://schemas.openxmlformats.org/officeDocument/2006/relationships/image" Target="../media/image7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0.png"/><Relationship Id="rId4" Type="http://schemas.openxmlformats.org/officeDocument/2006/relationships/image" Target="../media/image76.png"/><Relationship Id="rId9" Type="http://schemas.openxmlformats.org/officeDocument/2006/relationships/image" Target="../media/image83.png"/><Relationship Id="rId5" Type="http://schemas.openxmlformats.org/officeDocument/2006/relationships/image" Target="../media/image23.png"/><Relationship Id="rId6" Type="http://schemas.openxmlformats.org/officeDocument/2006/relationships/image" Target="../media/image81.png"/><Relationship Id="rId7" Type="http://schemas.openxmlformats.org/officeDocument/2006/relationships/image" Target="../media/image11.png"/><Relationship Id="rId8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85.gif"/><Relationship Id="rId5" Type="http://schemas.openxmlformats.org/officeDocument/2006/relationships/image" Target="../media/image80.png"/><Relationship Id="rId6" Type="http://schemas.openxmlformats.org/officeDocument/2006/relationships/image" Target="../media/image74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4.gif"/><Relationship Id="rId4" Type="http://schemas.openxmlformats.org/officeDocument/2006/relationships/image" Target="../media/image73.png"/><Relationship Id="rId5" Type="http://schemas.openxmlformats.org/officeDocument/2006/relationships/image" Target="../media/image7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489200" y="1607050"/>
            <a:ext cx="7781700" cy="30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054B3E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054B3E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054B3E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6886">
              <a:solidFill>
                <a:srgbClr val="054B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6886">
                <a:solidFill>
                  <a:srgbClr val="054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Ordinary </a:t>
            </a:r>
            <a:r>
              <a:rPr b="1" lang="en" sz="6886">
                <a:solidFill>
                  <a:srgbClr val="054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Differential</a:t>
            </a:r>
            <a:r>
              <a:rPr b="1" lang="en" sz="6886">
                <a:solidFill>
                  <a:srgbClr val="054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Equations</a:t>
            </a:r>
            <a:endParaRPr b="1" sz="6686">
              <a:solidFill>
                <a:srgbClr val="054B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6886">
                <a:solidFill>
                  <a:srgbClr val="054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Rammini Nipuni Senani de Silva</a:t>
            </a:r>
            <a:endParaRPr sz="6886">
              <a:solidFill>
                <a:srgbClr val="054B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6886" u="sng">
              <a:solidFill>
                <a:srgbClr val="054B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6886" u="sng">
              <a:solidFill>
                <a:srgbClr val="054B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3886">
                <a:solidFill>
                  <a:srgbClr val="054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Mathematics</a:t>
            </a:r>
            <a:endParaRPr sz="3886">
              <a:solidFill>
                <a:srgbClr val="054B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3886">
                <a:solidFill>
                  <a:srgbClr val="054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Clarkson University, Potsdam</a:t>
            </a:r>
            <a:endParaRPr sz="3886">
              <a:solidFill>
                <a:srgbClr val="054B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3886">
                <a:solidFill>
                  <a:srgbClr val="0097A7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desilvr@clarkson.edu</a:t>
            </a:r>
            <a:endParaRPr sz="3886">
              <a:solidFill>
                <a:srgbClr val="054B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3886">
              <a:solidFill>
                <a:srgbClr val="054B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3886">
                <a:solidFill>
                  <a:srgbClr val="054B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March 7, 2023</a:t>
            </a:r>
            <a:endParaRPr sz="3886">
              <a:solidFill>
                <a:srgbClr val="054B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solidFill>
                <a:srgbClr val="054B3E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054B3E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rgbClr val="054B3E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rgbClr val="054B3E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rgbClr val="054B3E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0" y="49149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4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0" y="497205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8472458" y="41968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4">
            <a:alphaModFix/>
          </a:blip>
          <a:srcRect b="19306" l="4514" r="71722" t="15381"/>
          <a:stretch/>
        </p:blipFill>
        <p:spPr>
          <a:xfrm>
            <a:off x="165075" y="137650"/>
            <a:ext cx="659251" cy="6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0" y="266700"/>
            <a:ext cx="9144000" cy="534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Content</a:t>
            </a:r>
            <a:endParaRPr sz="2600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0" y="152400"/>
            <a:ext cx="9144000" cy="1143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0" y="4895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34425" y="944275"/>
            <a:ext cx="3666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ODEs and Solving ODEs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Neural ODEs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Neural ODE Simulations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650" y="1742250"/>
            <a:ext cx="4738174" cy="2961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0" y="255275"/>
            <a:ext cx="9144000" cy="534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Ordinary Differential Equations</a:t>
            </a:r>
            <a:endParaRPr sz="2600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0" y="152400"/>
            <a:ext cx="9144000" cy="1143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0" y="4895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81" name="Google Shape;81;p15" title="[0,0,0,&quot;https://www.codecogs.com/eqnedit.php?latex=%5Cfrac%7Bdv%7D%7Bdt%7D%20%2Bav%20%3D%20b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475" y="2358950"/>
            <a:ext cx="10922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[0,0,0,&quot;https://www.codecogs.com/eqnedit.php?latex=%5Cfrac%7Bdy%7D%7Bdt%7D%20%3D%20f(y%2Ct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800" y="1312950"/>
            <a:ext cx="1079501" cy="444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5"/>
          <p:cNvCxnSpPr/>
          <p:nvPr/>
        </p:nvCxnSpPr>
        <p:spPr>
          <a:xfrm>
            <a:off x="2119375" y="1546225"/>
            <a:ext cx="553200" cy="66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5"/>
          <p:cNvCxnSpPr/>
          <p:nvPr/>
        </p:nvCxnSpPr>
        <p:spPr>
          <a:xfrm>
            <a:off x="2679225" y="1272950"/>
            <a:ext cx="0" cy="533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5"/>
          <p:cNvCxnSpPr/>
          <p:nvPr/>
        </p:nvCxnSpPr>
        <p:spPr>
          <a:xfrm>
            <a:off x="2679225" y="1272950"/>
            <a:ext cx="3867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/>
          <p:nvPr/>
        </p:nvCxnSpPr>
        <p:spPr>
          <a:xfrm>
            <a:off x="2679225" y="1806050"/>
            <a:ext cx="3867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 txBox="1"/>
          <p:nvPr/>
        </p:nvSpPr>
        <p:spPr>
          <a:xfrm>
            <a:off x="3104875" y="1072850"/>
            <a:ext cx="224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Analytical Solutions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3104875" y="1605950"/>
            <a:ext cx="224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Numerical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Solutions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5" title="[0,0,0,&quot;https://www.codecogs.com/eqnedit.php?latex=v(t)%20%3D%20(b%2Fa)%20%2B%20c%20e%5E%7B-at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2575" y="2445313"/>
            <a:ext cx="1943617" cy="2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4725300" y="2404200"/>
            <a:ext cx="1419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where c is constant.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1932775" y="2532600"/>
            <a:ext cx="54870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152400" y="1944925"/>
            <a:ext cx="4031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Analytical Solutions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Solutions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a numerical solver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Eg: Euler Method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5" title="[0,0,0,&quot;https://www.codecogs.com/eqnedit.php?latex=y(t_0)%20%3D%20y0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3612" y="3679575"/>
            <a:ext cx="871438" cy="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 title="[0,0,0,&quot;https://www.codecogs.com/eqnedit.php?latex=%5Cfrac%7Bdy%7D%7Bdt%7D%20%3D%20f(y%2Ct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475" y="3561188"/>
            <a:ext cx="971914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1662850" y="3571188"/>
            <a:ext cx="55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; </a:t>
            </a:r>
            <a:endParaRPr/>
          </a:p>
        </p:txBody>
      </p:sp>
      <p:cxnSp>
        <p:nvCxnSpPr>
          <p:cNvPr id="96" name="Google Shape;96;p15"/>
          <p:cNvCxnSpPr/>
          <p:nvPr/>
        </p:nvCxnSpPr>
        <p:spPr>
          <a:xfrm flipH="1" rot="10800000">
            <a:off x="5345125" y="4485400"/>
            <a:ext cx="22059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5"/>
          <p:cNvCxnSpPr/>
          <p:nvPr/>
        </p:nvCxnSpPr>
        <p:spPr>
          <a:xfrm rot="10800000">
            <a:off x="5358450" y="3085675"/>
            <a:ext cx="0" cy="141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5"/>
          <p:cNvSpPr/>
          <p:nvPr/>
        </p:nvSpPr>
        <p:spPr>
          <a:xfrm>
            <a:off x="5538363" y="3398850"/>
            <a:ext cx="1866136" cy="674847"/>
          </a:xfrm>
          <a:custGeom>
            <a:rect b="b" l="l" r="r" t="t"/>
            <a:pathLst>
              <a:path extrusionOk="0" h="27165" w="69580">
                <a:moveTo>
                  <a:pt x="0" y="27165"/>
                </a:moveTo>
                <a:cubicBezTo>
                  <a:pt x="0" y="16492"/>
                  <a:pt x="6800" y="1997"/>
                  <a:pt x="17328" y="239"/>
                </a:cubicBezTo>
                <a:cubicBezTo>
                  <a:pt x="25810" y="-1177"/>
                  <a:pt x="33998" y="4742"/>
                  <a:pt x="41855" y="8237"/>
                </a:cubicBezTo>
                <a:cubicBezTo>
                  <a:pt x="50398" y="12037"/>
                  <a:pt x="62964" y="10580"/>
                  <a:pt x="69580" y="3972"/>
                </a:cubicBezTo>
              </a:path>
            </a:pathLst>
          </a:custGeom>
          <a:noFill/>
          <a:ln cap="flat" cmpd="sng" w="9525">
            <a:solidFill>
              <a:srgbClr val="054B3E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99" name="Google Shape;99;p15"/>
          <p:cNvCxnSpPr/>
          <p:nvPr/>
        </p:nvCxnSpPr>
        <p:spPr>
          <a:xfrm flipH="1" rot="10800000">
            <a:off x="5605125" y="3398850"/>
            <a:ext cx="259800" cy="2592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5"/>
          <p:cNvCxnSpPr/>
          <p:nvPr/>
        </p:nvCxnSpPr>
        <p:spPr>
          <a:xfrm flipH="1" rot="10800000">
            <a:off x="5864925" y="3365550"/>
            <a:ext cx="420000" cy="333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5"/>
          <p:cNvCxnSpPr/>
          <p:nvPr/>
        </p:nvCxnSpPr>
        <p:spPr>
          <a:xfrm>
            <a:off x="6279775" y="3365550"/>
            <a:ext cx="336600" cy="1677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5"/>
          <p:cNvCxnSpPr/>
          <p:nvPr/>
        </p:nvCxnSpPr>
        <p:spPr>
          <a:xfrm>
            <a:off x="6616375" y="3529350"/>
            <a:ext cx="354900" cy="762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5"/>
          <p:cNvCxnSpPr/>
          <p:nvPr/>
        </p:nvCxnSpPr>
        <p:spPr>
          <a:xfrm flipH="1" rot="10800000">
            <a:off x="6971275" y="3448500"/>
            <a:ext cx="393300" cy="1599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5"/>
          <p:cNvCxnSpPr/>
          <p:nvPr/>
        </p:nvCxnSpPr>
        <p:spPr>
          <a:xfrm flipH="1" rot="10800000">
            <a:off x="5498400" y="3665600"/>
            <a:ext cx="106800" cy="3732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{&quot;code&quot;:&quot;$$\\left(t_{0},y_{0}\\right)$$&quot;,&quot;aid&quot;:null,&quot;backgroundColor&quot;:&quot;#FFFFFF&quot;,&quot;id&quot;:&quot;1&quot;,&quot;font&quot;:{&quot;family&quot;:&quot;Arial&quot;,&quot;color&quot;:&quot;#000000&quot;,&quot;size&quot;:8},&quot;type&quot;:&quot;$$&quot;,&quot;ts&quot;:1676765110766,&quot;cs&quot;:&quot;k18ZOJ1ZMHNDrPeLBIK7vA==&quot;,&quot;size&quot;:{&quot;width&quot;:35.338603674540686,&quot;height&quot;:13.136680052493405}}" id="105" name="Google Shape;10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3825" y="3976298"/>
            <a:ext cx="336600" cy="125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id&quot;:&quot;2&quot;,&quot;backgroundColorModified&quot;:false,&quot;code&quot;:&quot;$$\\left(t_{1},y_{1}\\right)$$&quot;,&quot;backgroundColor&quot;:&quot;#FFFFFF&quot;,&quot;font&quot;:{&quot;family&quot;:&quot;Arial&quot;,&quot;size&quot;:&quot;9&quot;,&quot;color&quot;:&quot;#000000&quot;},&quot;ts&quot;:1676765041237,&quot;cs&quot;:&quot;qXf+NkeeURMvJhkFM7Wd+g==&quot;,&quot;size&quot;:{&quot;width&quot;:38,&quot;height&quot;:14.166666666666666}}" id="106" name="Google Shape;10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31825" y="3574779"/>
            <a:ext cx="336600" cy="125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Modified&quot;:false,&quot;font&quot;:{&quot;family&quot;:&quot;Arial&quot;,&quot;size&quot;:8,&quot;color&quot;:&quot;#000000&quot;},&quot;aid&quot;:null,&quot;code&quot;:&quot;$$\\left(t_{2},y_{2}\\right)$$&quot;,&quot;id&quot;:&quot;3&quot;,&quot;backgroundColor&quot;:&quot;#FFFFFF&quot;,&quot;ts&quot;:1676765139813,&quot;cs&quot;:&quot;hCxG5ueZjxzXAv9IHakneg==&quot;,&quot;size&quot;:{&quot;width&quot;:33.666666666666664,&quot;height&quot;:12.666666666666666}}" id="107" name="Google Shape;107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34688" y="3278200"/>
            <a:ext cx="320675" cy="12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&quot;8&quot;,&quot;family&quot;:&quot;Arial&quot;,&quot;color&quot;:&quot;#000000&quot;},&quot;type&quot;:&quot;$$&quot;,&quot;code&quot;:&quot;$$\\left(t_{3},y_{3}\\right)$$&quot;,&quot;id&quot;:&quot;4&quot;,&quot;backgroundColor&quot;:&quot;#FFFFFF&quot;,&quot;backgroundColorModified&quot;:false,&quot;aid&quot;:null,&quot;ts&quot;:1676765170972,&quot;cs&quot;:&quot;QiziG7S8Z/aZJ0TOgZxgFw==&quot;,&quot;size&quot;:{&quot;width&quot;:33.666666666666664,&quot;height&quot;:12.666666666666666}}" id="108" name="Google Shape;108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50825" y="3237725"/>
            <a:ext cx="320675" cy="12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&quot;8&quot;,&quot;family&quot;:&quot;Arial&quot;,&quot;color&quot;:&quot;#000000&quot;},&quot;aid&quot;:null,&quot;backgroundColor&quot;:&quot;#FFFFFF&quot;,&quot;code&quot;:&quot;$$\\left(t_{4},y_{4}\\right)$$&quot;,&quot;type&quot;:&quot;$$&quot;,&quot;backgroundColorModified&quot;:false,&quot;id&quot;:&quot;5&quot;,&quot;ts&quot;:1676765246049,&quot;cs&quot;:&quot;1LU5UhL9FPqA2pFMK34gww==&quot;,&quot;size&quot;:{&quot;width&quot;:33.666666666666664,&quot;height&quot;:12.666666666666666}}" id="109" name="Google Shape;109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16375" y="3389075"/>
            <a:ext cx="320675" cy="12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6&quot;,&quot;type&quot;:&quot;$$&quot;,&quot;code&quot;:&quot;$$\\left(t_{5},y_{5}\\right)$$&quot;,&quot;font&quot;:{&quot;family&quot;:&quot;Arial&quot;,&quot;size&quot;:&quot;8&quot;,&quot;color&quot;:&quot;#000000&quot;},&quot;backgroundColorModified&quot;:false,&quot;backgroundColor&quot;:&quot;#FFFFFF&quot;,&quot;aid&quot;:null,&quot;ts&quot;:1676765274425,&quot;cs&quot;:&quot;GxJEA2aJSavxB7I8Zu77Sw==&quot;,&quot;size&quot;:{&quot;width&quot;:33.666666666666664,&quot;height&quot;:12.666666666666666}}" id="110" name="Google Shape;110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971275" y="3675950"/>
            <a:ext cx="320675" cy="12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family&quot;:&quot;Arial&quot;,&quot;size&quot;:&quot;8&quot;},&quot;type&quot;:&quot;$$&quot;,&quot;backgroundColor&quot;:&quot;#FFFFFF&quot;,&quot;code&quot;:&quot;$$\\left(t_{6},y_{6}\\right)$$&quot;,&quot;id&quot;:&quot;7&quot;,&quot;aid&quot;:null,&quot;backgroundColorModified&quot;:false,&quot;ts&quot;:1676765312071,&quot;cs&quot;:&quot;rb0KspptpHo9XIo9owingg==&quot;,&quot;size&quot;:{&quot;width&quot;:33.666666666666664,&quot;height&quot;:12.666666666666666}}" id="111" name="Google Shape;111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398800" y="3358375"/>
            <a:ext cx="320675" cy="12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code&quot;:&quot;$$t$$&quot;,&quot;id&quot;:&quot;8&quot;,&quot;font&quot;:{&quot;color&quot;:&quot;#000000&quot;,&quot;size&quot;:&quot;10&quot;,&quot;family&quot;:&quot;Arial&quot;},&quot;aid&quot;:null,&quot;type&quot;:&quot;$$&quot;,&quot;ts&quot;:1676765341134,&quot;cs&quot;:&quot;wT0Un71mycgHi5AUMIFEGQ==&quot;,&quot;size&quot;:{&quot;width&quot;:5,&quot;height&quot;:10}}" id="112" name="Google Shape;112;p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51025" y="4444350"/>
            <a:ext cx="476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backgroundColorModified&quot;:false,&quot;backgroundColor&quot;:&quot;#FFFFFF&quot;,&quot;code&quot;:&quot;$$y$$&quot;,&quot;id&quot;:&quot;9&quot;,&quot;font&quot;:{&quot;color&quot;:&quot;#000000&quot;,&quot;size&quot;:&quot;10&quot;,&quot;family&quot;:&quot;Arial&quot;},&quot;ts&quot;:1676765388691,&quot;cs&quot;:&quot;YaRQU0RTkza95RY3rEuZqQ==&quot;,&quot;size&quot;:{&quot;width&quot;:7.333333333333333,&quot;height&quot;:10.166666666666666}}" id="113" name="Google Shape;113;p1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323525" y="2952525"/>
            <a:ext cx="69850" cy="96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backgroundColor&quot;:&quot;#FFFFFF&quot;,&quot;code&quot;:&quot;$y_{i+1}\\,=\\,y_{i}\\,+\\,f\\left(t_{i},y_{i}\\right)\\left(t_{i+1}\\,-\\,t_{i}\\right)$&quot;,&quot;aid&quot;:null,&quot;font&quot;:{&quot;color&quot;:&quot;#000000&quot;,&quot;family&quot;:&quot;Arial&quot;,&quot;size&quot;:13},&quot;id&quot;:&quot;10&quot;,&quot;ts&quot;:1676765804746,&quot;cs&quot;:&quot;H9OwRJpdNkvEgFngVA50jg==&quot;,&quot;size&quot;:{&quot;width&quot;:283.2602351706037,&quot;height&quot;:21.493438320209975}}" id="114" name="Google Shape;114;p1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10300" y="4602625"/>
            <a:ext cx="2698054" cy="20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0" y="4895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233275" y="933050"/>
            <a:ext cx="43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Neural Ordinary Differential Equations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233275" y="1333250"/>
            <a:ext cx="5011800" cy="1846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system dynamics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described using ODEs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don’t know what the ODE model             looks like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 time series data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fit to this ODE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id&quot;:&quot;12&quot;,&quot;aid&quot;:null,&quot;type&quot;:&quot;$$&quot;,&quot;backgroundColor&quot;:&quot;#FFFFFF&quot;,&quot;code&quot;:&quot;$$y^{\\prime}=\\underbrace{f\\left(y,t\\right)}_{unknown}$$&quot;,&quot;font&quot;:{&quot;size&quot;:14,&quot;family&quot;:&quot;Arial&quot;,&quot;color&quot;:&quot;#000000&quot;},&quot;backgroundColorModified&quot;:false,&quot;ts&quot;:1676776414505,&quot;cs&quot;:&quot;qfyzRJsrzcJ+uQ+1ALIU2g==&quot;,&quot;size&quot;:{&quot;width&quot;:108,&quot;height&quot;:52.833333333333336}}"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800" y="2238525"/>
            <a:ext cx="1028700" cy="503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346575" y="3465650"/>
            <a:ext cx="45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create a Neural Network to obtain the ODE model             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use data to determine its parameters.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f\\left(y,t\\right)$$&quot;,&quot;backgroundColor&quot;:&quot;#FFFFFF&quot;,&quot;type&quot;:&quot;$$&quot;,&quot;font&quot;:{&quot;color&quot;:&quot;#000000&quot;,&quot;size&quot;:14,&quot;family&quot;:&quot;Arial&quot;},&quot;backgroundColorModified&quot;:false,&quot;aid&quot;:null,&quot;id&quot;:&quot;14&quot;,&quot;ts&quot;:1676776745499,&quot;cs&quot;:&quot;QDXROYQf76B19p9SJ7zMag==&quot;,&quot;size&quot;:{&quot;width&quot;:54.166666666666664,&quot;height&quot;:22}}" id="126" name="Google Shape;12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2450" y="3560975"/>
            <a:ext cx="51593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5&quot;,&quot;backgroundColor&quot;:&quot;#FFFFFF&quot;,&quot;type&quot;:&quot;$$&quot;,&quot;aid&quot;:null,&quot;font&quot;:{&quot;family&quot;:&quot;Arial&quot;,&quot;size&quot;:14,&quot;color&quot;:&quot;#000000&quot;},&quot;code&quot;:&quot;$$f\\left(y,t\\right)\\Rightarrow\\,f\\left(h\\left(t\\right),t,\\theta\\right)$$&quot;,&quot;ts&quot;:1676777027994,&quot;cs&quot;:&quot;l0psXawsZXeHRPjdC6YHCQ==&quot;,&quot;size&quot;:{&quot;width&quot;:196.16666666666666,&quot;height&quot;:22}}" id="127" name="Google Shape;12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725" y="4228338"/>
            <a:ext cx="1868488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2524450" y="4247313"/>
            <a:ext cx="579900" cy="1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167025" y="4133013"/>
            <a:ext cx="183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Neural ODE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6975" y="1081174"/>
            <a:ext cx="1205950" cy="7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74538" y="2096626"/>
            <a:ext cx="1180575" cy="7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9863" y="2088163"/>
            <a:ext cx="1205950" cy="80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90550" y="2088158"/>
            <a:ext cx="1205950" cy="803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6&quot;,&quot;backgroundColorModified&quot;:false,&quot;backgroundColor&quot;:&quot;#FFFFFF&quot;,&quot;code&quot;:&quot;$$y^{\\prime}\\,=\\,\\begin{bmatrix}\n{-0.1}&amp;{2.0}\\\\\n{-2.0}&amp;{-0.1}\\\\\n\\end{bmatrix}y$$&quot;,&quot;type&quot;:&quot;$$&quot;,&quot;aid&quot;:null,&quot;font&quot;:{&quot;color&quot;:&quot;#000000&quot;,&quot;size&quot;:13.5,&quot;family&quot;:&quot;Arial&quot;},&quot;ts&quot;:1676778018952,&quot;cs&quot;:&quot;+Ctyv+HuGsXqe0trPx2SMg==&quot;,&quot;size&quot;:{&quot;width&quot;:169.8346706036745,&quot;height&quot;:52.834615223097124}}" id="134" name="Google Shape;134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07175" y="1123175"/>
            <a:ext cx="1617675" cy="5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/>
          <p:nvPr/>
        </p:nvSpPr>
        <p:spPr>
          <a:xfrm>
            <a:off x="6529100" y="2456275"/>
            <a:ext cx="147000" cy="11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742513" y="2432413"/>
            <a:ext cx="147000" cy="11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&quot;:&quot;#FFFFFF&quot;,&quot;type&quot;:&quot;$$&quot;,&quot;code&quot;:&quot;$$f\\left(y,t\\right)$$&quot;,&quot;font&quot;:{&quot;color&quot;:&quot;#000000&quot;,&quot;size&quot;:12,&quot;family&quot;:&quot;Arial&quot;},&quot;aid&quot;:null,&quot;id&quot;:&quot;82&quot;,&quot;ts&quot;:1678134935811,&quot;cs&quot;:&quot;10rq07cmXW1J+/2BIqPstQ==&quot;,&quot;size&quot;:{&quot;width&quot;:46.5,&quot;height&quot;:18.833333333333332}}" id="137" name="Google Shape;137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39050" y="1999600"/>
            <a:ext cx="442913" cy="1793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2762900" y="20852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Neural ODEs</a:t>
            </a:r>
            <a:endParaRPr sz="2600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/>
        </p:nvSpPr>
        <p:spPr>
          <a:xfrm>
            <a:off x="0" y="51725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0" y="50009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8511470" y="4425161"/>
            <a:ext cx="6138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46" name="Google Shape;146;p17" title="[0,0,0,&quot;https://www.codecogs.com/eqnedit.php?latex=y(t_0)%20%3D%20y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362" y="1250750"/>
            <a:ext cx="871438" cy="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[0,0,0,&quot;https://www.codecogs.com/eqnedit.php?latex=%5Cfrac%7Bdy%7D%7Bdt%7D%20%3D%20f(y%2Ct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825" y="1144663"/>
            <a:ext cx="971914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1398263" y="1152988"/>
            <a:ext cx="55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; </a:t>
            </a:r>
            <a:endParaRPr/>
          </a:p>
        </p:txBody>
      </p:sp>
      <p:cxnSp>
        <p:nvCxnSpPr>
          <p:cNvPr id="149" name="Google Shape;149;p17"/>
          <p:cNvCxnSpPr/>
          <p:nvPr/>
        </p:nvCxnSpPr>
        <p:spPr>
          <a:xfrm flipH="1" rot="10800000">
            <a:off x="6163220" y="3868877"/>
            <a:ext cx="24684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7"/>
          <p:cNvCxnSpPr/>
          <p:nvPr/>
        </p:nvCxnSpPr>
        <p:spPr>
          <a:xfrm rot="10800000">
            <a:off x="6178131" y="2283141"/>
            <a:ext cx="0" cy="16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17"/>
          <p:cNvSpPr/>
          <p:nvPr/>
        </p:nvSpPr>
        <p:spPr>
          <a:xfrm>
            <a:off x="6379449" y="2637730"/>
            <a:ext cx="2088096" cy="764695"/>
          </a:xfrm>
          <a:custGeom>
            <a:rect b="b" l="l" r="r" t="t"/>
            <a:pathLst>
              <a:path extrusionOk="0" h="27165" w="69580">
                <a:moveTo>
                  <a:pt x="0" y="27165"/>
                </a:moveTo>
                <a:cubicBezTo>
                  <a:pt x="0" y="16492"/>
                  <a:pt x="6800" y="1997"/>
                  <a:pt x="17328" y="239"/>
                </a:cubicBezTo>
                <a:cubicBezTo>
                  <a:pt x="25810" y="-1177"/>
                  <a:pt x="33998" y="4742"/>
                  <a:pt x="41855" y="8237"/>
                </a:cubicBezTo>
                <a:cubicBezTo>
                  <a:pt x="50398" y="12037"/>
                  <a:pt x="62964" y="10580"/>
                  <a:pt x="69580" y="3972"/>
                </a:cubicBezTo>
              </a:path>
            </a:pathLst>
          </a:custGeom>
          <a:noFill/>
          <a:ln cap="flat" cmpd="sng" w="9525">
            <a:solidFill>
              <a:srgbClr val="054B3E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52" name="Google Shape;152;p17"/>
          <p:cNvCxnSpPr/>
          <p:nvPr/>
        </p:nvCxnSpPr>
        <p:spPr>
          <a:xfrm flipH="1" rot="10800000">
            <a:off x="6454155" y="2637729"/>
            <a:ext cx="290700" cy="2937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7"/>
          <p:cNvCxnSpPr/>
          <p:nvPr/>
        </p:nvCxnSpPr>
        <p:spPr>
          <a:xfrm flipH="1" rot="10800000">
            <a:off x="6744867" y="2599930"/>
            <a:ext cx="469800" cy="37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7"/>
          <p:cNvCxnSpPr/>
          <p:nvPr/>
        </p:nvCxnSpPr>
        <p:spPr>
          <a:xfrm>
            <a:off x="7209076" y="2599998"/>
            <a:ext cx="376800" cy="1899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7"/>
          <p:cNvCxnSpPr/>
          <p:nvPr/>
        </p:nvCxnSpPr>
        <p:spPr>
          <a:xfrm>
            <a:off x="7585725" y="2785599"/>
            <a:ext cx="397200" cy="864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7"/>
          <p:cNvCxnSpPr/>
          <p:nvPr/>
        </p:nvCxnSpPr>
        <p:spPr>
          <a:xfrm flipH="1" rot="10800000">
            <a:off x="7982852" y="2693971"/>
            <a:ext cx="440100" cy="1812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7"/>
          <p:cNvCxnSpPr/>
          <p:nvPr/>
        </p:nvCxnSpPr>
        <p:spPr>
          <a:xfrm flipH="1" rot="10800000">
            <a:off x="6334732" y="2939857"/>
            <a:ext cx="119400" cy="4230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{&quot;code&quot;:&quot;$$\\left(t_{0},y_{0}\\right)$$&quot;,&quot;aid&quot;:null,&quot;backgroundColor&quot;:&quot;#FFFFFF&quot;,&quot;id&quot;:&quot;1&quot;,&quot;font&quot;:{&quot;family&quot;:&quot;Arial&quot;,&quot;color&quot;:&quot;#000000&quot;,&quot;size&quot;:8},&quot;type&quot;:&quot;$$&quot;,&quot;ts&quot;:1676765110766,&quot;cs&quot;:&quot;k18ZOJ1ZMHNDrPeLBIK7vA==&quot;,&quot;size&quot;:{&quot;width&quot;:35.338603674540686,&quot;height&quot;:13.136680052493405}}"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4400" y="3292036"/>
            <a:ext cx="376649" cy="141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id&quot;:&quot;2&quot;,&quot;backgroundColorModified&quot;:false,&quot;code&quot;:&quot;$$\\left(t_{1},y_{1}\\right)$$&quot;,&quot;backgroundColor&quot;:&quot;#FFFFFF&quot;,&quot;font&quot;:{&quot;family&quot;:&quot;Arial&quot;,&quot;size&quot;:&quot;9&quot;,&quot;color&quot;:&quot;#000000&quot;},&quot;ts&quot;:1676765041237,&quot;cs&quot;:&quot;qXf+NkeeURMvJhkFM7Wd+g==&quot;,&quot;size&quot;:{&quot;width&quot;:38,&quot;height&quot;:14.166666666666666}}" id="159" name="Google Shape;15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36440" y="2837075"/>
            <a:ext cx="376649" cy="1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Modified&quot;:false,&quot;font&quot;:{&quot;family&quot;:&quot;Arial&quot;,&quot;size&quot;:8,&quot;color&quot;:&quot;#000000&quot;},&quot;aid&quot;:null,&quot;code&quot;:&quot;$$\\left(t_{2},y_{2}\\right)$$&quot;,&quot;id&quot;:&quot;3&quot;,&quot;backgroundColor&quot;:&quot;#FFFFFF&quot;,&quot;ts&quot;:1676765139813,&quot;cs&quot;:&quot;hCxG5ueZjxzXAv9IHakneg==&quot;,&quot;size&quot;:{&quot;width&quot;:33.666666666666664,&quot;height&quot;:12.666666666666666}}" id="160" name="Google Shape;16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5337" y="2501022"/>
            <a:ext cx="358829" cy="136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&quot;8&quot;,&quot;family&quot;:&quot;Arial&quot;,&quot;color&quot;:&quot;#000000&quot;},&quot;type&quot;:&quot;$$&quot;,&quot;code&quot;:&quot;$$\\left(t_{3},y_{3}\\right)$$&quot;,&quot;id&quot;:&quot;4&quot;,&quot;backgroundColor&quot;:&quot;#FFFFFF&quot;,&quot;backgroundColorModified&quot;:false,&quot;aid&quot;:null,&quot;ts&quot;:1676765170972,&quot;cs&quot;:&quot;QiziG7S8Z/aZJ0TOgZxgFw==&quot;,&quot;size&quot;:{&quot;width&quot;:33.666666666666664,&quot;height&quot;:12.666666666666666}}" id="161" name="Google Shape;161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76682" y="2455159"/>
            <a:ext cx="358829" cy="136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&quot;8&quot;,&quot;family&quot;:&quot;Arial&quot;,&quot;color&quot;:&quot;#000000&quot;},&quot;aid&quot;:null,&quot;backgroundColor&quot;:&quot;#FFFFFF&quot;,&quot;code&quot;:&quot;$$\\left(t_{4},y_{4}\\right)$$&quot;,&quot;type&quot;:&quot;$$&quot;,&quot;backgroundColorModified&quot;:false,&quot;id&quot;:&quot;5&quot;,&quot;ts&quot;:1676765246049,&quot;cs&quot;:&quot;1LU5UhL9FPqA2pFMK34gww==&quot;,&quot;size&quot;:{&quot;width&quot;:33.666666666666664,&quot;height&quot;:12.666666666666666}}" id="162" name="Google Shape;162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85725" y="2626654"/>
            <a:ext cx="358829" cy="136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6&quot;,&quot;type&quot;:&quot;$$&quot;,&quot;code&quot;:&quot;$$\\left(t_{5},y_{5}\\right)$$&quot;,&quot;font&quot;:{&quot;family&quot;:&quot;Arial&quot;,&quot;size&quot;:&quot;8&quot;,&quot;color&quot;:&quot;#000000&quot;},&quot;backgroundColorModified&quot;:false,&quot;backgroundColor&quot;:&quot;#FFFFFF&quot;,&quot;aid&quot;:null,&quot;ts&quot;:1676765274425,&quot;cs&quot;:&quot;GxJEA2aJSavxB7I8Zu77Sw==&quot;,&quot;size&quot;:{&quot;width&quot;:33.666666666666664,&quot;height&quot;:12.666666666666666}}" id="163" name="Google Shape;163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82852" y="2951712"/>
            <a:ext cx="358829" cy="136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family&quot;:&quot;Arial&quot;,&quot;size&quot;:&quot;8&quot;},&quot;type&quot;:&quot;$$&quot;,&quot;backgroundColor&quot;:&quot;#FFFFFF&quot;,&quot;code&quot;:&quot;$$\\left(t_{6},y_{6}\\right)$$&quot;,&quot;id&quot;:&quot;7&quot;,&quot;aid&quot;:null,&quot;backgroundColorModified&quot;:false,&quot;ts&quot;:1676765312071,&quot;cs&quot;:&quot;rb0KspptpHo9XIo9owingg==&quot;,&quot;size&quot;:{&quot;width&quot;:33.666666666666664,&quot;height&quot;:12.666666666666666}}" id="164" name="Google Shape;164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61244" y="2591868"/>
            <a:ext cx="358829" cy="136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code&quot;:&quot;$$t$$&quot;,&quot;id&quot;:&quot;8&quot;,&quot;font&quot;:{&quot;color&quot;:&quot;#000000&quot;,&quot;size&quot;:&quot;10&quot;,&quot;family&quot;:&quot;Arial&quot;},&quot;aid&quot;:null,&quot;type&quot;:&quot;$$&quot;,&quot;ts&quot;:1676765341134,&quot;cs&quot;:&quot;wT0Un71mycgHi5AUMIFEGQ==&quot;,&quot;size&quot;:{&quot;width&quot;:5,&quot;height&quot;:10}}" id="165" name="Google Shape;165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631581" y="3822385"/>
            <a:ext cx="53291" cy="107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backgroundColorModified&quot;:false,&quot;backgroundColor&quot;:&quot;#FFFFFF&quot;,&quot;code&quot;:&quot;$$y$$&quot;,&quot;id&quot;:&quot;9&quot;,&quot;font&quot;:{&quot;color&quot;:&quot;#000000&quot;,&quot;size&quot;:&quot;10&quot;,&quot;family&quot;:&quot;Arial&quot;},&quot;ts&quot;:1676765388691,&quot;cs&quot;:&quot;YaRQU0RTkza95RY3rEuZqQ==&quot;,&quot;size&quot;:{&quot;width&quot;:7.333333333333333,&quot;height&quot;:10.166666666666666}}" id="166" name="Google Shape;166;p1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139050" y="2132000"/>
            <a:ext cx="78161" cy="10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60475" y="1957325"/>
            <a:ext cx="5553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Neural ODEs are class of models that parametrize the rate of change    of the state     with the help of Neural network 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NODEs predict the         at       such that							      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hen IC              given.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aid&quot;:null,&quot;type&quot;:&quot;$$&quot;,&quot;id&quot;:&quot;41&quot;,&quot;code&quot;:&quot;$$\\tilde{y_{i}^{T}}$$&quot;,&quot;backgroundColor&quot;:&quot;#FFFFFF&quot;,&quot;backgroundColorModified&quot;:false,&quot;font&quot;:{&quot;color&quot;:&quot;#000000&quot;,&quot;family&quot;:&quot;Arial&quot;,&quot;size&quot;:14},&quot;ts&quot;:1677507544539,&quot;cs&quot;:&quot;1k1vHezlIazVy7JpqioN/g==&quot;,&quot;size&quot;:{&quot;width&quot;:21.333333333333332,&quot;height&quot;:28.5}}" id="168" name="Google Shape;168;p1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680050" y="2922412"/>
            <a:ext cx="162793" cy="21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font&quot;:{&quot;color&quot;:&quot;#000000&quot;,&quot;size&quot;:14,&quot;family&quot;:&quot;Arial&quot;},&quot;id&quot;:&quot;42&quot;,&quot;aid&quot;:null,&quot;type&quot;:&quot;$$&quot;,&quot;code&quot;:&quot;$$t_{i}^{T}$$&quot;,&quot;ts&quot;:1677507572519,&quot;cs&quot;:&quot;vioXs7id/yU0SXNxOOjgYQ==&quot;,&quot;size&quot;:{&quot;width&quot;:18.5,&quot;height&quot;:25.166666666666668}}" id="169" name="Google Shape;169;p1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220850" y="2890911"/>
            <a:ext cx="162800" cy="221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color&quot;:&quot;#000000&quot;,&quot;size&quot;:14,&quot;family&quot;:&quot;Arial&quot;},&quot;id&quot;:&quot;43&quot;,&quot;code&quot;:&quot;$$\\left(t_{0,}y_{0}\\right)$$&quot;,&quot;aid&quot;:null,&quot;backgroundColor&quot;:&quot;#FFFFFF&quot;,&quot;type&quot;:&quot;$$&quot;,&quot;ts&quot;:1677507622750,&quot;cs&quot;:&quot;1+vOcrLZLBtZRDpxcg/oAQ==&quot;,&quot;size&quot;:{&quot;width&quot;:53.666666666666664,&quot;height&quot;:22.833333333333332}}" id="170" name="Google Shape;170;p1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38648" y="3782715"/>
            <a:ext cx="440100" cy="187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44&quot;,&quot;backgroundColor&quot;:&quot;#FFFFFF&quot;,&quot;font&quot;:{&quot;color&quot;:&quot;#000000&quot;,&quot;size&quot;:14,&quot;family&quot;:&quot;Arial&quot;},&quot;aid&quot;:null,&quot;code&quot;:&quot;$$y\\left(t_{i}^{T}\\right)=\\,y_{0}\\,+\\int_{t_{0}}^{t_{i}^{T}}f_{\\theta}\\left(y\\left(t\\right),\\,t\\right)\\,dt$$&quot;,&quot;backgroundColorModified&quot;:false,&quot;type&quot;:&quot;$$&quot;,&quot;ts&quot;:1677507738317,&quot;cs&quot;:&quot;LedpdEvl8mlavjs7l9UULA==&quot;,&quot;size&quot;:{&quot;width&quot;:289.5,&quot;height&quot;:59.25}}" id="171" name="Google Shape;171;p1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671650" y="3149163"/>
            <a:ext cx="2757488" cy="5643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y$$&quot;,&quot;backgroundColor&quot;:&quot;#FFFFFF&quot;,&quot;id&quot;:&quot;45&quot;,&quot;font&quot;:{&quot;size&quot;:12,&quot;family&quot;:&quot;Arial&quot;,&quot;color&quot;:&quot;#000000&quot;},&quot;aid&quot;:null,&quot;type&quot;:&quot;$$&quot;,&quot;ts&quot;:1677510416414,&quot;cs&quot;:&quot;RYRcbA4HVtk+ursjj/5Fvw==&quot;,&quot;size&quot;:{&quot;width&quot;:9,&quot;height&quot;:12.166666666666666}}" id="172" name="Google Shape;172;p1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938638" y="2352213"/>
            <a:ext cx="85725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font&quot;:{&quot;color&quot;:&quot;#000000&quot;,&quot;family&quot;:&quot;Arial&quot;,&quot;size&quot;:14},&quot;code&quot;:&quot;$\\dot{y}=f_{\\theta}\\left(y,t\\right)$&quot;,&quot;type&quot;:&quot;$&quot;,&quot;id&quot;:&quot;40&quot;,&quot;ts&quot;:1677507321663,&quot;cs&quot;:&quot;CYP6W2ZFTciwLHnOxAVhYQ==&quot;,&quot;size&quot;:{&quot;width&quot;:103.16666666666667,&quot;height&quot;:22}}" id="173" name="Google Shape;173;p1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680038" y="2573288"/>
            <a:ext cx="982663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$$\\dot{y}$$&quot;,&quot;font&quot;:{&quot;size&quot;:12,&quot;family&quot;:&quot;Arial&quot;,&quot;color&quot;:&quot;#000000&quot;},&quot;backgroundColorModified&quot;:false,&quot;backgroundColor&quot;:&quot;#FFFFFF&quot;,&quot;id&quot;:&quot;46&quot;,&quot;type&quot;:&quot;$$&quot;,&quot;ts&quot;:1677510443523,&quot;cs&quot;:&quot;lBD8x/zbsW62hYjnJvXCyw==&quot;,&quot;size&quot;:{&quot;width&quot;:9,&quot;height&quot;:15.666666666666666}}" id="174" name="Google Shape;174;p1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167175" y="2092488"/>
            <a:ext cx="85725" cy="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/>
          <p:nvPr/>
        </p:nvSpPr>
        <p:spPr>
          <a:xfrm>
            <a:off x="194300" y="1017275"/>
            <a:ext cx="2468400" cy="672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024375" y="230450"/>
            <a:ext cx="66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Neural Ordinary Differential Equations</a:t>
            </a:r>
            <a:endParaRPr sz="2600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0" y="4895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descr="{&quot;id&quot;:&quot;15&quot;,&quot;backgroundColor&quot;:&quot;#FFFFFF&quot;,&quot;type&quot;:&quot;$$&quot;,&quot;aid&quot;:null,&quot;font&quot;:{&quot;family&quot;:&quot;Arial&quot;,&quot;size&quot;:14,&quot;color&quot;:&quot;#000000&quot;},&quot;code&quot;:&quot;$$f\\left(y,t\\right)\\Rightarrow\\,f\\left(h\\left(t\\right),t,\\theta\\right)$$&quot;,&quot;ts&quot;:1676777027994,&quot;cs&quot;:&quot;l0psXawsZXeHRPjdC6YHCQ==&quot;,&quot;size&quot;:{&quot;width&quot;:196.16666666666666,&quot;height&quot;:22}}" id="184" name="Google Shape;1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200" y="1253000"/>
            <a:ext cx="1868488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/>
          <p:nvPr/>
        </p:nvSpPr>
        <p:spPr>
          <a:xfrm>
            <a:off x="729000" y="2392860"/>
            <a:ext cx="1363800" cy="8817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6662056" y="2286465"/>
            <a:ext cx="1577400" cy="9234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$&quot;,&quot;backgroundColorModified&quot;:false,&quot;code&quot;:&quot;$$y\\left(t=t_{0}\\right)$$&quot;,&quot;font&quot;:{&quot;size&quot;:12,&quot;family&quot;:&quot;Arial&quot;,&quot;color&quot;:&quot;#000000&quot;},&quot;backgroundColor&quot;:&quot;#FFFFFF&quot;,&quot;aid&quot;:null,&quot;id&quot;:&quot;30&quot;,&quot;ts&quot;:1676911247212,&quot;cs&quot;:&quot;Vuk41wGBth3ff8HKmN1SgQ==&quot;,&quot;size&quot;:{&quot;width&quot;:67.83333333333333,&quot;height&quot;:18.833333333333332}}" id="187" name="Google Shape;1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828" y="2931871"/>
            <a:ext cx="730630" cy="19671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/>
          <p:nvPr/>
        </p:nvSpPr>
        <p:spPr>
          <a:xfrm>
            <a:off x="2703875" y="1676425"/>
            <a:ext cx="3347100" cy="21435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ODE solver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id&quot;:&quot;15&quot;,&quot;backgroundColor&quot;:&quot;#FFFFFF&quot;,&quot;type&quot;:&quot;$$&quot;,&quot;aid&quot;:null,&quot;font&quot;:{&quot;family&quot;:&quot;Arial&quot;,&quot;size&quot;:11.5,&quot;color&quot;:&quot;#000000&quot;},&quot;code&quot;:&quot;$$f\\left(y,t\\right)\\Rightarrow\\,f\\left(h\\left(t\\right),t,\\theta\\right)$$&quot;,&quot;ts&quot;:1676911561074,&quot;cs&quot;:&quot;XSA+pbNcyPPjr2xNWpr9DA==&quot;,&quot;size&quot;:{&quot;width&quot;:167.94338057742777,&quot;height&quot;:18.834633070866154}}" id="189" name="Google Shape;1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127" y="3589450"/>
            <a:ext cx="1577874" cy="1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12,&quot;family&quot;:&quot;Arial&quot;,&quot;color&quot;:&quot;#000000&quot;},&quot;type&quot;:&quot;$$&quot;,&quot;backgroundColor&quot;:&quot;#FFFFFF&quot;,&quot;aid&quot;:null,&quot;id&quot;:&quot;32&quot;,&quot;code&quot;:&quot;$$\\tilde{y}\\left(t\\right)$$&quot;,&quot;backgroundColorModified&quot;:false,&quot;ts&quot;:1676911628120,&quot;cs&quot;:&quot;cFeTh1tjvmbGrOV3LrOz2g==&quot;,&quot;size&quot;:{&quot;width&quot;:29.666666666666668,&quot;height&quot;:18.833333333333332}}" id="190" name="Google Shape;19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5621" y="2680419"/>
            <a:ext cx="319538" cy="19671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/>
          <p:nvPr/>
        </p:nvSpPr>
        <p:spPr>
          <a:xfrm>
            <a:off x="2217003" y="2761883"/>
            <a:ext cx="362700" cy="25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6175163" y="2740130"/>
            <a:ext cx="362700" cy="25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280325" y="901950"/>
            <a:ext cx="716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Let the ODEs right hand side be a Neural Network.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3199567" y="2333590"/>
            <a:ext cx="483300" cy="355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3199567" y="2823333"/>
            <a:ext cx="483300" cy="355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4074078" y="2078650"/>
            <a:ext cx="483300" cy="355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4074078" y="2554119"/>
            <a:ext cx="483300" cy="355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4074078" y="3029587"/>
            <a:ext cx="483300" cy="355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4948590" y="2333590"/>
            <a:ext cx="483300" cy="355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4948590" y="2823333"/>
            <a:ext cx="483300" cy="355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18"/>
          <p:cNvCxnSpPr>
            <a:stCxn id="194" idx="6"/>
            <a:endCxn id="196" idx="2"/>
          </p:cNvCxnSpPr>
          <p:nvPr/>
        </p:nvCxnSpPr>
        <p:spPr>
          <a:xfrm flipH="1" rot="10800000">
            <a:off x="3682867" y="2256190"/>
            <a:ext cx="391200" cy="25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18"/>
          <p:cNvCxnSpPr>
            <a:stCxn id="195" idx="6"/>
            <a:endCxn id="196" idx="2"/>
          </p:cNvCxnSpPr>
          <p:nvPr/>
        </p:nvCxnSpPr>
        <p:spPr>
          <a:xfrm flipH="1" rot="10800000">
            <a:off x="3682867" y="2256333"/>
            <a:ext cx="391200" cy="74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18"/>
          <p:cNvCxnSpPr>
            <a:stCxn id="194" idx="6"/>
            <a:endCxn id="197" idx="2"/>
          </p:cNvCxnSpPr>
          <p:nvPr/>
        </p:nvCxnSpPr>
        <p:spPr>
          <a:xfrm>
            <a:off x="3682867" y="2511190"/>
            <a:ext cx="391200" cy="22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18"/>
          <p:cNvCxnSpPr>
            <a:stCxn id="195" idx="6"/>
            <a:endCxn id="197" idx="2"/>
          </p:cNvCxnSpPr>
          <p:nvPr/>
        </p:nvCxnSpPr>
        <p:spPr>
          <a:xfrm flipH="1" rot="10800000">
            <a:off x="3682867" y="2731833"/>
            <a:ext cx="391200" cy="26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18"/>
          <p:cNvCxnSpPr>
            <a:stCxn id="195" idx="6"/>
            <a:endCxn id="198" idx="2"/>
          </p:cNvCxnSpPr>
          <p:nvPr/>
        </p:nvCxnSpPr>
        <p:spPr>
          <a:xfrm>
            <a:off x="3682867" y="3000933"/>
            <a:ext cx="391200" cy="20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18"/>
          <p:cNvCxnSpPr>
            <a:stCxn id="194" idx="6"/>
            <a:endCxn id="198" idx="2"/>
          </p:cNvCxnSpPr>
          <p:nvPr/>
        </p:nvCxnSpPr>
        <p:spPr>
          <a:xfrm>
            <a:off x="3682867" y="2511190"/>
            <a:ext cx="391200" cy="6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18"/>
          <p:cNvCxnSpPr>
            <a:stCxn id="196" idx="6"/>
            <a:endCxn id="199" idx="2"/>
          </p:cNvCxnSpPr>
          <p:nvPr/>
        </p:nvCxnSpPr>
        <p:spPr>
          <a:xfrm>
            <a:off x="4557378" y="2256250"/>
            <a:ext cx="391200" cy="25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18"/>
          <p:cNvCxnSpPr>
            <a:stCxn id="197" idx="6"/>
            <a:endCxn id="199" idx="2"/>
          </p:cNvCxnSpPr>
          <p:nvPr/>
        </p:nvCxnSpPr>
        <p:spPr>
          <a:xfrm flipH="1" rot="10800000">
            <a:off x="4557378" y="2511219"/>
            <a:ext cx="391200" cy="22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18"/>
          <p:cNvCxnSpPr>
            <a:stCxn id="196" idx="6"/>
            <a:endCxn id="200" idx="2"/>
          </p:cNvCxnSpPr>
          <p:nvPr/>
        </p:nvCxnSpPr>
        <p:spPr>
          <a:xfrm>
            <a:off x="4557378" y="2256250"/>
            <a:ext cx="391200" cy="74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18"/>
          <p:cNvCxnSpPr>
            <a:stCxn id="197" idx="6"/>
            <a:endCxn id="200" idx="2"/>
          </p:cNvCxnSpPr>
          <p:nvPr/>
        </p:nvCxnSpPr>
        <p:spPr>
          <a:xfrm>
            <a:off x="4557378" y="2731719"/>
            <a:ext cx="391200" cy="26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18"/>
          <p:cNvCxnSpPr>
            <a:stCxn id="198" idx="6"/>
            <a:endCxn id="200" idx="2"/>
          </p:cNvCxnSpPr>
          <p:nvPr/>
        </p:nvCxnSpPr>
        <p:spPr>
          <a:xfrm flipH="1" rot="10800000">
            <a:off x="4557378" y="3000787"/>
            <a:ext cx="391200" cy="20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18"/>
          <p:cNvCxnSpPr>
            <a:stCxn id="198" idx="6"/>
            <a:endCxn id="199" idx="2"/>
          </p:cNvCxnSpPr>
          <p:nvPr/>
        </p:nvCxnSpPr>
        <p:spPr>
          <a:xfrm flipH="1" rot="10800000">
            <a:off x="4557378" y="2511187"/>
            <a:ext cx="391200" cy="6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aid&quot;:null,&quot;font&quot;:{&quot;size&quot;:5.5,&quot;family&quot;:&quot;Arial&quot;,&quot;color&quot;:&quot;#000000&quot;},&quot;type&quot;:&quot;$&quot;,&quot;code&quot;:&quot;$y_{1}\\left(t_{i}\\right)$&quot;,&quot;backgroundColorModified&quot;:false,&quot;backgroundColor&quot;:&quot;#FFFFFF&quot;,&quot;id&quot;:&quot;73&quot;,&quot;ts&quot;:1678130554240,&quot;cs&quot;:&quot;5SK1sGcOIVT8HggG9UEdQA==&quot;,&quot;size&quot;:{&quot;width&quot;:26.222440944881892,&quot;height&quot;:8.850450656168011}}" id="213" name="Google Shape;21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6349" y="2469003"/>
            <a:ext cx="249769" cy="84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id&quot;:&quot;74&quot;,&quot;aid&quot;:null,&quot;code&quot;:&quot;$y_{2}\\left(t_{i}\\right)$&quot;,&quot;backgroundColorModified&quot;:false,&quot;backgroundColor&quot;:&quot;#FFFFFF&quot;,&quot;font&quot;:{&quot;size&quot;:12,&quot;color&quot;:&quot;#000000&quot;,&quot;family&quot;:&quot;Arial&quot;},&quot;ts&quot;:1678129874804,&quot;cs&quot;:&quot;SZDWiylCppycZ1b563QX1g==&quot;,&quot;size&quot;:{&quot;width&quot;:41.666666666666664,&quot;height&quot;:18.833333333333332}}" id="214" name="Google Shape;21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16348" y="2953842"/>
            <a:ext cx="249769" cy="84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backgroundColor&quot;:&quot;#FFFFFF&quot;,&quot;code&quot;:&quot;$$\\hat{y_{1}^{\\prime}}$$&quot;,&quot;id&quot;:&quot;75&quot;,&quot;type&quot;:&quot;$$&quot;,&quot;font&quot;:{&quot;size&quot;:14,&quot;color&quot;:&quot;#000000&quot;,&quot;family&quot;:&quot;Arial&quot;},&quot;ts&quot;:1678130069606,&quot;cs&quot;:&quot;AoKSV63ImK0+zf0RBtGafA==&quot;,&quot;size&quot;:{&quot;width&quot;:17,&quot;height&quot;:27.166666666666668}}" id="215" name="Google Shape;215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39303" y="2450351"/>
            <a:ext cx="101906" cy="12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code&quot;:&quot;$$\\hat{y_{2}^{\\prime}}$$&quot;,&quot;id&quot;:&quot;76&quot;,&quot;type&quot;:&quot;$$&quot;,&quot;backgroundColorModified&quot;:false,&quot;font&quot;:{&quot;family&quot;:&quot;Arial&quot;,&quot;color&quot;:&quot;#000000&quot;,&quot;size&quot;:14},&quot;ts&quot;:1678130103093,&quot;cs&quot;:&quot;Ngg1kBXGn7hlI5OrUKhYcw==&quot;,&quot;size&quot;:{&quot;width&quot;:17.333333333333332,&quot;height&quot;:27.166666666666668}}" id="216" name="Google Shape;216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38312" y="2940094"/>
            <a:ext cx="103904" cy="12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code&quot;:&quot;$$\\theta^{\\left[1\\right]}$$&quot;,&quot;backgroundColor&quot;:&quot;#FFFFFF&quot;,&quot;font&quot;:{&quot;family&quot;:&quot;Arial&quot;,&quot;size&quot;:14,&quot;color&quot;:&quot;#000000&quot;},&quot;aid&quot;:null,&quot;type&quot;:&quot;$$&quot;,&quot;id&quot;:&quot;77&quot;,&quot;ts&quot;:1678130194114,&quot;cs&quot;:&quot;tPDkN+UjY3tK+WRbphfqqg==&quot;,&quot;size&quot;:{&quot;width&quot;:24.166666666666668,&quot;height&quot;:21}}" id="217" name="Google Shape;217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82898" y="3207175"/>
            <a:ext cx="144866" cy="93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78&quot;,&quot;font&quot;:{&quot;size&quot;:14,&quot;family&quot;:&quot;Arial&quot;,&quot;color&quot;:&quot;#000000&quot;},&quot;code&quot;:&quot;$$\\theta^{\\left[2\\right]}$$&quot;,&quot;backgroundColor&quot;:&quot;#FFFFFF&quot;,&quot;backgroundColorModified&quot;:false,&quot;aid&quot;:null,&quot;ts&quot;:1678130214823,&quot;cs&quot;:&quot;Xgarof9vxmbl7XQ0w7ftNw==&quot;,&quot;size&quot;:{&quot;width&quot;:24.166666666666668,&quot;height&quot;:21}}" id="218" name="Google Shape;218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80571" y="3207175"/>
            <a:ext cx="144866" cy="93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79&quot;,&quot;backgroundColor&quot;:&quot;#FFFFFF&quot;,&quot;code&quot;:&quot;$$\\text{Input}\\;\\text{layer}$$&quot;,&quot;type&quot;:&quot;$$&quot;,&quot;backgroundColorModified&quot;:false,&quot;font&quot;:{&quot;color&quot;:&quot;#000000&quot;,&quot;family&quot;:&quot;Arial&quot;,&quot;size&quot;:&quot;11&quot;},&quot;ts&quot;:1678130282715,&quot;cs&quot;:&quot;mpP68mAAMmUrQg+zp5n5cg==&quot;,&quot;size&quot;:{&quot;width&quot;:82.5,&quot;height&quot;:15.5}}" id="219" name="Google Shape;219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71575" y="3505056"/>
            <a:ext cx="494542" cy="69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80&quot;,&quot;code&quot;:&quot;$$\\text{Hidden}\\;\\text{Layer}$$&quot;,&quot;aid&quot;:null,&quot;backgroundColor&quot;:&quot;#FFFFFF&quot;,&quot;backgroundColorModified&quot;:false,&quot;font&quot;:{&quot;size&quot;:&quot;11&quot;,&quot;color&quot;:&quot;#000000&quot;,&quot;family&quot;:&quot;Arial&quot;},&quot;ts&quot;:1678130320422,&quot;cs&quot;:&quot;zu45icFRW87BDn4yT2zBIw==&quot;,&quot;size&quot;:{&quot;width&quot;:100.83333333333333,&quot;height&quot;:15.5}}" id="220" name="Google Shape;220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13520" y="3505056"/>
            <a:ext cx="604440" cy="69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81&quot;,&quot;backgroundColor&quot;:&quot;#FFFFFF&quot;,&quot;font&quot;:{&quot;color&quot;:&quot;#000000&quot;,&quot;family&quot;:&quot;Arial&quot;,&quot;size&quot;:&quot;11&quot;},&quot;backgroundColorModified&quot;:false,&quot;code&quot;:&quot;$$\\text{Output}\\;\\text{Layer}$$&quot;,&quot;type&quot;:&quot;$$&quot;,&quot;ts&quot;:1678130384225,&quot;cs&quot;:&quot;wNO2DCQrHieqwbqdFwNraQ==&quot;,&quot;size&quot;:{&quot;width&quot;:101.83333333333333,&quot;height&quot;:15.666666666666666}}" id="221" name="Google Shape;221;p1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948590" y="3519324"/>
            <a:ext cx="610435" cy="70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582925" y="4000500"/>
            <a:ext cx="601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0" y="317025"/>
            <a:ext cx="9144000" cy="534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Neural ODEs: Implementation</a:t>
            </a:r>
            <a:endParaRPr sz="2600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/>
        </p:nvSpPr>
        <p:spPr>
          <a:xfrm>
            <a:off x="0" y="305825"/>
            <a:ext cx="9144000" cy="534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Neural Network Architecture</a:t>
            </a:r>
            <a:endParaRPr sz="2600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0" y="4895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232" name="Google Shape;2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25" y="978900"/>
            <a:ext cx="5052800" cy="37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/>
          <p:nvPr/>
        </p:nvSpPr>
        <p:spPr>
          <a:xfrm>
            <a:off x="2955000" y="3418925"/>
            <a:ext cx="2127900" cy="11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7159383" y="2365667"/>
            <a:ext cx="521400" cy="52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19"/>
          <p:cNvCxnSpPr>
            <a:endCxn id="234" idx="2"/>
          </p:cNvCxnSpPr>
          <p:nvPr/>
        </p:nvCxnSpPr>
        <p:spPr>
          <a:xfrm>
            <a:off x="6542583" y="2240267"/>
            <a:ext cx="6168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19"/>
          <p:cNvCxnSpPr>
            <a:endCxn id="234" idx="2"/>
          </p:cNvCxnSpPr>
          <p:nvPr/>
        </p:nvCxnSpPr>
        <p:spPr>
          <a:xfrm flipH="1" rot="10800000">
            <a:off x="6542583" y="2629967"/>
            <a:ext cx="61680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19"/>
          <p:cNvCxnSpPr>
            <a:endCxn id="234" idx="2"/>
          </p:cNvCxnSpPr>
          <p:nvPr/>
        </p:nvCxnSpPr>
        <p:spPr>
          <a:xfrm flipH="1" rot="10800000">
            <a:off x="6542583" y="2629967"/>
            <a:ext cx="616800" cy="114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19"/>
          <p:cNvCxnSpPr>
            <a:stCxn id="234" idx="6"/>
          </p:cNvCxnSpPr>
          <p:nvPr/>
        </p:nvCxnSpPr>
        <p:spPr>
          <a:xfrm>
            <a:off x="7680783" y="2629967"/>
            <a:ext cx="5457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" name="Google Shape;239;p19"/>
          <p:cNvSpPr/>
          <p:nvPr/>
        </p:nvSpPr>
        <p:spPr>
          <a:xfrm>
            <a:off x="7159383" y="3043264"/>
            <a:ext cx="521400" cy="5286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" name="Google Shape;240;p19"/>
          <p:cNvCxnSpPr>
            <a:endCxn id="239" idx="2"/>
          </p:cNvCxnSpPr>
          <p:nvPr/>
        </p:nvCxnSpPr>
        <p:spPr>
          <a:xfrm>
            <a:off x="6542583" y="2240164"/>
            <a:ext cx="616800" cy="106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19"/>
          <p:cNvCxnSpPr>
            <a:endCxn id="239" idx="2"/>
          </p:cNvCxnSpPr>
          <p:nvPr/>
        </p:nvCxnSpPr>
        <p:spPr>
          <a:xfrm>
            <a:off x="6542583" y="2996164"/>
            <a:ext cx="616800" cy="311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19"/>
          <p:cNvCxnSpPr>
            <a:endCxn id="239" idx="2"/>
          </p:cNvCxnSpPr>
          <p:nvPr/>
        </p:nvCxnSpPr>
        <p:spPr>
          <a:xfrm flipH="1" rot="10800000">
            <a:off x="6542583" y="3307564"/>
            <a:ext cx="616800" cy="463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19"/>
          <p:cNvCxnSpPr/>
          <p:nvPr/>
        </p:nvCxnSpPr>
        <p:spPr>
          <a:xfrm>
            <a:off x="7680889" y="3298832"/>
            <a:ext cx="545700" cy="1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code&quot;:&quot;$x_{1}$&quot;,&quot;font&quot;:{&quot;family&quot;:&quot;Arial&quot;,&quot;color&quot;:&quot;#000000&quot;,&quot;size&quot;:11.5},&quot;aid&quot;:null,&quot;type&quot;:&quot;$&quot;,&quot;id&quot;:&quot;47&quot;,&quot;backgroundColor&quot;:&quot;#FFFFFF&quot;,&quot;ts&quot;:1678044275771,&quot;cs&quot;:&quot;seE5sAye4NwVxJQbhXmwBQ==&quot;,&quot;size&quot;:{&quot;width&quot;:15.833333333333334,&quot;height&quot;:11.166666666666666}}" id="244" name="Google Shape;24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463" y="2200925"/>
            <a:ext cx="108467" cy="78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font&quot;:{&quot;family&quot;:&quot;Arial&quot;,&quot;color&quot;:&quot;#000000&quot;,&quot;size&quot;:&quot;12&quot;},&quot;code&quot;:&quot;$$x_{2}$$&quot;,&quot;id&quot;:&quot;48&quot;,&quot;backgroundColorModified&quot;:false,&quot;backgroundColor&quot;:&quot;#FFFFFF&quot;,&quot;ts&quot;:1678044296973,&quot;cs&quot;:&quot;UpffYjbDQi5Comp5w0STrw==&quot;,&quot;size&quot;:{&quot;width&quot;:16.166666666666668,&quot;height&quot;:11.166666666666666}}" id="245" name="Google Shape;24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6321" y="2966575"/>
            <a:ext cx="110751" cy="78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49&quot;,&quot;backgroundColor&quot;:&quot;#FFFFFF&quot;,&quot;code&quot;:&quot;$$x_{3}$$&quot;,&quot;font&quot;:{&quot;color&quot;:&quot;#000000&quot;,&quot;family&quot;:&quot;Arial&quot;,&quot;size&quot;:&quot;12&quot;},&quot;aid&quot;:null,&quot;backgroundColorModified&quot;:false,&quot;ts&quot;:1678044312987,&quot;cs&quot;:&quot;NzIGFUOHjY9bDQ3b1DnZQw==&quot;,&quot;size&quot;:{&quot;width&quot;:16.166666666666668,&quot;height&quot;:11.5}}" id="246" name="Google Shape;24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6321" y="3737483"/>
            <a:ext cx="110751" cy="80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z_{2}$$&quot;,&quot;backgroundColorModified&quot;:false,&quot;aid&quot;:null,&quot;id&quot;:&quot;50&quot;,&quot;type&quot;:&quot;$$&quot;,&quot;backgroundColor&quot;:&quot;#FFFFFF&quot;,&quot;font&quot;:{&quot;family&quot;:&quot;Arial&quot;,&quot;color&quot;:&quot;#000000&quot;,&quot;size&quot;:8.5},&quot;ts&quot;:1678051171448,&quot;cs&quot;:&quot;OqbitKAObCaXAdy2aIYMTg==&quot;,&quot;size&quot;:{&quot;width&quot;:10.18893438320209,&quot;height&quot;:8.254065879265102}}" id="247" name="Google Shape;24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75679" y="3269337"/>
            <a:ext cx="97050" cy="76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code&quot;:&quot;$$z_{1}$$&quot;,&quot;id&quot;:&quot;51&quot;,&quot;type&quot;:&quot;$$&quot;,&quot;font&quot;:{&quot;size&quot;:8.5,&quot;family&quot;:&quot;Arial&quot;,&quot;color&quot;:&quot;#000000&quot;},&quot;backgroundColor&quot;:&quot;#FFFFFF&quot;,&quot;ts&quot;:1678051167283,&quot;cs&quot;:&quot;AFLvJAnaq7z76ZARfc8Rdw==&quot;,&quot;size&quot;:{&quot;width&quot;:9.949194750656146,&quot;height&quot;:8.254065879265102}}" id="248" name="Google Shape;24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76821" y="2590661"/>
            <a:ext cx="94766" cy="78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type&quot;:&quot;$$&quot;,&quot;code&quot;:&quot;$$\\hat{y}_{1}$$&quot;,&quot;backgroundColor&quot;:&quot;#FFFFFF&quot;,&quot;font&quot;:{&quot;size&quot;:8.5,&quot;color&quot;:&quot;#000000&quot;,&quot;family&quot;:&quot;Arial&quot;},&quot;id&quot;:&quot;52&quot;,&quot;ts&quot;:1678051134851,&quot;cs&quot;:&quot;v6wegDWy9Fg36oOABUFQxw==&quot;,&quot;size&quot;:{&quot;width&quot;:11.166666666666666,&quot;height&quot;:12.166666666666666}}" id="249" name="Google Shape;24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09307" y="2587141"/>
            <a:ext cx="106363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hat{y_{2}}$$&quot;,&quot;type&quot;:&quot;$$&quot;,&quot;aid&quot;:null,&quot;font&quot;:{&quot;color&quot;:&quot;#000000&quot;,&quot;size&quot;:8.5,&quot;family&quot;:&quot;Arial&quot;},&quot;backgroundColor&quot;:&quot;#FFFFFF&quot;,&quot;backgroundColorModified&quot;:false,&quot;id&quot;:&quot;53&quot;,&quot;ts&quot;:1678051157460,&quot;cs&quot;:&quot;1bJCukJZfw9pLb8UWAUzrw==&quot;,&quot;size&quot;:{&quot;width&quot;:10.5,&quot;height&quot;:11.666666666666666}}" id="250" name="Google Shape;25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10078" y="3264766"/>
            <a:ext cx="100013" cy="111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19"/>
          <p:cNvCxnSpPr>
            <a:stCxn id="234" idx="0"/>
            <a:endCxn id="234" idx="4"/>
          </p:cNvCxnSpPr>
          <p:nvPr/>
        </p:nvCxnSpPr>
        <p:spPr>
          <a:xfrm>
            <a:off x="7420083" y="2365667"/>
            <a:ext cx="0" cy="5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19"/>
          <p:cNvCxnSpPr/>
          <p:nvPr/>
        </p:nvCxnSpPr>
        <p:spPr>
          <a:xfrm>
            <a:off x="7420083" y="3043280"/>
            <a:ext cx="0" cy="5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{&quot;backgroundColor&quot;:&quot;#FFFFFF&quot;,&quot;id&quot;:&quot;66&quot;,&quot;backgroundColorModified&quot;:false,&quot;font&quot;:{&quot;family&quot;:&quot;Arial&quot;,&quot;size&quot;:7.5,&quot;color&quot;:&quot;#000000&quot;},&quot;aid&quot;:null,&quot;code&quot;:&quot;$$a_{1}$$&quot;,&quot;type&quot;:&quot;$$&quot;,&quot;ts&quot;:1678051251311,&quot;cs&quot;:&quot;LxmGHIdzu1iKDidyIQRz7Q==&quot;,&quot;size&quot;:{&quot;width&quot;:9.947503937007902,&quot;height&quot;:7.406243307086601}}" id="253" name="Google Shape;253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87096" y="2594704"/>
            <a:ext cx="110750" cy="82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a_{2}$$&quot;,&quot;font&quot;:{&quot;family&quot;:&quot;Arial&quot;,&quot;size&quot;:8.5,&quot;color&quot;:&quot;#000000&quot;},&quot;id&quot;:&quot;67&quot;,&quot;backgroundColorModified&quot;:false,&quot;aid&quot;:null,&quot;backgroundColor&quot;:&quot;#FFFFFF&quot;,&quot;ts&quot;:1678051269271,&quot;cs&quot;:&quot;16sMzrLiBt6eQNeaoISYOg==&quot;,&quot;size&quot;:{&quot;width&quot;:11.167979002624671,&quot;height&quot;:8.13344829396326}}" id="254" name="Google Shape;254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73625" y="3268787"/>
            <a:ext cx="106375" cy="7747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 txBox="1"/>
          <p:nvPr/>
        </p:nvSpPr>
        <p:spPr>
          <a:xfrm>
            <a:off x="6014525" y="3989225"/>
            <a:ext cx="104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Input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Layer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7497150" y="3989225"/>
            <a:ext cx="117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Output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Layer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5996145" y="1993855"/>
            <a:ext cx="2584175" cy="1928700"/>
          </a:xfrm>
          <a:custGeom>
            <a:rect b="b" l="l" r="r" t="t"/>
            <a:pathLst>
              <a:path extrusionOk="0" h="77148" w="103367">
                <a:moveTo>
                  <a:pt x="130" y="1580"/>
                </a:moveTo>
                <a:cubicBezTo>
                  <a:pt x="15797" y="1580"/>
                  <a:pt x="31468" y="2432"/>
                  <a:pt x="47128" y="1984"/>
                </a:cubicBezTo>
                <a:cubicBezTo>
                  <a:pt x="55197" y="1753"/>
                  <a:pt x="63272" y="1625"/>
                  <a:pt x="71332" y="1177"/>
                </a:cubicBezTo>
                <a:cubicBezTo>
                  <a:pt x="77643" y="826"/>
                  <a:pt x="84424" y="-1170"/>
                  <a:pt x="90293" y="1177"/>
                </a:cubicBezTo>
                <a:cubicBezTo>
                  <a:pt x="98534" y="4472"/>
                  <a:pt x="104995" y="15927"/>
                  <a:pt x="103000" y="24575"/>
                </a:cubicBezTo>
                <a:cubicBezTo>
                  <a:pt x="101083" y="32883"/>
                  <a:pt x="87321" y="32845"/>
                  <a:pt x="78795" y="32845"/>
                </a:cubicBezTo>
                <a:cubicBezTo>
                  <a:pt x="72239" y="32845"/>
                  <a:pt x="66149" y="36560"/>
                  <a:pt x="59633" y="37282"/>
                </a:cubicBezTo>
                <a:cubicBezTo>
                  <a:pt x="53709" y="37938"/>
                  <a:pt x="46854" y="37136"/>
                  <a:pt x="42085" y="40711"/>
                </a:cubicBezTo>
                <a:cubicBezTo>
                  <a:pt x="34383" y="46485"/>
                  <a:pt x="35462" y="59018"/>
                  <a:pt x="29983" y="66933"/>
                </a:cubicBezTo>
                <a:cubicBezTo>
                  <a:pt x="25073" y="74027"/>
                  <a:pt x="14350" y="78706"/>
                  <a:pt x="5980" y="76615"/>
                </a:cubicBezTo>
                <a:cubicBezTo>
                  <a:pt x="-1266" y="74805"/>
                  <a:pt x="-320" y="62225"/>
                  <a:pt x="735" y="54831"/>
                </a:cubicBezTo>
                <a:cubicBezTo>
                  <a:pt x="1676" y="48238"/>
                  <a:pt x="130" y="41521"/>
                  <a:pt x="130" y="34862"/>
                </a:cubicBezTo>
                <a:cubicBezTo>
                  <a:pt x="130" y="26084"/>
                  <a:pt x="577" y="17193"/>
                  <a:pt x="2551" y="8640"/>
                </a:cubicBezTo>
                <a:cubicBezTo>
                  <a:pt x="3181" y="5910"/>
                  <a:pt x="3991" y="1179"/>
                  <a:pt x="6786" y="1379"/>
                </a:cubicBezTo>
              </a:path>
            </a:pathLst>
          </a:cu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8" name="Google Shape;258;p19"/>
          <p:cNvSpPr/>
          <p:nvPr/>
        </p:nvSpPr>
        <p:spPr>
          <a:xfrm>
            <a:off x="4518200" y="2168350"/>
            <a:ext cx="6606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5557900" y="879550"/>
            <a:ext cx="34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This  neural network gives two dimensional output (y) to three dimensional input (x)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$&quot;,&quot;backgroundColorModified&quot;:false,&quot;font&quot;:{&quot;family&quot;:&quot;Times New Roman&quot;,&quot;color&quot;:&quot;#000000&quot;,&quot;size&quot;:14},&quot;id&quot;:&quot;71&quot;,&quot;aid&quot;:null,&quot;code&quot;:&quot;$$NN:x\\longrightarrow y$$&quot;,&quot;backgroundColor&quot;:&quot;#FFFFFF&quot;,&quot;ts&quot;:1678052951267,&quot;cs&quot;:&quot;HVQeu4vVXO+ZeqF6nBx6cQ==&quot;,&quot;size&quot;:{&quot;width&quot;:110,&quot;height&quot;:16.833333333333332}}" id="260" name="Google Shape;260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627375" y="1534263"/>
            <a:ext cx="1047750" cy="160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19"/>
          <p:cNvCxnSpPr/>
          <p:nvPr/>
        </p:nvCxnSpPr>
        <p:spPr>
          <a:xfrm flipH="1" rot="10800000">
            <a:off x="1085850" y="3600600"/>
            <a:ext cx="11400" cy="8571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19"/>
          <p:cNvCxnSpPr/>
          <p:nvPr/>
        </p:nvCxnSpPr>
        <p:spPr>
          <a:xfrm flipH="1" rot="10800000">
            <a:off x="1097250" y="4046100"/>
            <a:ext cx="1097400" cy="4116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19"/>
          <p:cNvSpPr txBox="1"/>
          <p:nvPr/>
        </p:nvSpPr>
        <p:spPr>
          <a:xfrm>
            <a:off x="674400" y="4326350"/>
            <a:ext cx="83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Nodes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0" y="4895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1481127" y="1055104"/>
            <a:ext cx="1186500" cy="1271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code&quot;:&quot;$x_{1}$&quot;,&quot;font&quot;:{&quot;family&quot;:&quot;Arial&quot;,&quot;color&quot;:&quot;#000000&quot;,&quot;size&quot;:11.5},&quot;aid&quot;:null,&quot;type&quot;:&quot;$&quot;,&quot;id&quot;:&quot;47&quot;,&quot;backgroundColor&quot;:&quot;#FFFFFF&quot;,&quot;ts&quot;:1678044275771,&quot;cs&quot;:&quot;seE5sAye4NwVxJQbhXmwBQ==&quot;,&quot;size&quot;:{&quot;width&quot;:15.833333333333334,&quot;height&quot;:11.166666666666666}}" id="272" name="Google Shape;2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59" y="1041088"/>
            <a:ext cx="205117" cy="159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font&quot;:{&quot;family&quot;:&quot;Arial&quot;,&quot;color&quot;:&quot;#000000&quot;,&quot;size&quot;:&quot;12&quot;},&quot;code&quot;:&quot;$$x_{2}$$&quot;,&quot;id&quot;:&quot;48&quot;,&quot;backgroundColorModified&quot;:false,&quot;backgroundColor&quot;:&quot;#FFFFFF&quot;,&quot;ts&quot;:1678044296973,&quot;cs&quot;:&quot;UpffYjbDQi5Comp5w0STrw==&quot;,&quot;size&quot;:{&quot;width&quot;:16.166666666666668,&quot;height&quot;:11.166666666666666}}" id="273" name="Google Shape;27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200" y="1575748"/>
            <a:ext cx="209435" cy="159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49&quot;,&quot;backgroundColor&quot;:&quot;#FFFFFF&quot;,&quot;code&quot;:&quot;$$x_{3}$$&quot;,&quot;font&quot;:{&quot;color&quot;:&quot;#000000&quot;,&quot;family&quot;:&quot;Arial&quot;,&quot;size&quot;:&quot;12&quot;},&quot;aid&quot;:null,&quot;backgroundColorModified&quot;:false,&quot;ts&quot;:1678044312987,&quot;cs&quot;:&quot;NzIGFUOHjY9bDQ3b1DnZQw==&quot;,&quot;size&quot;:{&quot;width&quot;:16.166666666666668,&quot;height&quot;:11.5}}" id="274" name="Google Shape;27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200" y="2110427"/>
            <a:ext cx="209435" cy="163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20"/>
          <p:cNvCxnSpPr>
            <a:endCxn id="271" idx="2"/>
          </p:cNvCxnSpPr>
          <p:nvPr/>
        </p:nvCxnSpPr>
        <p:spPr>
          <a:xfrm>
            <a:off x="802227" y="1183954"/>
            <a:ext cx="678900" cy="5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20"/>
          <p:cNvCxnSpPr>
            <a:endCxn id="271" idx="2"/>
          </p:cNvCxnSpPr>
          <p:nvPr/>
        </p:nvCxnSpPr>
        <p:spPr>
          <a:xfrm flipH="1" rot="10800000">
            <a:off x="788127" y="1690654"/>
            <a:ext cx="6930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20"/>
          <p:cNvCxnSpPr>
            <a:endCxn id="271" idx="2"/>
          </p:cNvCxnSpPr>
          <p:nvPr/>
        </p:nvCxnSpPr>
        <p:spPr>
          <a:xfrm flipH="1" rot="10800000">
            <a:off x="822327" y="1690654"/>
            <a:ext cx="658800" cy="5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20"/>
          <p:cNvCxnSpPr/>
          <p:nvPr/>
        </p:nvCxnSpPr>
        <p:spPr>
          <a:xfrm flipH="1">
            <a:off x="2290376" y="1133479"/>
            <a:ext cx="6900" cy="11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{&quot;font&quot;:{&quot;color&quot;:&quot;#000000&quot;,&quot;size&quot;:6,&quot;family&quot;:&quot;Arial&quot;},&quot;code&quot;:&quot;$$w_{1}$$&quot;,&quot;id&quot;:&quot;54&quot;,&quot;backgroundColor&quot;:&quot;#FFFFFF&quot;,&quot;backgroundColorModified&quot;:false,&quot;type&quot;:&quot;$$&quot;,&quot;aid&quot;:null,&quot;ts&quot;:1678048486033,&quot;cs&quot;:&quot;9I3LedQn8x2tHTvY6eMV+A==&quot;,&quot;size&quot;:{&quot;width&quot;:10.098425196850394,&quot;height&quot;:5.984251968503937}}" id="279" name="Google Shape;27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3961" y="1078048"/>
            <a:ext cx="130823" cy="85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$&quot;,&quot;id&quot;:&quot;55&quot;,&quot;font&quot;:{&quot;size&quot;:5.5,&quot;color&quot;:&quot;#000000&quot;,&quot;family&quot;:&quot;Arial&quot;},&quot;backgroundColorModified&quot;:false,&quot;code&quot;:&quot;$$w_{2}$$&quot;,&quot;aid&quot;:null,&quot;ts&quot;:1678048514128,&quot;cs&quot;:&quot;j2WFLieoWBpK7J8fApz9Dw==&quot;,&quot;size&quot;:{&quot;width&quot;:10.097119160104981,&quot;height&quot;:5.927374278215216}}" id="280" name="Google Shape;28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3978" y="1552917"/>
            <a:ext cx="130806" cy="8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56&quot;,&quot;font&quot;:{&quot;family&quot;:&quot;Arial&quot;,&quot;size&quot;:6,&quot;color&quot;:&quot;#000000&quot;},&quot;aid&quot;:null,&quot;type&quot;:&quot;$$&quot;,&quot;code&quot;:&quot;$$w_{3}$$&quot;,&quot;backgroundColor&quot;:&quot;#FFFFFF&quot;,&quot;backgroundColorModified&quot;:false,&quot;ts&quot;:1678048502109,&quot;cs&quot;:&quot;XOvOROxVag8M5PO+db/0rw==&quot;,&quot;size&quot;:{&quot;width&quot;:10.097104986876648,&quot;height&quot;:6.0579338582677025}}" id="281" name="Google Shape;2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3981" y="1904682"/>
            <a:ext cx="130806" cy="86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size&quot;:6,&quot;color&quot;:&quot;#000000&quot;},&quot;backgroundColorModified&quot;:false,&quot;code&quot;:&quot;$$z=\\sum_{i}^{}w_{i}x_{i}\\,+b$$&quot;,&quot;backgroundColor&quot;:&quot;#FFFFFF&quot;,&quot;type&quot;:&quot;$$&quot;,&quot;aid&quot;:null,&quot;id&quot;:&quot;58&quot;,&quot;ts&quot;:1678135794743,&quot;cs&quot;:&quot;vOo1ZCgzTmUHfXtvWIMx+Q==&quot;,&quot;size&quot;:{&quot;width&quot;:72.75595564304462,&quot;height&quot;:21.06305511811025}}" id="282" name="Google Shape;28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39250" y="1616850"/>
            <a:ext cx="693000" cy="200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6,&quot;family&quot;:&quot;Arial&quot;},&quot;code&quot;:&quot;$$a=f\\left(z\\right)$$&quot;,&quot;backgroundColorModified&quot;:false,&quot;aid&quot;:null,&quot;type&quot;:&quot;$$&quot;,&quot;id&quot;:&quot;59&quot;,&quot;backgroundColor&quot;:&quot;#FFFFFF&quot;,&quot;ts&quot;:1678135852249,&quot;cs&quot;:&quot;3zlcjVxmHxYpTj4RYfdXww==&quot;,&quot;size&quot;:{&quot;width&quot;:34.36382992125984,&quot;height&quot;:9.832026246719142}}" id="283" name="Google Shape;283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23188" y="1670338"/>
            <a:ext cx="327315" cy="9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Modified&quot;:false,&quot;aid&quot;:null,&quot;code&quot;:&quot;$$a\\,=\\,\\hat{y}$$&quot;,&quot;id&quot;:&quot;62&quot;,&quot;backgroundColor&quot;:&quot;#FFFFFF&quot;,&quot;font&quot;:{&quot;size&quot;:14,&quot;color&quot;:&quot;#000000&quot;,&quot;family&quot;:&quot;Arial&quot;},&quot;ts&quot;:1678053822195,&quot;cs&quot;:&quot;qW2gOK8v6qnazV03gpuwuQ==&quot;,&quot;size&quot;:{&quot;width&quot;:50.66247401574804,&quot;height&quot;:19.615709973753283}}" id="284" name="Google Shape;284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27532" y="1604245"/>
            <a:ext cx="518094" cy="1868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20"/>
          <p:cNvCxnSpPr/>
          <p:nvPr/>
        </p:nvCxnSpPr>
        <p:spPr>
          <a:xfrm flipH="1" rot="10800000">
            <a:off x="2676432" y="1699913"/>
            <a:ext cx="5229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20"/>
          <p:cNvSpPr txBox="1"/>
          <p:nvPr/>
        </p:nvSpPr>
        <p:spPr>
          <a:xfrm>
            <a:off x="252324" y="2963713"/>
            <a:ext cx="364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=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Activation Function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Ex: Sigmoid 	           Rectified Linear Unit	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5243243" y="1465695"/>
            <a:ext cx="524100" cy="52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" name="Google Shape;288;p20"/>
          <p:cNvCxnSpPr>
            <a:endCxn id="287" idx="2"/>
          </p:cNvCxnSpPr>
          <p:nvPr/>
        </p:nvCxnSpPr>
        <p:spPr>
          <a:xfrm>
            <a:off x="4623143" y="1341645"/>
            <a:ext cx="620100" cy="38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p20"/>
          <p:cNvCxnSpPr>
            <a:endCxn id="287" idx="2"/>
          </p:cNvCxnSpPr>
          <p:nvPr/>
        </p:nvCxnSpPr>
        <p:spPr>
          <a:xfrm flipH="1" rot="10800000">
            <a:off x="4623143" y="1727445"/>
            <a:ext cx="620100" cy="36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20"/>
          <p:cNvCxnSpPr>
            <a:endCxn id="287" idx="2"/>
          </p:cNvCxnSpPr>
          <p:nvPr/>
        </p:nvCxnSpPr>
        <p:spPr>
          <a:xfrm flipH="1" rot="10800000">
            <a:off x="4623143" y="1727445"/>
            <a:ext cx="620100" cy="11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20"/>
          <p:cNvCxnSpPr>
            <a:stCxn id="287" idx="6"/>
          </p:cNvCxnSpPr>
          <p:nvPr/>
        </p:nvCxnSpPr>
        <p:spPr>
          <a:xfrm>
            <a:off x="5767343" y="1727445"/>
            <a:ext cx="5484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p20"/>
          <p:cNvSpPr/>
          <p:nvPr/>
        </p:nvSpPr>
        <p:spPr>
          <a:xfrm>
            <a:off x="5243243" y="2136516"/>
            <a:ext cx="524100" cy="523500"/>
          </a:xfrm>
          <a:prstGeom prst="ellipse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3" name="Google Shape;293;p20"/>
          <p:cNvCxnSpPr>
            <a:endCxn id="292" idx="2"/>
          </p:cNvCxnSpPr>
          <p:nvPr/>
        </p:nvCxnSpPr>
        <p:spPr>
          <a:xfrm>
            <a:off x="4623143" y="1341066"/>
            <a:ext cx="620100" cy="10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20"/>
          <p:cNvCxnSpPr>
            <a:endCxn id="292" idx="2"/>
          </p:cNvCxnSpPr>
          <p:nvPr/>
        </p:nvCxnSpPr>
        <p:spPr>
          <a:xfrm>
            <a:off x="4623143" y="2089566"/>
            <a:ext cx="620100" cy="308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20"/>
          <p:cNvCxnSpPr>
            <a:endCxn id="292" idx="2"/>
          </p:cNvCxnSpPr>
          <p:nvPr/>
        </p:nvCxnSpPr>
        <p:spPr>
          <a:xfrm flipH="1" rot="10800000">
            <a:off x="4623143" y="2398266"/>
            <a:ext cx="620100" cy="459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20"/>
          <p:cNvCxnSpPr/>
          <p:nvPr/>
        </p:nvCxnSpPr>
        <p:spPr>
          <a:xfrm>
            <a:off x="5767352" y="2389528"/>
            <a:ext cx="548400" cy="1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code&quot;:&quot;$x_{1}$&quot;,&quot;font&quot;:{&quot;family&quot;:&quot;Arial&quot;,&quot;color&quot;:&quot;#000000&quot;,&quot;size&quot;:11.5},&quot;aid&quot;:null,&quot;type&quot;:&quot;$&quot;,&quot;id&quot;:&quot;47&quot;,&quot;backgroundColor&quot;:&quot;#FFFFFF&quot;,&quot;ts&quot;:1678044275771,&quot;cs&quot;:&quot;seE5sAye4NwVxJQbhXmwBQ==&quot;,&quot;size&quot;:{&quot;width&quot;:15.833333333333334,&quot;height&quot;:11.166666666666666}}" id="297" name="Google Shape;2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672" y="1302600"/>
            <a:ext cx="109008" cy="77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font&quot;:{&quot;family&quot;:&quot;Arial&quot;,&quot;color&quot;:&quot;#000000&quot;,&quot;size&quot;:&quot;12&quot;},&quot;code&quot;:&quot;$$x_{2}$$&quot;,&quot;id&quot;:&quot;48&quot;,&quot;backgroundColorModified&quot;:false,&quot;backgroundColor&quot;:&quot;#FFFFFF&quot;,&quot;ts&quot;:1678044296973,&quot;cs&quot;:&quot;UpffYjbDQi5Comp5w0STrw==&quot;,&quot;size&quot;:{&quot;width&quot;:16.166666666666668,&quot;height&quot;:11.166666666666666}}" id="298" name="Google Shape;29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525" y="2060594"/>
            <a:ext cx="111303" cy="77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49&quot;,&quot;backgroundColor&quot;:&quot;#FFFFFF&quot;,&quot;code&quot;:&quot;$$x_{3}$$&quot;,&quot;font&quot;:{&quot;color&quot;:&quot;#000000&quot;,&quot;family&quot;:&quot;Arial&quot;,&quot;size&quot;:&quot;12&quot;},&quot;aid&quot;:null,&quot;backgroundColorModified&quot;:false,&quot;ts&quot;:1678044312987,&quot;cs&quot;:&quot;NzIGFUOHjY9bDQ3b1DnZQw==&quot;,&quot;size&quot;:{&quot;width&quot;:16.166666666666668,&quot;height&quot;:11.5}}" id="299" name="Google Shape;29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5525" y="2823793"/>
            <a:ext cx="111303" cy="801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z_{2}$$&quot;,&quot;backgroundColorModified&quot;:false,&quot;aid&quot;:null,&quot;id&quot;:&quot;50&quot;,&quot;type&quot;:&quot;$$&quot;,&quot;backgroundColor&quot;:&quot;#FFFFFF&quot;,&quot;font&quot;:{&quot;family&quot;:&quot;Arial&quot;,&quot;color&quot;:&quot;#000000&quot;,&quot;size&quot;:8.5},&quot;ts&quot;:1678051171448,&quot;cs&quot;:&quot;OqbitKAObCaXAdy2aIYMTg==&quot;,&quot;size&quot;:{&quot;width&quot;:10.18893438320209,&quot;height&quot;:8.254065879265102}}" id="300" name="Google Shape;300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60120" y="2360328"/>
            <a:ext cx="97534" cy="757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code&quot;:&quot;$$z_{1}$$&quot;,&quot;id&quot;:&quot;51&quot;,&quot;type&quot;:&quot;$$&quot;,&quot;font&quot;:{&quot;size&quot;:8.5,&quot;family&quot;:&quot;Arial&quot;,&quot;color&quot;:&quot;#000000&quot;},&quot;backgroundColor&quot;:&quot;#FFFFFF&quot;,&quot;ts&quot;:1678051167283,&quot;cs&quot;:&quot;AFLvJAnaq7z76ZARfc8Rdw==&quot;,&quot;size&quot;:{&quot;width&quot;:9.949194750656146,&quot;height&quot;:8.254065879265102}}" id="301" name="Google Shape;301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61268" y="1688438"/>
            <a:ext cx="95239" cy="77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type&quot;:&quot;$$&quot;,&quot;code&quot;:&quot;$$\\hat{y}_{1}$$&quot;,&quot;backgroundColor&quot;:&quot;#FFFFFF&quot;,&quot;font&quot;:{&quot;size&quot;:8.5,&quot;color&quot;:&quot;#000000&quot;,&quot;family&quot;:&quot;Arial&quot;},&quot;id&quot;:&quot;52&quot;,&quot;ts&quot;:1678051134851,&quot;cs&quot;:&quot;v6wegDWy9Fg36oOABUFQxw==&quot;,&quot;size&quot;:{&quot;width&quot;:11.166666666666666,&quot;height&quot;:12.166666666666666}}" id="302" name="Google Shape;302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398907" y="1684953"/>
            <a:ext cx="106893" cy="114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hat{y_{2}}$$&quot;,&quot;type&quot;:&quot;$$&quot;,&quot;aid&quot;:null,&quot;font&quot;:{&quot;color&quot;:&quot;#000000&quot;,&quot;size&quot;:8.5,&quot;family&quot;:&quot;Arial&quot;},&quot;backgroundColor&quot;:&quot;#FFFFFF&quot;,&quot;backgroundColorModified&quot;:false,&quot;id&quot;:&quot;53&quot;,&quot;ts&quot;:1678051157460,&quot;cs&quot;:&quot;1bJCukJZfw9pLb8UWAUzrw==&quot;,&quot;size&quot;:{&quot;width&quot;:10.5,&quot;height&quot;:11.666666666666666}}" id="303" name="Google Shape;303;p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399682" y="2355802"/>
            <a:ext cx="100512" cy="1100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20"/>
          <p:cNvCxnSpPr>
            <a:stCxn id="287" idx="0"/>
            <a:endCxn id="287" idx="4"/>
          </p:cNvCxnSpPr>
          <p:nvPr/>
        </p:nvCxnSpPr>
        <p:spPr>
          <a:xfrm>
            <a:off x="5505293" y="1465695"/>
            <a:ext cx="0" cy="5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0"/>
          <p:cNvCxnSpPr/>
          <p:nvPr/>
        </p:nvCxnSpPr>
        <p:spPr>
          <a:xfrm>
            <a:off x="5505244" y="2136531"/>
            <a:ext cx="0" cy="5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{&quot;backgroundColor&quot;:&quot;#FFFFFF&quot;,&quot;id&quot;:&quot;66&quot;,&quot;backgroundColorModified&quot;:false,&quot;font&quot;:{&quot;family&quot;:&quot;Arial&quot;,&quot;size&quot;:7.5,&quot;color&quot;:&quot;#000000&quot;},&quot;aid&quot;:null,&quot;code&quot;:&quot;$$a_{1}$$&quot;,&quot;type&quot;:&quot;$$&quot;,&quot;ts&quot;:1678051251311,&quot;cs&quot;:&quot;LxmGHIdzu1iKDidyIQRz7Q==&quot;,&quot;size&quot;:{&quot;width&quot;:9.947503937007902,&quot;height&quot;:7.406243307086601}}" id="306" name="Google Shape;306;p2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572592" y="1692441"/>
            <a:ext cx="111303" cy="816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a_{2}$$&quot;,&quot;font&quot;:{&quot;family&quot;:&quot;Arial&quot;,&quot;size&quot;:8.5,&quot;color&quot;:&quot;#000000&quot;},&quot;id&quot;:&quot;67&quot;,&quot;backgroundColorModified&quot;:false,&quot;aid&quot;:null,&quot;backgroundColor&quot;:&quot;#FFFFFF&quot;,&quot;ts&quot;:1678051269271,&quot;cs&quot;:&quot;16sMzrLiBt6eQNeaoISYOg==&quot;,&quot;size&quot;:{&quot;width&quot;:11.167979002624671,&quot;height&quot;:8.13344829396326}}" id="307" name="Google Shape;307;p2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559054" y="2359784"/>
            <a:ext cx="106906" cy="76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68&quot;,&quot;backgroundColor&quot;:&quot;#FFFFFF&quot;,&quot;backgroundColorModified&quot;:false,&quot;type&quot;:&quot;$$&quot;,&quot;font&quot;:{&quot;size&quot;:14,&quot;color&quot;:&quot;#000000&quot;,&quot;family&quot;:&quot;Arial&quot;},&quot;code&quot;:&quot;$$z_{\\left(2,1\\right)}=W_{\\left(2,3\\right)}^{T}x_{\\left(3,1\\right)}+b_{\\left(2,1\\right)}$$&quot;,&quot;aid&quot;:null,&quot;ts&quot;:1678052295288,&quot;cs&quot;:&quot;EPZLMA5O6/HIC0Mz89tsQw==&quot;,&quot;size&quot;:{&quot;width&quot;:237.40000000000006,&quot;height&quot;:30}}" id="308" name="Google Shape;308;p2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710300" y="1794600"/>
            <a:ext cx="226123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69&quot;,&quot;font&quot;:{&quot;color&quot;:&quot;#000000&quot;,&quot;size&quot;:14,&quot;family&quot;:&quot;Arial&quot;},&quot;backgroundColorModified&quot;:false,&quot;type&quot;:&quot;$$&quot;,&quot;aid&quot;:null,&quot;code&quot;:&quot;$$\\hat{y}_{\\left(2,1\\right)}=\\,\\sigma\\left(z_{\\left(2,1\\right)}\\right)$$&quot;,&quot;ts&quot;:1678052398231,&quot;cs&quot;:&quot;51MGEgWj3BBdkuMxy17llA==&quot;,&quot;size&quot;:{&quot;width&quot;:149.83333333333334,&quot;height&quot;:27.833333333333332}}" id="309" name="Google Shape;309;p2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710300" y="2155413"/>
            <a:ext cx="1427163" cy="265113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0"/>
          <p:cNvSpPr txBox="1"/>
          <p:nvPr/>
        </p:nvSpPr>
        <p:spPr>
          <a:xfrm>
            <a:off x="4815725" y="867325"/>
            <a:ext cx="344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For one input (column vector)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4861225" y="3413825"/>
            <a:ext cx="344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For m inputs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id&quot;:&quot;70&quot;,&quot;code&quot;:&quot;$$Z_{\\left(2,m\\right)\\,}=W_{\\left(2,3\\right)}^{T}X_{\\left(3,m\\right)}+b_{\\left(2,m\\right)}$$&quot;,&quot;type&quot;:&quot;$$&quot;,&quot;aid&quot;:null,&quot;font&quot;:{&quot;size&quot;:14,&quot;color&quot;:&quot;#000000&quot;,&quot;family&quot;:&quot;Times New Roman&quot;},&quot;backgroundColor&quot;:&quot;#FFFFFF&quot;,&quot;backgroundColorModified&quot;:false,&quot;ts&quot;:1678052833043,&quot;cs&quot;:&quot;CETLctbBNmKBn7QBcOCTLg==&quot;,&quot;size&quot;:{&quot;width&quot;:231,&quot;height&quot;:25.800000000000008}}" id="312" name="Google Shape;312;p2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101600" y="3911413"/>
            <a:ext cx="2200275" cy="2457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20"/>
          <p:cNvCxnSpPr/>
          <p:nvPr/>
        </p:nvCxnSpPr>
        <p:spPr>
          <a:xfrm>
            <a:off x="3983700" y="872375"/>
            <a:ext cx="30300" cy="393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{&quot;code&quot;:&quot;$$f$$&quot;,&quot;backgroundColorModified&quot;:false,&quot;type&quot;:&quot;$$&quot;,&quot;id&quot;:&quot;84&quot;,&quot;font&quot;:{&quot;size&quot;:14,&quot;color&quot;:&quot;#000000&quot;,&quot;family&quot;:&quot;Arial&quot;},&quot;backgroundColor&quot;:&quot;#FFFFFF&quot;,&quot;aid&quot;:null,&quot;ts&quot;:1678135999107,&quot;cs&quot;:&quot;bx62FmxCpqoeBs/dUIIwcw==&quot;,&quot;size&quot;:{&quot;width&quot;:10.833333333333334,&quot;height&quot;:20}}" id="314" name="Google Shape;314;p2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52325" y="3100938"/>
            <a:ext cx="103188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size&quot;:&quot;12&quot;,&quot;family&quot;:&quot;Times New Roman&quot;,&quot;color&quot;:&quot;#000000&quot;},&quot;type&quot;:&quot;$$&quot;,&quot;backgroundColorModified&quot;:false,&quot;code&quot;:&quot;$$\\text{Input}$$&quot;,&quot;id&quot;:&quot;88&quot;,&quot;backgroundColor&quot;:&quot;#FFFFFF&quot;,&quot;ts&quot;:1678136677192,&quot;cs&quot;:&quot;iAjxPAZD/EUZEfTKvTByKQ==&quot;,&quot;size&quot;:{&quot;width&quot;:44,&quot;height&quot;:16.5}}" id="315" name="Google Shape;315;p20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34263" y="2517839"/>
            <a:ext cx="327300" cy="1227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font&quot;:{&quot;color&quot;:&quot;#000000&quot;,&quot;size&quot;:&quot;12&quot;,&quot;family&quot;:&quot;Arial&quot;},&quot;aid&quot;:null,&quot;backgroundColorModified&quot;:false,&quot;type&quot;:&quot;$$&quot;,&quot;code&quot;:&quot;$$\\text{Weights}$$&quot;,&quot;id&quot;:&quot;89&quot;,&quot;ts&quot;:1678136715340,&quot;cs&quot;:&quot;3wOVsMkfy307rkiZ+zCliw==&quot;,&quot;size&quot;:{&quot;width&quot;:66.33333333333333,&quot;height&quot;:17}}" id="316" name="Google Shape;316;p20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802229" y="2512775"/>
            <a:ext cx="473894" cy="12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&quot;12&quot;,&quot;family&quot;:&quot;Arial&quot;},&quot;id&quot;:&quot;90&quot;,&quot;backgroundColorModified&quot;:false,&quot;type&quot;:&quot;$$&quot;,&quot;backgroundColor&quot;:&quot;#FFFFFF&quot;,&quot;aid&quot;:null,&quot;code&quot;:&quot;$$\\text{Node}$$&quot;,&quot;ts&quot;:1678136739319,&quot;cs&quot;:&quot;Lc2H+CIQ22B9GgPU6Nh+xA==&quot;,&quot;size&quot;:{&quot;width&quot;:41.333333333333336,&quot;height&quot;:13.333333333333334}}" id="317" name="Google Shape;317;p20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910725" y="2528413"/>
            <a:ext cx="327300" cy="105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id&quot;:&quot;91&quot;,&quot;aid&quot;:null,&quot;code&quot;:&quot;$$\\text{Activation}\\;\\text{function}$$&quot;,&quot;backgroundColor&quot;:&quot;#FFFFFF&quot;,&quot;font&quot;:{&quot;color&quot;:&quot;#000000&quot;,&quot;family&quot;:&quot;Arial&quot;,&quot;size&quot;:&quot;12&quot;},&quot;ts&quot;:1678136762146,&quot;cs&quot;:&quot;TSl0++OLXSKR31TXJ1I1kA==&quot;,&quot;size&quot;:{&quot;width&quot;:158.33333333333334,&quot;height&quot;:13.666666666666666}}" id="318" name="Google Shape;318;p20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2362125" y="2296325"/>
            <a:ext cx="1274679" cy="11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type&quot;:&quot;$$&quot;,&quot;font&quot;:{&quot;size&quot;:&quot;12&quot;,&quot;color&quot;:&quot;#000000&quot;,&quot;family&quot;:&quot;Arial&quot;},&quot;backgroundColor&quot;:&quot;#FFFFFF&quot;,&quot;id&quot;:&quot;92&quot;,&quot;code&quot;:&quot;$$\\text{Output}$$&quot;,&quot;ts&quot;:1678136788419,&quot;cs&quot;:&quot;4P5NDqoPOkhEy0O+sJ9rsA==&quot;,&quot;size&quot;:{&quot;width&quot;:58.666666666666664,&quot;height&quot;:17}}" id="319" name="Google Shape;319;p20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3277588" y="1280781"/>
            <a:ext cx="419100" cy="1214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20"/>
          <p:cNvCxnSpPr>
            <a:stCxn id="315" idx="0"/>
            <a:endCxn id="274" idx="2"/>
          </p:cNvCxnSpPr>
          <p:nvPr/>
        </p:nvCxnSpPr>
        <p:spPr>
          <a:xfrm rot="10800000">
            <a:off x="497912" y="2274539"/>
            <a:ext cx="0" cy="2433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20"/>
          <p:cNvCxnSpPr>
            <a:stCxn id="316" idx="0"/>
            <a:endCxn id="281" idx="2"/>
          </p:cNvCxnSpPr>
          <p:nvPr/>
        </p:nvCxnSpPr>
        <p:spPr>
          <a:xfrm rot="10800000">
            <a:off x="969275" y="1991075"/>
            <a:ext cx="69900" cy="5217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20"/>
          <p:cNvCxnSpPr>
            <a:stCxn id="317" idx="0"/>
            <a:endCxn id="271" idx="4"/>
          </p:cNvCxnSpPr>
          <p:nvPr/>
        </p:nvCxnSpPr>
        <p:spPr>
          <a:xfrm rot="10800000">
            <a:off x="2074375" y="2326213"/>
            <a:ext cx="0" cy="2022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20"/>
          <p:cNvCxnSpPr>
            <a:endCxn id="283" idx="2"/>
          </p:cNvCxnSpPr>
          <p:nvPr/>
        </p:nvCxnSpPr>
        <p:spPr>
          <a:xfrm rot="10800000">
            <a:off x="2486846" y="1763988"/>
            <a:ext cx="166500" cy="5016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20"/>
          <p:cNvCxnSpPr>
            <a:stCxn id="319" idx="2"/>
            <a:endCxn id="284" idx="0"/>
          </p:cNvCxnSpPr>
          <p:nvPr/>
        </p:nvCxnSpPr>
        <p:spPr>
          <a:xfrm flipH="1">
            <a:off x="3486538" y="1402225"/>
            <a:ext cx="600" cy="2019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ot"/>
            <a:round/>
            <a:headEnd len="med" w="med" type="none"/>
            <a:tailEnd len="med" w="med" type="triangle"/>
          </a:ln>
        </p:spPr>
      </p:cxnSp>
      <p:pic>
        <p:nvPicPr>
          <p:cNvPr id="325" name="Google Shape;325;p20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252325" y="3543225"/>
            <a:ext cx="1514750" cy="1026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0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2219275" y="3568226"/>
            <a:ext cx="1526350" cy="93999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0"/>
          <p:cNvSpPr txBox="1"/>
          <p:nvPr/>
        </p:nvSpPr>
        <p:spPr>
          <a:xfrm>
            <a:off x="1685550" y="208775"/>
            <a:ext cx="543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Neural Network Representation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333" name="Google Shape;3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25" y="824025"/>
            <a:ext cx="3625875" cy="2423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625" y="3227763"/>
            <a:ext cx="2498433" cy="1515337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1"/>
          <p:cNvSpPr/>
          <p:nvPr/>
        </p:nvSpPr>
        <p:spPr>
          <a:xfrm>
            <a:off x="6185300" y="1469200"/>
            <a:ext cx="1615200" cy="3558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Layer 1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(Data Transformation)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6185300" y="2145224"/>
            <a:ext cx="1615200" cy="35400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Layer 2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(Data Transformation)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6185300" y="2759250"/>
            <a:ext cx="1615200" cy="354000"/>
          </a:xfrm>
          <a:prstGeom prst="rect">
            <a:avLst/>
          </a:prstGeom>
          <a:noFill/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Layer 3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(Data Transformation)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6550700" y="889825"/>
            <a:ext cx="88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Input X</a:t>
            </a:r>
            <a:endParaRPr sz="1100"/>
          </a:p>
        </p:txBody>
      </p:sp>
      <p:sp>
        <p:nvSpPr>
          <p:cNvPr id="339" name="Google Shape;339;p21"/>
          <p:cNvSpPr/>
          <p:nvPr/>
        </p:nvSpPr>
        <p:spPr>
          <a:xfrm>
            <a:off x="6574700" y="3402463"/>
            <a:ext cx="836400" cy="355800"/>
          </a:xfrm>
          <a:prstGeom prst="flowChartAlternateProcess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Prediction</a:t>
            </a:r>
            <a:b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8193550" y="3434550"/>
            <a:ext cx="836400" cy="355800"/>
          </a:xfrm>
          <a:prstGeom prst="flowChartAlternateProcess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True Target</a:t>
            </a:r>
            <a:b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7385850" y="4608063"/>
            <a:ext cx="972300" cy="242400"/>
          </a:xfrm>
          <a:prstGeom prst="flowChartAlternateProcess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Loss score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4523850" y="1525900"/>
            <a:ext cx="884400" cy="2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Weights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4128600" y="3227825"/>
            <a:ext cx="1674900" cy="43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Optimizer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4523850" y="2201025"/>
            <a:ext cx="884400" cy="2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Weights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7034550" y="3954125"/>
            <a:ext cx="1674900" cy="437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Loss Function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6" name="Google Shape;346;p21"/>
          <p:cNvCxnSpPr>
            <a:stCxn id="338" idx="2"/>
            <a:endCxn id="335" idx="0"/>
          </p:cNvCxnSpPr>
          <p:nvPr/>
        </p:nvCxnSpPr>
        <p:spPr>
          <a:xfrm>
            <a:off x="6992900" y="1243825"/>
            <a:ext cx="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21"/>
          <p:cNvCxnSpPr>
            <a:stCxn id="335" idx="2"/>
            <a:endCxn id="336" idx="0"/>
          </p:cNvCxnSpPr>
          <p:nvPr/>
        </p:nvCxnSpPr>
        <p:spPr>
          <a:xfrm>
            <a:off x="6992900" y="1825000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21"/>
          <p:cNvCxnSpPr>
            <a:stCxn id="336" idx="2"/>
            <a:endCxn id="337" idx="0"/>
          </p:cNvCxnSpPr>
          <p:nvPr/>
        </p:nvCxnSpPr>
        <p:spPr>
          <a:xfrm>
            <a:off x="6992900" y="2499224"/>
            <a:ext cx="0" cy="26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21"/>
          <p:cNvCxnSpPr>
            <a:stCxn id="337" idx="2"/>
            <a:endCxn id="339" idx="0"/>
          </p:cNvCxnSpPr>
          <p:nvPr/>
        </p:nvCxnSpPr>
        <p:spPr>
          <a:xfrm>
            <a:off x="6992900" y="3113250"/>
            <a:ext cx="0" cy="28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21"/>
          <p:cNvCxnSpPr>
            <a:stCxn id="339" idx="2"/>
            <a:endCxn id="345" idx="1"/>
          </p:cNvCxnSpPr>
          <p:nvPr/>
        </p:nvCxnSpPr>
        <p:spPr>
          <a:xfrm>
            <a:off x="6992900" y="3758263"/>
            <a:ext cx="28680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" name="Google Shape;351;p21"/>
          <p:cNvCxnSpPr>
            <a:stCxn id="340" idx="2"/>
            <a:endCxn id="345" idx="7"/>
          </p:cNvCxnSpPr>
          <p:nvPr/>
        </p:nvCxnSpPr>
        <p:spPr>
          <a:xfrm flipH="1">
            <a:off x="8464150" y="3790350"/>
            <a:ext cx="14760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" name="Google Shape;352;p21"/>
          <p:cNvCxnSpPr>
            <a:stCxn id="345" idx="4"/>
            <a:endCxn id="341" idx="0"/>
          </p:cNvCxnSpPr>
          <p:nvPr/>
        </p:nvCxnSpPr>
        <p:spPr>
          <a:xfrm>
            <a:off x="7872000" y="4391225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21"/>
          <p:cNvCxnSpPr>
            <a:stCxn id="341" idx="1"/>
            <a:endCxn id="343" idx="5"/>
          </p:cNvCxnSpPr>
          <p:nvPr/>
        </p:nvCxnSpPr>
        <p:spPr>
          <a:xfrm rot="10800000">
            <a:off x="5558250" y="3600963"/>
            <a:ext cx="1827600" cy="112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21"/>
          <p:cNvCxnSpPr>
            <a:stCxn id="344" idx="3"/>
            <a:endCxn id="336" idx="1"/>
          </p:cNvCxnSpPr>
          <p:nvPr/>
        </p:nvCxnSpPr>
        <p:spPr>
          <a:xfrm>
            <a:off x="5408250" y="2322225"/>
            <a:ext cx="77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21"/>
          <p:cNvCxnSpPr/>
          <p:nvPr/>
        </p:nvCxnSpPr>
        <p:spPr>
          <a:xfrm flipH="1" rot="10800000">
            <a:off x="4359475" y="2319375"/>
            <a:ext cx="1644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21"/>
          <p:cNvCxnSpPr>
            <a:stCxn id="342" idx="3"/>
            <a:endCxn id="335" idx="1"/>
          </p:cNvCxnSpPr>
          <p:nvPr/>
        </p:nvCxnSpPr>
        <p:spPr>
          <a:xfrm>
            <a:off x="5408250" y="1647100"/>
            <a:ext cx="77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7" name="Google Shape;357;p21"/>
          <p:cNvSpPr/>
          <p:nvPr/>
        </p:nvSpPr>
        <p:spPr>
          <a:xfrm>
            <a:off x="243775" y="1605288"/>
            <a:ext cx="548700" cy="990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1"/>
          <p:cNvSpPr/>
          <p:nvPr/>
        </p:nvSpPr>
        <p:spPr>
          <a:xfrm>
            <a:off x="6640525" y="924425"/>
            <a:ext cx="836400" cy="289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936175" y="1006450"/>
            <a:ext cx="548700" cy="20583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1"/>
          <p:cNvSpPr/>
          <p:nvPr/>
        </p:nvSpPr>
        <p:spPr>
          <a:xfrm>
            <a:off x="1628563" y="1011238"/>
            <a:ext cx="589500" cy="204870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2440800" y="1006450"/>
            <a:ext cx="651900" cy="2058300"/>
          </a:xfrm>
          <a:prstGeom prst="rect">
            <a:avLst/>
          </a:prstGeom>
          <a:noFill/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1"/>
          <p:cNvSpPr/>
          <p:nvPr/>
        </p:nvSpPr>
        <p:spPr>
          <a:xfrm>
            <a:off x="3250113" y="1318150"/>
            <a:ext cx="548700" cy="13338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4830850" y="1293100"/>
            <a:ext cx="83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adjusted</a:t>
            </a:r>
            <a:endParaRPr sz="11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4830850" y="1932800"/>
            <a:ext cx="83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adjusted</a:t>
            </a:r>
            <a:endParaRPr sz="11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4863788" y="2572525"/>
            <a:ext cx="83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adjusted</a:t>
            </a:r>
            <a:endParaRPr sz="11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523850" y="2813100"/>
            <a:ext cx="884400" cy="2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Weights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7" name="Google Shape;367;p21"/>
          <p:cNvCxnSpPr>
            <a:stCxn id="343" idx="0"/>
            <a:endCxn id="366" idx="2"/>
          </p:cNvCxnSpPr>
          <p:nvPr/>
        </p:nvCxnSpPr>
        <p:spPr>
          <a:xfrm rot="10800000">
            <a:off x="4966050" y="3055625"/>
            <a:ext cx="0" cy="17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21"/>
          <p:cNvCxnSpPr>
            <a:stCxn id="366" idx="3"/>
            <a:endCxn id="337" idx="1"/>
          </p:cNvCxnSpPr>
          <p:nvPr/>
        </p:nvCxnSpPr>
        <p:spPr>
          <a:xfrm>
            <a:off x="5408250" y="2934300"/>
            <a:ext cx="7770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21"/>
          <p:cNvCxnSpPr>
            <a:stCxn id="343" idx="2"/>
          </p:cNvCxnSpPr>
          <p:nvPr/>
        </p:nvCxnSpPr>
        <p:spPr>
          <a:xfrm flipH="1" rot="10800000">
            <a:off x="4128600" y="1643075"/>
            <a:ext cx="8400" cy="180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21"/>
          <p:cNvCxnSpPr>
            <a:stCxn id="343" idx="1"/>
          </p:cNvCxnSpPr>
          <p:nvPr/>
        </p:nvCxnSpPr>
        <p:spPr>
          <a:xfrm flipH="1" rot="10800000">
            <a:off x="4373883" y="2329437"/>
            <a:ext cx="4800" cy="96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21"/>
          <p:cNvCxnSpPr>
            <a:endCxn id="342" idx="1"/>
          </p:cNvCxnSpPr>
          <p:nvPr/>
        </p:nvCxnSpPr>
        <p:spPr>
          <a:xfrm flipH="1" rot="10800000">
            <a:off x="4146750" y="1647100"/>
            <a:ext cx="3771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2" name="Google Shape;372;p21"/>
          <p:cNvSpPr/>
          <p:nvPr/>
        </p:nvSpPr>
        <p:spPr>
          <a:xfrm>
            <a:off x="7913875" y="1216275"/>
            <a:ext cx="651900" cy="2011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73" name="Google Shape;373;p21"/>
          <p:cNvSpPr/>
          <p:nvPr/>
        </p:nvSpPr>
        <p:spPr>
          <a:xfrm rot="-3421646">
            <a:off x="5478026" y="3251141"/>
            <a:ext cx="491697" cy="1959143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 rot="2041947">
            <a:off x="4995930" y="4125123"/>
            <a:ext cx="1712640" cy="6312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propagation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75" name="Google Shape;375;p21"/>
          <p:cNvSpPr txBox="1"/>
          <p:nvPr/>
        </p:nvSpPr>
        <p:spPr>
          <a:xfrm rot="-5400000">
            <a:off x="7182900" y="1627650"/>
            <a:ext cx="226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propagation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code&quot;:&quot;$$\\hat{y}$$&quot;,&quot;backgroundColor&quot;:&quot;#FFFFFF&quot;,&quot;id&quot;:&quot;72&quot;,&quot;type&quot;:&quot;$$&quot;,&quot;backgroundColorModified&quot;:false,&quot;font&quot;:{&quot;family&quot;:&quot;Arial&quot;,&quot;color&quot;:&quot;#000000&quot;,&quot;size&quot;:10},&quot;ts&quot;:1678053117600,&quot;cs&quot;:&quot;DFfm5aSa/kjs5xYJmIaAJg==&quot;,&quot;size&quot;:{&quot;width&quot;:7.5,&quot;height&quot;:13.666666666666666}}" id="376" name="Google Shape;37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2800" y="3569688"/>
            <a:ext cx="71438" cy="1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1"/>
          <p:cNvSpPr txBox="1"/>
          <p:nvPr/>
        </p:nvSpPr>
        <p:spPr>
          <a:xfrm>
            <a:off x="1200450" y="209975"/>
            <a:ext cx="6185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Training a Neural Network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626250" y="1211450"/>
            <a:ext cx="46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152400" y="832650"/>
            <a:ext cx="4228200" cy="40635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can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the Neural ODE model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by taking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one trajectory(one IC) of the system 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Train data: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for every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iteration,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observed states of  the trajectory at different points in time.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Validation data,Test data: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full trajectory g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enerated by random IC.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can train the Neural ODE model by taking multiple trajectories of the system.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data: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every training iteration, sequence of observed states of  a random trajectory  at different points in time.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data, Test data: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trajectory generated by random IC.</a:t>
            </a:r>
            <a:endParaRPr/>
          </a:p>
        </p:txBody>
      </p:sp>
      <p:pic>
        <p:nvPicPr>
          <p:cNvPr id="385" name="Google Shape;38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7178" y="1097300"/>
            <a:ext cx="3051048" cy="163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1525" y="3031017"/>
            <a:ext cx="4112699" cy="1380907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2"/>
          <p:cNvSpPr/>
          <p:nvPr/>
        </p:nvSpPr>
        <p:spPr>
          <a:xfrm>
            <a:off x="6949425" y="1815363"/>
            <a:ext cx="274200" cy="20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7585750" y="3558050"/>
            <a:ext cx="224700" cy="20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6160775" y="3558050"/>
            <a:ext cx="224700" cy="20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 rot="-2851230">
            <a:off x="7747434" y="2065397"/>
            <a:ext cx="921332" cy="108509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"/>
          <p:cNvSpPr txBox="1"/>
          <p:nvPr/>
        </p:nvSpPr>
        <p:spPr>
          <a:xfrm rot="-2951289">
            <a:off x="7965433" y="2051194"/>
            <a:ext cx="548979" cy="3539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Batch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22"/>
          <p:cNvSpPr/>
          <p:nvPr/>
        </p:nvSpPr>
        <p:spPr>
          <a:xfrm rot="-2851804">
            <a:off x="8183913" y="3784622"/>
            <a:ext cx="677574" cy="108509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"/>
          <p:cNvSpPr txBox="1"/>
          <p:nvPr/>
        </p:nvSpPr>
        <p:spPr>
          <a:xfrm rot="-2951289">
            <a:off x="8332533" y="3720419"/>
            <a:ext cx="548979" cy="3539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Batch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3224400" y="17377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ODE : Training NODE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3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0" y="4895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01" name="Google Shape;401;p23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564650" y="1094250"/>
            <a:ext cx="59031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Algorithm: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Initialization: Setting up the Neural Network parameters with random weights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For each iteration  from 1 to k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pass: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Generate batch from train data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	predY = ODESolver(                          , batchICs, batchTime, solver)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computation: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Backward pass: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	Backpropagation (Loss)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 update: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	Optimize     by minimizing Loss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font&quot;:{&quot;family&quot;:&quot;Arial&quot;,&quot;size&quot;:14,&quot;color&quot;:&quot;#000000&quot;},&quot;code&quot;:&quot;$f\\left(h\\left(t\\right),t,\\theta\\right)$&quot;,&quot;backgroundColor&quot;:&quot;#FFFFFF&quot;,&quot;aid&quot;:null,&quot;type&quot;:&quot;$&quot;,&quot;id&quot;:&quot;35&quot;,&quot;ts&quot;:1676942013239,&quot;cs&quot;:&quot;9wWJV340BUGHt3BSPf+DZg==&quot;,&quot;size&quot;:{&quot;width&quot;:101.16666666666667,&quot;height&quot;:22}}" id="403" name="Google Shape;40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8925" y="2562225"/>
            <a:ext cx="963613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&quot;14&quot;,&quot;family&quot;:&quot;Arial&quot;},&quot;backgroundColor&quot;:&quot;#FFFFFF&quot;,&quot;aid&quot;:null,&quot;code&quot;:&quot;$$\\theta$$&quot;,&quot;id&quot;:&quot;39&quot;,&quot;type&quot;:&quot;$$&quot;,&quot;backgroundColorModified&quot;:false,&quot;ts&quot;:1676943080600,&quot;cs&quot;:&quot;v0tFdTECr2coK1ws4DeSDQ==&quot;,&quot;size&quot;:{&quot;width&quot;:9.5,&quot;height&quot;:15.833333333333334}}" id="404" name="Google Shape;40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7100" y="4451038"/>
            <a:ext cx="90488" cy="150813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3"/>
          <p:cNvSpPr/>
          <p:nvPr/>
        </p:nvSpPr>
        <p:spPr>
          <a:xfrm>
            <a:off x="5735950" y="4107623"/>
            <a:ext cx="587700" cy="4965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8238779" y="4065707"/>
            <a:ext cx="679800" cy="3855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$&quot;,&quot;backgroundColorModified&quot;:false,&quot;code&quot;:&quot;$$y\\left(t=t_{0}\\right)$$&quot;,&quot;font&quot;:{&quot;size&quot;:12,&quot;family&quot;:&quot;Arial&quot;,&quot;color&quot;:&quot;#000000&quot;},&quot;backgroundColor&quot;:&quot;#FFFFFF&quot;,&quot;aid&quot;:null,&quot;id&quot;:&quot;30&quot;,&quot;ts&quot;:1676911247212,&quot;cs&quot;:&quot;Vuk41wGBth3ff8HKmN1SgQ==&quot;,&quot;size&quot;:{&quot;width&quot;:67.83333333333333,&quot;height&quot;:18.833333333333332}}" id="407" name="Google Shape;40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2400" y="4451058"/>
            <a:ext cx="314807" cy="82153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3"/>
          <p:cNvSpPr/>
          <p:nvPr/>
        </p:nvSpPr>
        <p:spPr>
          <a:xfrm>
            <a:off x="6586865" y="3833892"/>
            <a:ext cx="1388700" cy="869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ODE solver</a:t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9" name="Google Shape;40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3275" y="4084060"/>
            <a:ext cx="1018587" cy="4966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5&quot;,&quot;backgroundColor&quot;:&quot;#FFFFFF&quot;,&quot;type&quot;:&quot;$$&quot;,&quot;aid&quot;:null,&quot;font&quot;:{&quot;family&quot;:&quot;Arial&quot;,&quot;size&quot;:11.5,&quot;color&quot;:&quot;#000000&quot;},&quot;code&quot;:&quot;$$f\\left(y,t\\right)\\Rightarrow\\,f\\left(h\\left(t\\right),t,\\theta\\right)$$&quot;,&quot;ts&quot;:1676911561074,&quot;cs&quot;:&quot;XSA+pbNcyPPjr2xNWpr9DA==&quot;,&quot;size&quot;:{&quot;width&quot;:167.94338057742777,&quot;height&quot;:18.834633070866154}}" id="410" name="Google Shape;41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70039" y="4607350"/>
            <a:ext cx="779406" cy="821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12,&quot;family&quot;:&quot;Arial&quot;,&quot;color&quot;:&quot;#000000&quot;},&quot;type&quot;:&quot;$$&quot;,&quot;backgroundColor&quot;:&quot;#FFFFFF&quot;,&quot;aid&quot;:null,&quot;id&quot;:&quot;32&quot;,&quot;code&quot;:&quot;$$\\tilde{y}\\left(t\\right)$$&quot;,&quot;backgroundColorModified&quot;:false,&quot;ts&quot;:1676911628120,&quot;cs&quot;:&quot;cFeTh1tjvmbGrOV3LrOz2g==&quot;,&quot;size&quot;:{&quot;width&quot;:29.666666666666668,&quot;height&quot;:18.833333333333332}}" id="411" name="Google Shape;411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21324" y="4227723"/>
            <a:ext cx="137680" cy="82153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3"/>
          <p:cNvSpPr/>
          <p:nvPr/>
        </p:nvSpPr>
        <p:spPr>
          <a:xfrm>
            <a:off x="6377081" y="4261743"/>
            <a:ext cx="156300" cy="10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8029007" y="4252450"/>
            <a:ext cx="156300" cy="10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3"/>
          <p:cNvSpPr txBox="1"/>
          <p:nvPr/>
        </p:nvSpPr>
        <p:spPr>
          <a:xfrm>
            <a:off x="1824550" y="184200"/>
            <a:ext cx="524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Neural ODE : Training the model</a:t>
            </a:r>
            <a:endParaRPr/>
          </a:p>
        </p:txBody>
      </p:sp>
      <p:pic>
        <p:nvPicPr>
          <p:cNvPr descr="{&quot;aid&quot;:null,&quot;font&quot;:{&quot;color&quot;:&quot;#000000&quot;,&quot;size&quot;:14,&quot;family&quot;:&quot;Times New Roman&quot;},&quot;code&quot;:&quot;$$Loss\\,=\\sum_{batch}^{}\\frac{1}{N}\\sum_{t=1}^{N}\\left|predY\\left(t\\right)\\,-\\,batchY\\left(t\\right)\\,\\right|$$&quot;,&quot;backgroundColor&quot;:&quot;#FFFFFF&quot;,&quot;id&quot;:&quot;1&quot;,&quot;type&quot;:&quot;$$&quot;,&quot;ts&quot;:1678139806344,&quot;cs&quot;:&quot;gOYvZ0DLA/SsVDfe3alPvw==&quot;,&quot;size&quot;:{&quot;width&quot;:350.3333333333333,&quot;height&quot;:52.333333333333336}}" id="415" name="Google Shape;415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87950" y="3040950"/>
            <a:ext cx="3336925" cy="4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4"/>
          <p:cNvSpPr txBox="1"/>
          <p:nvPr/>
        </p:nvSpPr>
        <p:spPr>
          <a:xfrm>
            <a:off x="152400" y="266700"/>
            <a:ext cx="9144000" cy="534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Neural ODE : Training the model</a:t>
            </a:r>
            <a:endParaRPr sz="2600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152400" y="152400"/>
            <a:ext cx="9144000" cy="1143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0" y="4895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24" name="Google Shape;424;p24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25" name="Google Shape;425;p24"/>
          <p:cNvSpPr txBox="1"/>
          <p:nvPr/>
        </p:nvSpPr>
        <p:spPr>
          <a:xfrm>
            <a:off x="533725" y="723100"/>
            <a:ext cx="82083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Algorithm: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Initialization: Setting up the Neural Network parameters with random weights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each iteration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Forward pass: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Given a sequence of observed states(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batchY )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compute the predicted states( predY ) by solving the ODE system using a numerical solver.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predY = ODESolver(                       , batchICs, batchTime, solver)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Loss computation: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 a loss function that measures the discrepancy between the predicted states and the true observed states. We used mean absolute error (MAE)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= mean(| predY - batchY|)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Backward pass: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 the gradients of the loss function with respect to the network parameters using backpropagation.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Parameter update: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Update the network parameters using an optimization algorithm, such as stochastic gradient descent (SGD) or Adam, to minimize the loss function.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family&quot;:&quot;Arial&quot;,&quot;size&quot;:14,&quot;color&quot;:&quot;#000000&quot;},&quot;code&quot;:&quot;$f\\left(h\\left(t\\right),t,\\theta\\right)$&quot;,&quot;backgroundColor&quot;:&quot;#FFFFFF&quot;,&quot;aid&quot;:null,&quot;type&quot;:&quot;$&quot;,&quot;id&quot;:&quot;35&quot;,&quot;ts&quot;:1676942013239,&quot;cs&quot;:&quot;9wWJV340BUGHt3BSPf+DZg==&quot;,&quot;size&quot;:{&quot;width&quot;:101.16666666666667,&quot;height&quot;:22}}" id="426" name="Google Shape;4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639" y="2355675"/>
            <a:ext cx="789111" cy="1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5"/>
          <p:cNvSpPr txBox="1"/>
          <p:nvPr/>
        </p:nvSpPr>
        <p:spPr>
          <a:xfrm>
            <a:off x="0" y="210075"/>
            <a:ext cx="9144000" cy="534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Neural ODE Simulations</a:t>
            </a:r>
            <a:endParaRPr sz="2600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0" y="95775"/>
            <a:ext cx="9144000" cy="1143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0" y="4952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descr="{&quot;id&quot;:&quot;16&quot;,&quot;backgroundColorModified&quot;:false,&quot;backgroundColor&quot;:&quot;#FFFFFF&quot;,&quot;code&quot;:&quot;$$y^{\\prime}\\,=\\,\\begin{bmatrix}\n{-0.1}&amp;{2.0}\\\\\n{-2.0}&amp;{-0.1}\\\\\n\\end{bmatrix}y$$&quot;,&quot;type&quot;:&quot;$$&quot;,&quot;aid&quot;:null,&quot;font&quot;:{&quot;color&quot;:&quot;#000000&quot;,&quot;size&quot;:13.5,&quot;family&quot;:&quot;Arial&quot;},&quot;ts&quot;:1676778025935,&quot;cs&quot;:&quot;6YeSD+djU2Up2bFGrualRQ==&quot;,&quot;size&quot;:{&quot;width&quot;:169.8346706036745,&quot;height&quot;:52.834615223097124}}" id="436" name="Google Shape;4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0775" y="828875"/>
            <a:ext cx="1617675" cy="5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50" y="1493557"/>
            <a:ext cx="2633250" cy="1755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14.5,&quot;family&quot;:&quot;Arial&quot;,&quot;color&quot;:&quot;#000000&quot;},&quot;id&quot;:&quot;17&quot;,&quot;aid&quot;:null,&quot;code&quot;:&quot;$$\\begin{matrix}\n{y_{1}^{\\prime}=-y_{2}\\,+b}\\\\\n{y_{2}^{\\prime}=y_{1}-a}\\\\\n\\end{matrix}$$&quot;,&quot;type&quot;:&quot;$$&quot;,&quot;backgroundColorModified&quot;:false,&quot;backgroundColor&quot;:&quot;#FFFFFF&quot;,&quot;ts&quot;:1676778379803,&quot;cs&quot;:&quot;MPmkzvUe0/yyTWgYg/FooA==&quot;,&quot;size&quot;:{&quot;width&quot;:131.50721259842524,&quot;height&quot;:56.125987401574825}}" id="438" name="Google Shape;43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0444" y="761663"/>
            <a:ext cx="1252606" cy="5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7212" y="1229075"/>
            <a:ext cx="2633239" cy="21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5"/>
          <p:cNvSpPr txBox="1"/>
          <p:nvPr/>
        </p:nvSpPr>
        <p:spPr>
          <a:xfrm>
            <a:off x="231400" y="828875"/>
            <a:ext cx="189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Spiral System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25"/>
          <p:cNvSpPr txBox="1"/>
          <p:nvPr/>
        </p:nvSpPr>
        <p:spPr>
          <a:xfrm>
            <a:off x="5242813" y="828875"/>
            <a:ext cx="189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Circle with center (a,b)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25"/>
          <p:cNvSpPr txBox="1"/>
          <p:nvPr/>
        </p:nvSpPr>
        <p:spPr>
          <a:xfrm>
            <a:off x="2453675" y="4486450"/>
            <a:ext cx="591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"/>
          <p:cNvSpPr txBox="1"/>
          <p:nvPr/>
        </p:nvSpPr>
        <p:spPr>
          <a:xfrm>
            <a:off x="148550" y="3149050"/>
            <a:ext cx="4161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Depth of Network layers: 2,50,2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Activation functions: Tanh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Train data: Trajectory  generated from Initial Conditions [0, 2]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Train data : 2000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Optimizer :RMSProp with lr = 1e(-3)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Epochs: 5000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Batch size: 24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Batch time: 10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Test data: Full trajectory</a:t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4" name="Google Shape;444;p25"/>
          <p:cNvSpPr txBox="1"/>
          <p:nvPr/>
        </p:nvSpPr>
        <p:spPr>
          <a:xfrm>
            <a:off x="4807200" y="3149050"/>
            <a:ext cx="4392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Depth of Network layers: 2,50,2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Activation functions: Tanh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Train data: Trajectory  generated from Initial Conditions [8,1]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Train data : 500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Optimizer :RMSProp with lr = 1e(-3)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Epochs: 400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Batch size: 10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Batch time: 8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Test data: Full trajectory</a:t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6"/>
          <p:cNvSpPr txBox="1"/>
          <p:nvPr/>
        </p:nvSpPr>
        <p:spPr>
          <a:xfrm>
            <a:off x="0" y="210075"/>
            <a:ext cx="9144000" cy="534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  <a:latin typeface="Oswald"/>
                <a:ea typeface="Oswald"/>
                <a:cs typeface="Oswald"/>
                <a:sym typeface="Oswald"/>
              </a:rPr>
              <a:t>Neural ODE Simulations</a:t>
            </a:r>
            <a:endParaRPr sz="2600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50" name="Google Shape;450;p26"/>
          <p:cNvSpPr/>
          <p:nvPr/>
        </p:nvSpPr>
        <p:spPr>
          <a:xfrm>
            <a:off x="0" y="95775"/>
            <a:ext cx="9144000" cy="1143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52" name="Google Shape;452;p26"/>
          <p:cNvSpPr/>
          <p:nvPr/>
        </p:nvSpPr>
        <p:spPr>
          <a:xfrm>
            <a:off x="0" y="4952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53" name="Google Shape;453;p26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454" name="Google Shape;4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625" y="897075"/>
            <a:ext cx="3903225" cy="39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6"/>
          <p:cNvSpPr txBox="1"/>
          <p:nvPr/>
        </p:nvSpPr>
        <p:spPr>
          <a:xfrm>
            <a:off x="556350" y="1144175"/>
            <a:ext cx="368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&quot;:&quot;#FFFFFF&quot;,&quot;code&quot;:&quot;$$\\begin{matrix}\n{\\dot{\\,\\,y_{1}} = y _{2\\,\\,\\,\\,\\,\\,\\,\\,\\,\\,\\,\\,\\,\\,\\,\\,\\,\\,\\,\\,\\,\\,\\,\\,\\,\\,\\,\\,\\,\\,\\,\\,\\,\\,\\,\\,\\,\\,}}\\\\\n{\\dot{y} _{2}= \\mu  (1- y_{1}^{2})y _{2}- y_{1}}\\\\\n\\end{matrix}\\\\\n$$&quot;,&quot;font&quot;:{&quot;size&quot;:12,&quot;family&quot;:&quot;Arial&quot;,&quot;color&quot;:&quot;#000000&quot;},&quot;aid&quot;:null,&quot;type&quot;:&quot;$$&quot;,&quot;id&quot;:&quot;19&quot;,&quot;ts&quot;:1676778776000,&quot;cs&quot;:&quot;5J+qXnHtyWgd9wyLrmZq7Q==&quot;,&quot;size&quot;:{&quot;width&quot;:172.16666666666666,&quot;height&quot;:45}}" id="456" name="Google Shape;45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650" y="2367075"/>
            <a:ext cx="1639888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frac{d^{2}y}{dt^{2}} - \\mu  (1- y^{2})\\frac{dy}{dt} + y= 0$$&quot;,&quot;aid&quot;:null,&quot;font&quot;:{&quot;size&quot;:12,&quot;color&quot;:&quot;#000000&quot;,&quot;family&quot;:&quot;Arial&quot;},&quot;type&quot;:&quot;$$&quot;,&quot;id&quot;:&quot;20&quot;,&quot;ts&quot;:1676778830610,&quot;cs&quot;:&quot;WhZUyQNE1ONP0hWSI08Z+Q==&quot;,&quot;size&quot;:{&quot;width&quot;:223.79999999999995,&quot;height&quot;:42.199999999999996}}" id="457" name="Google Shape;45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650" y="1808900"/>
            <a:ext cx="2131695" cy="40195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6"/>
          <p:cNvSpPr txBox="1"/>
          <p:nvPr/>
        </p:nvSpPr>
        <p:spPr>
          <a:xfrm>
            <a:off x="535350" y="1039200"/>
            <a:ext cx="31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Van der Pol Oscillator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26"/>
          <p:cNvSpPr txBox="1"/>
          <p:nvPr/>
        </p:nvSpPr>
        <p:spPr>
          <a:xfrm>
            <a:off x="535350" y="3144600"/>
            <a:ext cx="4392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Depth of Network layers: 2,50,2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Activation functions: Tanh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Train data: Trajectories generated from 10 random Initial Conditions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Train data : [10, 200]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Optimizer :RMSProp with lr = 1e(-3)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Epochs: 5000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Batch size: 24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Batch time: 10</a:t>
            </a:r>
            <a:endParaRPr sz="12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aramond"/>
                <a:ea typeface="Garamond"/>
                <a:cs typeface="Garamond"/>
                <a:sym typeface="Garamond"/>
              </a:rPr>
              <a:t>Test data: trajectory generated from random IC</a:t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"/>
          <p:cNvSpPr txBox="1"/>
          <p:nvPr/>
        </p:nvSpPr>
        <p:spPr>
          <a:xfrm>
            <a:off x="0" y="210075"/>
            <a:ext cx="9144000" cy="534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FF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0" y="95775"/>
            <a:ext cx="9144000" cy="1143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0" y="5067300"/>
            <a:ext cx="9144000" cy="57000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0" y="4952700"/>
            <a:ext cx="9144000" cy="171600"/>
          </a:xfrm>
          <a:prstGeom prst="rect">
            <a:avLst/>
          </a:prstGeom>
          <a:solidFill>
            <a:srgbClr val="054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8" name="Google Shape;468;p27"/>
          <p:cNvSpPr txBox="1"/>
          <p:nvPr/>
        </p:nvSpPr>
        <p:spPr>
          <a:xfrm>
            <a:off x="8624858" y="4349295"/>
            <a:ext cx="54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