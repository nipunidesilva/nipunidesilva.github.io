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embeddedFontLst>
    <p:embeddedFont>
      <p:font typeface="Roboto"/>
      <p:regular r:id="rId34"/>
      <p:bold r:id="rId35"/>
      <p:italic r:id="rId36"/>
      <p:boldItalic r:id="rId37"/>
    </p:embeddedFont>
    <p:embeddedFont>
      <p:font typeface="Oswald"/>
      <p:regular r:id="rId38"/>
      <p:bold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bold.fntdata"/><Relationship Id="rId12" Type="http://schemas.openxmlformats.org/officeDocument/2006/relationships/slide" Target="slides/slide7.xml"/><Relationship Id="rId34" Type="http://schemas.openxmlformats.org/officeDocument/2006/relationships/font" Target="fonts/Roboto-regular.fntdata"/><Relationship Id="rId15" Type="http://schemas.openxmlformats.org/officeDocument/2006/relationships/slide" Target="slides/slide10.xml"/><Relationship Id="rId37" Type="http://schemas.openxmlformats.org/officeDocument/2006/relationships/font" Target="fonts/Roboto-boldItalic.fntdata"/><Relationship Id="rId14" Type="http://schemas.openxmlformats.org/officeDocument/2006/relationships/slide" Target="slides/slide9.xml"/><Relationship Id="rId36" Type="http://schemas.openxmlformats.org/officeDocument/2006/relationships/font" Target="fonts/Roboto-italic.fntdata"/><Relationship Id="rId17" Type="http://schemas.openxmlformats.org/officeDocument/2006/relationships/slide" Target="slides/slide12.xml"/><Relationship Id="rId39" Type="http://schemas.openxmlformats.org/officeDocument/2006/relationships/font" Target="fonts/Oswald-bold.fntdata"/><Relationship Id="rId16" Type="http://schemas.openxmlformats.org/officeDocument/2006/relationships/slide" Target="slides/slide11.xml"/><Relationship Id="rId38" Type="http://schemas.openxmlformats.org/officeDocument/2006/relationships/font" Target="fonts/Oswald-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presentation is about :</a:t>
            </a:r>
            <a:endParaRPr/>
          </a:p>
          <a:p>
            <a:pPr indent="0" lvl="0" marL="0" rtl="0" algn="l">
              <a:spcBef>
                <a:spcPts val="0"/>
              </a:spcBef>
              <a:spcAft>
                <a:spcPts val="0"/>
              </a:spcAft>
              <a:buNone/>
            </a:pPr>
            <a:r>
              <a:rPr lang="en"/>
              <a:t>Data driven reduced order modeling using NN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cb499d3ee4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cb499d3ee4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6fa6b98581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16fa6b98581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16fa6b98581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16fa6b98581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Since the project is about the NN I will begin with little into about NN</a:t>
            </a:r>
            <a:endParaRPr/>
          </a:p>
          <a:p>
            <a:pPr indent="0" lvl="0" marL="0" rtl="0" algn="l">
              <a:spcBef>
                <a:spcPts val="0"/>
              </a:spcBef>
              <a:spcAft>
                <a:spcPts val="0"/>
              </a:spcAft>
              <a:buNone/>
            </a:pPr>
            <a:r>
              <a:rPr lang="en" sz="1400">
                <a:solidFill>
                  <a:schemeClr val="dk1"/>
                </a:solidFill>
                <a:latin typeface="Times New Roman"/>
                <a:ea typeface="Times New Roman"/>
                <a:cs typeface="Times New Roman"/>
                <a:sym typeface="Times New Roman"/>
              </a:rPr>
              <a:t>A neural network is </a:t>
            </a:r>
            <a:r>
              <a:rPr b="1" lang="en" sz="1400">
                <a:solidFill>
                  <a:schemeClr val="dk1"/>
                </a:solidFill>
                <a:latin typeface="Times New Roman"/>
                <a:ea typeface="Times New Roman"/>
                <a:cs typeface="Times New Roman"/>
                <a:sym typeface="Times New Roman"/>
              </a:rPr>
              <a:t>a method in artificial intelligence that teaches computers to process data in a way that is inspired by the human brain</a:t>
            </a:r>
            <a:r>
              <a:rPr lang="en" sz="1400">
                <a:solidFill>
                  <a:schemeClr val="dk1"/>
                </a:solidFill>
                <a:latin typeface="Times New Roman"/>
                <a:ea typeface="Times New Roman"/>
                <a:cs typeface="Times New Roman"/>
                <a:sym typeface="Times New Roman"/>
              </a:rPr>
              <a:t>. </a:t>
            </a:r>
            <a:endParaRPr sz="1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400">
                <a:solidFill>
                  <a:schemeClr val="dk1"/>
                </a:solidFill>
                <a:latin typeface="Times New Roman"/>
                <a:ea typeface="Times New Roman"/>
                <a:cs typeface="Times New Roman"/>
                <a:sym typeface="Times New Roman"/>
              </a:rPr>
              <a:t>It is a type of machine learning process that uses interconnected nodes or neurons in a layered structure that resembles the human brain.</a:t>
            </a:r>
            <a:endParaRPr sz="14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a:t>Basic structure of the nn contains:</a:t>
            </a:r>
            <a:endParaRPr/>
          </a:p>
          <a:p>
            <a:pPr indent="457200" lvl="0" marL="0" rtl="0" algn="l">
              <a:spcBef>
                <a:spcPts val="0"/>
              </a:spcBef>
              <a:spcAft>
                <a:spcPts val="0"/>
              </a:spcAft>
              <a:buNone/>
            </a:pPr>
            <a:r>
              <a:rPr lang="en">
                <a:solidFill>
                  <a:srgbClr val="313B3F"/>
                </a:solidFill>
                <a:highlight>
                  <a:schemeClr val="lt1"/>
                </a:highlight>
              </a:rPr>
              <a:t>Neurons,</a:t>
            </a:r>
            <a:endParaRPr>
              <a:solidFill>
                <a:srgbClr val="313B3F"/>
              </a:solidFill>
              <a:highlight>
                <a:schemeClr val="lt1"/>
              </a:highlight>
            </a:endParaRPr>
          </a:p>
          <a:p>
            <a:pPr indent="457200" lvl="0" marL="0" rtl="0" algn="l">
              <a:spcBef>
                <a:spcPts val="0"/>
              </a:spcBef>
              <a:spcAft>
                <a:spcPts val="0"/>
              </a:spcAft>
              <a:buNone/>
            </a:pPr>
            <a:r>
              <a:rPr lang="en">
                <a:solidFill>
                  <a:srgbClr val="313B3F"/>
                </a:solidFill>
                <a:highlight>
                  <a:schemeClr val="lt1"/>
                </a:highlight>
              </a:rPr>
              <a:t>Layers: input:where we feed data , output: where we get output , hidden,</a:t>
            </a:r>
            <a:endParaRPr>
              <a:solidFill>
                <a:srgbClr val="313B3F"/>
              </a:solidFill>
              <a:highlight>
                <a:schemeClr val="lt1"/>
              </a:highlight>
            </a:endParaRPr>
          </a:p>
          <a:p>
            <a:pPr indent="457200" lvl="0" marL="0" rtl="0" algn="l">
              <a:spcBef>
                <a:spcPts val="0"/>
              </a:spcBef>
              <a:spcAft>
                <a:spcPts val="0"/>
              </a:spcAft>
              <a:buNone/>
            </a:pPr>
            <a:r>
              <a:t/>
            </a:r>
            <a:endParaRPr>
              <a:solidFill>
                <a:srgbClr val="313B3F"/>
              </a:solidFill>
              <a:highlight>
                <a:schemeClr val="lt1"/>
              </a:highlight>
            </a:endParaRPr>
          </a:p>
          <a:p>
            <a:pPr indent="457200" lvl="0" marL="0" rtl="0" algn="l">
              <a:spcBef>
                <a:spcPts val="0"/>
              </a:spcBef>
              <a:spcAft>
                <a:spcPts val="0"/>
              </a:spcAft>
              <a:buNone/>
            </a:pPr>
            <a:r>
              <a:rPr lang="en">
                <a:solidFill>
                  <a:srgbClr val="313B3F"/>
                </a:solidFill>
                <a:highlight>
                  <a:schemeClr val="lt1"/>
                </a:highlight>
              </a:rPr>
              <a:t>A  s are Mapping from one layer to another: A can be represent from a matrix</a:t>
            </a:r>
            <a:endParaRPr>
              <a:solidFill>
                <a:srgbClr val="313B3F"/>
              </a:solidFill>
              <a:highlight>
                <a:schemeClr val="lt1"/>
              </a:highlight>
            </a:endParaRPr>
          </a:p>
          <a:p>
            <a:pPr indent="457200" lvl="0" marL="0" rtl="0" algn="l">
              <a:spcBef>
                <a:spcPts val="0"/>
              </a:spcBef>
              <a:spcAft>
                <a:spcPts val="0"/>
              </a:spcAft>
              <a:buNone/>
            </a:pPr>
            <a:r>
              <a:rPr lang="en">
                <a:solidFill>
                  <a:srgbClr val="313B3F"/>
                </a:solidFill>
                <a:highlight>
                  <a:schemeClr val="lt1"/>
                </a:highlight>
              </a:rPr>
              <a:t>elements in the mapping are called the weights</a:t>
            </a:r>
            <a:endParaRPr>
              <a:solidFill>
                <a:srgbClr val="313B3F"/>
              </a:solidFill>
              <a:highlight>
                <a:schemeClr val="lt1"/>
              </a:highlight>
            </a:endParaRPr>
          </a:p>
          <a:p>
            <a:pPr indent="457200" lvl="0" marL="0" rtl="0" algn="l">
              <a:spcBef>
                <a:spcPts val="0"/>
              </a:spcBef>
              <a:spcAft>
                <a:spcPts val="0"/>
              </a:spcAft>
              <a:buNone/>
            </a:pPr>
            <a:r>
              <a:t/>
            </a:r>
            <a:endParaRPr>
              <a:solidFill>
                <a:srgbClr val="313B3F"/>
              </a:solidFill>
              <a:highlight>
                <a:schemeClr val="lt1"/>
              </a:highlight>
            </a:endParaRPr>
          </a:p>
          <a:p>
            <a:pPr indent="0" lvl="0" marL="0" rtl="0" algn="l">
              <a:spcBef>
                <a:spcPts val="0"/>
              </a:spcBef>
              <a:spcAft>
                <a:spcPts val="0"/>
              </a:spcAft>
              <a:buNone/>
            </a:pPr>
            <a:r>
              <a:rPr lang="en">
                <a:solidFill>
                  <a:schemeClr val="dk1"/>
                </a:solidFill>
              </a:rPr>
              <a:t>M</a:t>
            </a:r>
            <a:r>
              <a:rPr lang="en">
                <a:solidFill>
                  <a:schemeClr val="dk1"/>
                </a:solidFill>
              </a:rPr>
              <a:t>odeling </a:t>
            </a:r>
            <a:r>
              <a:rPr lang="en"/>
              <a:t>Neural network means </a:t>
            </a:r>
            <a:r>
              <a:rPr lang="en">
                <a:solidFill>
                  <a:srgbClr val="313B3F"/>
                </a:solidFill>
                <a:highlight>
                  <a:srgbClr val="FFFFFF"/>
                </a:highlight>
              </a:rPr>
              <a:t>finding the proper weights to connect neurons together </a:t>
            </a:r>
            <a:r>
              <a:rPr lang="en">
                <a:solidFill>
                  <a:schemeClr val="dk1"/>
                </a:solidFill>
              </a:rPr>
              <a:t> to give the desired output for the given input</a:t>
            </a:r>
            <a:endParaRPr>
              <a:solidFill>
                <a:schemeClr val="dk1"/>
              </a:solidFill>
            </a:endParaRPr>
          </a:p>
          <a:p>
            <a:pPr indent="0" lvl="0" marL="0" rtl="0" algn="l">
              <a:spcBef>
                <a:spcPts val="0"/>
              </a:spcBef>
              <a:spcAft>
                <a:spcPts val="0"/>
              </a:spcAft>
              <a:buNone/>
            </a:pPr>
            <a:r>
              <a:t/>
            </a:r>
            <a:endParaRPr>
              <a:solidFill>
                <a:srgbClr val="313B3F"/>
              </a:solidFill>
              <a:highlight>
                <a:srgbClr val="FFFFFF"/>
              </a:highlight>
            </a:endParaRPr>
          </a:p>
          <a:p>
            <a:pPr indent="0" lvl="0" marL="0" rtl="0" algn="l">
              <a:spcBef>
                <a:spcPts val="0"/>
              </a:spcBef>
              <a:spcAft>
                <a:spcPts val="0"/>
              </a:spcAft>
              <a:buNone/>
            </a:pPr>
            <a:r>
              <a:t/>
            </a:r>
            <a:endParaRPr>
              <a:solidFill>
                <a:srgbClr val="313B3F"/>
              </a:solidFill>
              <a:highlight>
                <a:srgbClr val="FFFFFF"/>
              </a:highlight>
            </a:endParaRPr>
          </a:p>
          <a:p>
            <a:pPr indent="0" lvl="0" marL="0" rtl="0" algn="l">
              <a:spcBef>
                <a:spcPts val="0"/>
              </a:spcBef>
              <a:spcAft>
                <a:spcPts val="0"/>
              </a:spcAft>
              <a:buNone/>
            </a:pPr>
            <a:r>
              <a:rPr lang="en">
                <a:solidFill>
                  <a:srgbClr val="313B3F"/>
                </a:solidFill>
                <a:highlight>
                  <a:srgbClr val="FFFFFF"/>
                </a:highlight>
              </a:rPr>
              <a:t>Let’s </a:t>
            </a:r>
            <a:r>
              <a:rPr lang="en">
                <a:solidFill>
                  <a:srgbClr val="313B3F"/>
                </a:solidFill>
                <a:highlight>
                  <a:srgbClr val="FFFFFF"/>
                </a:highlight>
              </a:rPr>
              <a:t>talk about</a:t>
            </a:r>
            <a:r>
              <a:rPr lang="en">
                <a:solidFill>
                  <a:srgbClr val="313B3F"/>
                </a:solidFill>
                <a:highlight>
                  <a:srgbClr val="FFFFFF"/>
                </a:highlight>
              </a:rPr>
              <a:t> how a neural network work using an example</a:t>
            </a:r>
            <a:endParaRPr>
              <a:solidFill>
                <a:srgbClr val="313B3F"/>
              </a:solidFill>
              <a:highlight>
                <a:srgbClr val="FFFFFF"/>
              </a:highlight>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6fa6b98581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6fa6b98581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 simplest NN with 3 layers : input, i hidden layer and output layer containing </a:t>
            </a:r>
            <a:r>
              <a:rPr lang="en"/>
              <a:t>single</a:t>
            </a:r>
            <a:r>
              <a:rPr lang="en"/>
              <a:t> neuron in each layer. So mapping is also have a single weight.</a:t>
            </a:r>
            <a:endParaRPr/>
          </a:p>
          <a:p>
            <a:pPr indent="0" lvl="0" marL="0" rtl="0" algn="l">
              <a:spcBef>
                <a:spcPts val="0"/>
              </a:spcBef>
              <a:spcAft>
                <a:spcPts val="0"/>
              </a:spcAft>
              <a:buNone/>
            </a:pPr>
            <a:r>
              <a:rPr lang="en"/>
              <a:t>Let me show you what happen inside of </a:t>
            </a:r>
            <a:r>
              <a:rPr lang="en"/>
              <a:t>the</a:t>
            </a:r>
            <a:r>
              <a:rPr lang="en"/>
              <a:t> simple NN</a:t>
            </a:r>
            <a:endParaRPr/>
          </a:p>
          <a:p>
            <a:pPr indent="0" lvl="0" marL="0" rtl="0" algn="l">
              <a:spcBef>
                <a:spcPts val="0"/>
              </a:spcBef>
              <a:spcAft>
                <a:spcPts val="0"/>
              </a:spcAft>
              <a:buNone/>
            </a:pPr>
            <a:r>
              <a:t/>
            </a:r>
            <a:endParaRPr/>
          </a:p>
          <a:p>
            <a:pPr indent="0" lvl="0" marL="0" rtl="0" algn="l">
              <a:spcBef>
                <a:spcPts val="0"/>
              </a:spcBef>
              <a:spcAft>
                <a:spcPts val="0"/>
              </a:spcAft>
              <a:buNone/>
            </a:pPr>
            <a:r>
              <a:rPr lang="en" sz="1500">
                <a:solidFill>
                  <a:srgbClr val="313B3F"/>
                </a:solidFill>
                <a:highlight>
                  <a:srgbClr val="FFFFFF"/>
                </a:highlight>
                <a:latin typeface="Georgia"/>
                <a:ea typeface="Georgia"/>
                <a:cs typeface="Georgia"/>
                <a:sym typeface="Georgia"/>
              </a:rPr>
              <a:t>I've expanded each neuron to show 1) the linear combination of inputs and weights and 2) the activation of this linear combination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sz="1500">
                <a:solidFill>
                  <a:srgbClr val="313B3F"/>
                </a:solidFill>
                <a:highlight>
                  <a:srgbClr val="FFFFFF"/>
                </a:highlight>
                <a:latin typeface="Georgia"/>
                <a:ea typeface="Georgia"/>
                <a:cs typeface="Georgia"/>
                <a:sym typeface="Georgia"/>
              </a:rPr>
              <a:t>This is simply a series of functions where the output of one feeds as the input to the next.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function g is called an activation function and it can make a NN linear or nonlinear.</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Training NN modeling means training these weights so that it gives desired output using data.</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719f976ea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719f976ea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target is </a:t>
            </a:r>
            <a:r>
              <a:rPr lang="en"/>
              <a:t>Identify</a:t>
            </a:r>
            <a:r>
              <a:rPr lang="en"/>
              <a:t> the given data is a cat or dog. </a:t>
            </a:r>
            <a:endParaRPr/>
          </a:p>
          <a:p>
            <a:pPr indent="0" lvl="0" marL="0" rtl="0" algn="l">
              <a:spcBef>
                <a:spcPts val="0"/>
              </a:spcBef>
              <a:spcAft>
                <a:spcPts val="0"/>
              </a:spcAft>
              <a:buNone/>
            </a:pPr>
            <a:r>
              <a:rPr lang="en"/>
              <a:t>Let’s say data is 2D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eq </a:t>
            </a:r>
            <a:r>
              <a:rPr lang="en"/>
              <a:t>represent</a:t>
            </a:r>
            <a:r>
              <a:rPr lang="en"/>
              <a:t>  a 2D line</a:t>
            </a:r>
            <a:endParaRPr/>
          </a:p>
          <a:p>
            <a:pPr indent="0" lvl="0" marL="0" rtl="0" algn="l">
              <a:spcBef>
                <a:spcPts val="0"/>
              </a:spcBef>
              <a:spcAft>
                <a:spcPts val="0"/>
              </a:spcAft>
              <a:buNone/>
            </a:pPr>
            <a:r>
              <a:rPr lang="en"/>
              <a:t>X1,x2 :describe given data that i need to classify as 0 or 1.</a:t>
            </a:r>
            <a:endParaRPr/>
          </a:p>
          <a:p>
            <a:pPr indent="0" lvl="0" marL="0" rtl="0" algn="l">
              <a:spcBef>
                <a:spcPts val="0"/>
              </a:spcBef>
              <a:spcAft>
                <a:spcPts val="0"/>
              </a:spcAft>
              <a:buNone/>
            </a:pPr>
            <a:r>
              <a:rPr lang="en"/>
              <a:t>if we know these </a:t>
            </a:r>
            <a:r>
              <a:rPr lang="en">
                <a:solidFill>
                  <a:schemeClr val="dk1"/>
                </a:solidFill>
              </a:rPr>
              <a:t>W1,w2,b so that  it decide the classification of the data</a:t>
            </a:r>
            <a:r>
              <a:rPr lang="en"/>
              <a:t> like</a:t>
            </a:r>
            <a:endParaRPr/>
          </a:p>
          <a:p>
            <a:pPr indent="0" lvl="0" marL="0" rtl="0" algn="l">
              <a:spcBef>
                <a:spcPts val="0"/>
              </a:spcBef>
              <a:spcAft>
                <a:spcPts val="0"/>
              </a:spcAft>
              <a:buNone/>
            </a:pPr>
            <a:r>
              <a:rPr lang="en"/>
              <a:t>Upper part from the line belong to one category and part below the line belongs to other category</a:t>
            </a:r>
            <a:endParaRPr/>
          </a:p>
          <a:p>
            <a:pPr indent="0" lvl="0" marL="0" rtl="0" algn="l">
              <a:spcBef>
                <a:spcPts val="0"/>
              </a:spcBef>
              <a:spcAft>
                <a:spcPts val="0"/>
              </a:spcAft>
              <a:buNone/>
            </a:pPr>
            <a:r>
              <a:rPr lang="en"/>
              <a:t>Suppose + for dogs , - for cats.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values A for given input x which can be + or -.</a:t>
            </a:r>
            <a:endParaRPr/>
          </a:p>
          <a:p>
            <a:pPr indent="0" lvl="0" marL="0" rtl="0" algn="l">
              <a:spcBef>
                <a:spcPts val="0"/>
              </a:spcBef>
              <a:spcAft>
                <a:spcPts val="0"/>
              </a:spcAft>
              <a:buNone/>
            </a:pPr>
            <a:r>
              <a:rPr lang="en"/>
              <a:t>For classification what we do is we turn  + outputs  to  1 and - outputs to  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the same way we do classification using a simple NN</a:t>
            </a:r>
            <a:endParaRPr/>
          </a:p>
          <a:p>
            <a:pPr indent="0" lvl="0" marL="0" rtl="0" algn="l">
              <a:spcBef>
                <a:spcPts val="0"/>
              </a:spcBef>
              <a:spcAft>
                <a:spcPts val="0"/>
              </a:spcAft>
              <a:buNone/>
            </a:pPr>
            <a:r>
              <a:rPr lang="en"/>
              <a:t> This is the simple NN type with two layers one: input layer 2D, and other: output layer 1D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Main use of nn is classification and regression. This is a simple application of nn that use for classification.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7692202c41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7692202c41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Main use of nn is classification and regression. This is a simple application of nn that use for classification.</a:t>
            </a:r>
            <a:endParaRPr/>
          </a:p>
          <a:p>
            <a:pPr indent="0" lvl="0" marL="0" rtl="0" algn="l">
              <a:spcBef>
                <a:spcPts val="0"/>
              </a:spcBef>
              <a:spcAft>
                <a:spcPts val="0"/>
              </a:spcAft>
              <a:buNone/>
            </a:pPr>
            <a:r>
              <a:rPr lang="en"/>
              <a:t>Here target is Identify the given data is a cat or dog. </a:t>
            </a:r>
            <a:endParaRPr/>
          </a:p>
          <a:p>
            <a:pPr indent="0" lvl="0" marL="0" rtl="0" algn="l">
              <a:spcBef>
                <a:spcPts val="0"/>
              </a:spcBef>
              <a:spcAft>
                <a:spcPts val="0"/>
              </a:spcAft>
              <a:buNone/>
            </a:pPr>
            <a:r>
              <a:rPr lang="en"/>
              <a:t>Lets sat data is 2D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eq represent  a 2D line</a:t>
            </a:r>
            <a:endParaRPr/>
          </a:p>
          <a:p>
            <a:pPr indent="0" lvl="0" marL="0" rtl="0" algn="l">
              <a:spcBef>
                <a:spcPts val="0"/>
              </a:spcBef>
              <a:spcAft>
                <a:spcPts val="0"/>
              </a:spcAft>
              <a:buNone/>
            </a:pPr>
            <a:r>
              <a:rPr lang="en"/>
              <a:t>X1,x2 : elements of a data point gives to the input.</a:t>
            </a:r>
            <a:endParaRPr/>
          </a:p>
          <a:p>
            <a:pPr indent="0" lvl="0" marL="0" rtl="0" algn="l">
              <a:spcBef>
                <a:spcPts val="0"/>
              </a:spcBef>
              <a:spcAft>
                <a:spcPts val="0"/>
              </a:spcAft>
              <a:buNone/>
            </a:pPr>
            <a:r>
              <a:rPr lang="en"/>
              <a:t>W1,w2,b :weights that mapped input data to next layers , in this case next layers is 1D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1st part of NN modeling is training these weights so that it gives this perfect line which categorize the data perfectly.</a:t>
            </a:r>
            <a:endParaRPr/>
          </a:p>
          <a:p>
            <a:pPr indent="0" lvl="0" marL="0" rtl="0" algn="l">
              <a:spcBef>
                <a:spcPts val="0"/>
              </a:spcBef>
              <a:spcAft>
                <a:spcPts val="0"/>
              </a:spcAft>
              <a:buNone/>
            </a:pPr>
            <a:r>
              <a:rPr lang="en"/>
              <a:t>Upper part from the line belong to one category and part below the line belongs to other category</a:t>
            </a:r>
            <a:endParaRPr/>
          </a:p>
          <a:p>
            <a:pPr indent="0" lvl="0" marL="0" rtl="0" algn="l">
              <a:spcBef>
                <a:spcPts val="0"/>
              </a:spcBef>
              <a:spcAft>
                <a:spcPts val="0"/>
              </a:spcAft>
              <a:buNone/>
            </a:pPr>
            <a:r>
              <a:rPr lang="en"/>
              <a:t>Suppose + for dogs , - for cats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2nd part: to see  how NN categorize the  new data once we know the decision rule/trained the NN:</a:t>
            </a:r>
            <a:endParaRPr/>
          </a:p>
          <a:p>
            <a:pPr indent="0" lvl="0" marL="0" rtl="0" algn="l">
              <a:spcBef>
                <a:spcPts val="0"/>
              </a:spcBef>
              <a:spcAft>
                <a:spcPts val="0"/>
              </a:spcAft>
              <a:buNone/>
            </a:pPr>
            <a:r>
              <a:rPr lang="en"/>
              <a:t>This is what we try to see here.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Once Input data point is given , output a give a value, this is the linear output, to categorize data , we make + values 1 and - outputs 0</a:t>
            </a:r>
            <a:endParaRPr/>
          </a:p>
          <a:p>
            <a:pPr indent="0" lvl="0" marL="0" rtl="0" algn="l">
              <a:spcBef>
                <a:spcPts val="0"/>
              </a:spcBef>
              <a:spcAft>
                <a:spcPts val="0"/>
              </a:spcAft>
              <a:buNone/>
            </a:pPr>
            <a:r>
              <a:rPr lang="en"/>
              <a:t>This convergence example for activation of NN: </a:t>
            </a:r>
            <a:r>
              <a:rPr lang="en">
                <a:solidFill>
                  <a:schemeClr val="dk1"/>
                </a:solidFill>
              </a:rPr>
              <a:t> this specific activation called ReLU</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 This is the simple NN type with two layers one: input layer 2D, and other: output layer 1D</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16fa6b9858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16fa6b9858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313B3F"/>
                </a:solidFill>
                <a:highlight>
                  <a:srgbClr val="FFFFFF"/>
                </a:highlight>
                <a:latin typeface="Georgia"/>
                <a:ea typeface="Georgia"/>
                <a:cs typeface="Georgia"/>
                <a:sym typeface="Georgia"/>
              </a:rPr>
              <a:t>How to train a NN.</a:t>
            </a:r>
            <a:endParaRPr sz="1500">
              <a:solidFill>
                <a:srgbClr val="313B3F"/>
              </a:solidFill>
              <a:highlight>
                <a:srgbClr val="FFFFFF"/>
              </a:highlight>
              <a:latin typeface="Georgia"/>
              <a:ea typeface="Georgia"/>
              <a:cs typeface="Georgia"/>
              <a:sym typeface="Georgia"/>
            </a:endParaRPr>
          </a:p>
          <a:p>
            <a:pPr indent="0" lvl="0" marL="0" rtl="0" algn="l">
              <a:spcBef>
                <a:spcPts val="0"/>
              </a:spcBef>
              <a:spcAft>
                <a:spcPts val="0"/>
              </a:spcAft>
              <a:buNone/>
            </a:pPr>
            <a:r>
              <a:rPr lang="en" sz="1500">
                <a:solidFill>
                  <a:srgbClr val="313B3F"/>
                </a:solidFill>
                <a:highlight>
                  <a:srgbClr val="FFFFFF"/>
                </a:highlight>
                <a:latin typeface="Georgia"/>
                <a:ea typeface="Georgia"/>
                <a:cs typeface="Georgia"/>
                <a:sym typeface="Georgia"/>
              </a:rPr>
              <a:t>Data: Train, validate, test</a:t>
            </a:r>
            <a:endParaRPr sz="1500">
              <a:solidFill>
                <a:srgbClr val="313B3F"/>
              </a:solidFill>
              <a:highlight>
                <a:srgbClr val="FFFFFF"/>
              </a:highlight>
              <a:latin typeface="Georgia"/>
              <a:ea typeface="Georgia"/>
              <a:cs typeface="Georgia"/>
              <a:sym typeface="Georgia"/>
            </a:endParaRPr>
          </a:p>
          <a:p>
            <a:pPr indent="0" lvl="0" marL="0" rtl="0" algn="l">
              <a:spcBef>
                <a:spcPts val="0"/>
              </a:spcBef>
              <a:spcAft>
                <a:spcPts val="0"/>
              </a:spcAft>
              <a:buNone/>
            </a:pPr>
            <a:r>
              <a:rPr lang="en" sz="1500">
                <a:solidFill>
                  <a:srgbClr val="313B3F"/>
                </a:solidFill>
                <a:highlight>
                  <a:srgbClr val="FFFFFF"/>
                </a:highlight>
                <a:latin typeface="Georgia"/>
                <a:ea typeface="Georgia"/>
                <a:cs typeface="Georgia"/>
                <a:sym typeface="Georgia"/>
              </a:rPr>
              <a:t>Assign random weights to each layers.</a:t>
            </a:r>
            <a:endParaRPr sz="1500">
              <a:solidFill>
                <a:srgbClr val="313B3F"/>
              </a:solidFill>
              <a:highlight>
                <a:srgbClr val="FFFFFF"/>
              </a:highlight>
              <a:latin typeface="Georgia"/>
              <a:ea typeface="Georgia"/>
              <a:cs typeface="Georgia"/>
              <a:sym typeface="Georgia"/>
            </a:endParaRPr>
          </a:p>
          <a:p>
            <a:pPr indent="0" lvl="0" marL="0" rtl="0" algn="l">
              <a:spcBef>
                <a:spcPts val="0"/>
              </a:spcBef>
              <a:spcAft>
                <a:spcPts val="0"/>
              </a:spcAft>
              <a:buNone/>
            </a:pPr>
            <a:r>
              <a:rPr lang="en" sz="1500">
                <a:solidFill>
                  <a:srgbClr val="313B3F"/>
                </a:solidFill>
                <a:highlight>
                  <a:srgbClr val="FFFFFF"/>
                </a:highlight>
                <a:latin typeface="Georgia"/>
                <a:ea typeface="Georgia"/>
                <a:cs typeface="Georgia"/>
                <a:sym typeface="Georgia"/>
              </a:rPr>
              <a:t>Loss function calculates how far is the nn output from the true target as a value:</a:t>
            </a:r>
            <a:endParaRPr sz="1500">
              <a:solidFill>
                <a:srgbClr val="313B3F"/>
              </a:solidFill>
              <a:highlight>
                <a:srgbClr val="FFFFFF"/>
              </a:highlight>
              <a:latin typeface="Georgia"/>
              <a:ea typeface="Georgia"/>
              <a:cs typeface="Georgia"/>
              <a:sym typeface="Georgia"/>
            </a:endParaRPr>
          </a:p>
          <a:p>
            <a:pPr indent="0" lvl="0" marL="0" rtl="0" algn="l">
              <a:spcBef>
                <a:spcPts val="0"/>
              </a:spcBef>
              <a:spcAft>
                <a:spcPts val="0"/>
              </a:spcAft>
              <a:buNone/>
            </a:pPr>
            <a:r>
              <a:rPr lang="en" sz="1500">
                <a:solidFill>
                  <a:srgbClr val="313B3F"/>
                </a:solidFill>
                <a:highlight>
                  <a:srgbClr val="FFFFFF"/>
                </a:highlight>
                <a:latin typeface="Georgia"/>
                <a:ea typeface="Georgia"/>
                <a:cs typeface="Georgia"/>
                <a:sym typeface="Georgia"/>
              </a:rPr>
              <a:t>Optimize how to minimize this loss score by changing weights </a:t>
            </a:r>
            <a:r>
              <a:rPr lang="en" sz="1500">
                <a:solidFill>
                  <a:srgbClr val="313B3F"/>
                </a:solidFill>
                <a:highlight>
                  <a:srgbClr val="FFFFFF"/>
                </a:highlight>
                <a:latin typeface="Georgia"/>
                <a:ea typeface="Georgia"/>
                <a:cs typeface="Georgia"/>
                <a:sym typeface="Georgia"/>
              </a:rPr>
              <a:t>using</a:t>
            </a:r>
            <a:r>
              <a:rPr lang="en" sz="1500">
                <a:solidFill>
                  <a:srgbClr val="313B3F"/>
                </a:solidFill>
                <a:highlight>
                  <a:srgbClr val="FFFFFF"/>
                </a:highlight>
                <a:latin typeface="Georgia"/>
                <a:ea typeface="Georgia"/>
                <a:cs typeface="Georgia"/>
                <a:sym typeface="Georgia"/>
              </a:rPr>
              <a:t> method called </a:t>
            </a:r>
            <a:r>
              <a:rPr lang="en" sz="1500">
                <a:solidFill>
                  <a:srgbClr val="313B3F"/>
                </a:solidFill>
                <a:highlight>
                  <a:srgbClr val="FFFFFF"/>
                </a:highlight>
                <a:latin typeface="Georgia"/>
                <a:ea typeface="Georgia"/>
                <a:cs typeface="Georgia"/>
                <a:sym typeface="Georgia"/>
              </a:rPr>
              <a:t>backpropagation</a:t>
            </a:r>
            <a:r>
              <a:rPr lang="en" sz="1500">
                <a:solidFill>
                  <a:srgbClr val="313B3F"/>
                </a:solidFill>
                <a:highlight>
                  <a:srgbClr val="FFFFFF"/>
                </a:highlight>
                <a:latin typeface="Georgia"/>
                <a:ea typeface="Georgia"/>
                <a:cs typeface="Georgia"/>
                <a:sym typeface="Georgia"/>
              </a:rPr>
              <a:t>. </a:t>
            </a:r>
            <a:r>
              <a:rPr lang="en" sz="1500">
                <a:solidFill>
                  <a:srgbClr val="313B3F"/>
                </a:solidFill>
                <a:highlight>
                  <a:schemeClr val="lt1"/>
                </a:highlight>
                <a:latin typeface="Georgia"/>
                <a:ea typeface="Georgia"/>
                <a:cs typeface="Georgia"/>
                <a:sym typeface="Georgia"/>
              </a:rPr>
              <a:t>we send the error backwards to update the weights this is a small adjustment compared to earlier values.</a:t>
            </a:r>
            <a:endParaRPr sz="1500">
              <a:solidFill>
                <a:srgbClr val="313B3F"/>
              </a:solidFill>
              <a:highlight>
                <a:schemeClr val="lt1"/>
              </a:highlight>
              <a:latin typeface="Georgia"/>
              <a:ea typeface="Georgia"/>
              <a:cs typeface="Georgia"/>
              <a:sym typeface="Georgia"/>
            </a:endParaRPr>
          </a:p>
          <a:p>
            <a:pPr indent="0" lvl="0" marL="0" rtl="0" algn="l">
              <a:spcBef>
                <a:spcPts val="0"/>
              </a:spcBef>
              <a:spcAft>
                <a:spcPts val="0"/>
              </a:spcAft>
              <a:buNone/>
            </a:pPr>
            <a:r>
              <a:t/>
            </a:r>
            <a:endParaRPr sz="1500">
              <a:solidFill>
                <a:srgbClr val="313B3F"/>
              </a:solidFill>
              <a:highlight>
                <a:schemeClr val="lt1"/>
              </a:highlight>
              <a:latin typeface="Georgia"/>
              <a:ea typeface="Georgia"/>
              <a:cs typeface="Georgia"/>
              <a:sym typeface="Georgia"/>
            </a:endParaRPr>
          </a:p>
          <a:p>
            <a:pPr indent="0" lvl="0" marL="0" rtl="0" algn="l">
              <a:spcBef>
                <a:spcPts val="0"/>
              </a:spcBef>
              <a:spcAft>
                <a:spcPts val="0"/>
              </a:spcAft>
              <a:buNone/>
            </a:pPr>
            <a:r>
              <a:rPr lang="en" sz="1500">
                <a:solidFill>
                  <a:srgbClr val="313B3F"/>
                </a:solidFill>
                <a:highlight>
                  <a:schemeClr val="lt1"/>
                </a:highlight>
                <a:latin typeface="Georgia"/>
                <a:ea typeface="Georgia"/>
                <a:cs typeface="Georgia"/>
                <a:sym typeface="Georgia"/>
              </a:rPr>
              <a:t>We go over this loop over and over again until we get correct accuracy : minimum loss we can obtain.</a:t>
            </a:r>
            <a:endParaRPr sz="1500">
              <a:solidFill>
                <a:srgbClr val="313B3F"/>
              </a:solidFill>
              <a:highlight>
                <a:schemeClr val="lt1"/>
              </a:highlight>
              <a:latin typeface="Georgia"/>
              <a:ea typeface="Georgia"/>
              <a:cs typeface="Georgia"/>
              <a:sym typeface="Georgia"/>
            </a:endParaRPr>
          </a:p>
          <a:p>
            <a:pPr indent="0" lvl="0" marL="0" rtl="0" algn="l">
              <a:spcBef>
                <a:spcPts val="0"/>
              </a:spcBef>
              <a:spcAft>
                <a:spcPts val="0"/>
              </a:spcAft>
              <a:buNone/>
            </a:pPr>
            <a:r>
              <a:t/>
            </a:r>
            <a:endParaRPr sz="1500">
              <a:solidFill>
                <a:srgbClr val="313B3F"/>
              </a:solidFill>
              <a:highlight>
                <a:srgbClr val="FFFFFF"/>
              </a:highlight>
              <a:latin typeface="Georgia"/>
              <a:ea typeface="Georgia"/>
              <a:cs typeface="Georgia"/>
              <a:sym typeface="Georgia"/>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17657c1d6e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17657c1d6e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313B3F"/>
                </a:solidFill>
                <a:highlight>
                  <a:srgbClr val="FFFFFF"/>
                </a:highlight>
                <a:latin typeface="Georgia"/>
                <a:ea typeface="Georgia"/>
                <a:cs typeface="Georgia"/>
                <a:sym typeface="Georgia"/>
              </a:rPr>
              <a:t>How to train a NN.</a:t>
            </a:r>
            <a:endParaRPr sz="1500">
              <a:solidFill>
                <a:srgbClr val="313B3F"/>
              </a:solidFill>
              <a:highlight>
                <a:srgbClr val="FFFFFF"/>
              </a:highlight>
              <a:latin typeface="Georgia"/>
              <a:ea typeface="Georgia"/>
              <a:cs typeface="Georgia"/>
              <a:sym typeface="Georgia"/>
            </a:endParaRPr>
          </a:p>
          <a:p>
            <a:pPr indent="0" lvl="0" marL="0" rtl="0" algn="l">
              <a:spcBef>
                <a:spcPts val="0"/>
              </a:spcBef>
              <a:spcAft>
                <a:spcPts val="0"/>
              </a:spcAft>
              <a:buNone/>
            </a:pPr>
            <a:r>
              <a:rPr lang="en" sz="1500">
                <a:solidFill>
                  <a:srgbClr val="313B3F"/>
                </a:solidFill>
                <a:highlight>
                  <a:srgbClr val="FFFFFF"/>
                </a:highlight>
                <a:latin typeface="Georgia"/>
                <a:ea typeface="Georgia"/>
                <a:cs typeface="Georgia"/>
                <a:sym typeface="Georgia"/>
              </a:rPr>
              <a:t>Assign random weights to each layers.</a:t>
            </a:r>
            <a:endParaRPr sz="1500">
              <a:solidFill>
                <a:srgbClr val="313B3F"/>
              </a:solidFill>
              <a:highlight>
                <a:srgbClr val="FFFFFF"/>
              </a:highlight>
              <a:latin typeface="Georgia"/>
              <a:ea typeface="Georgia"/>
              <a:cs typeface="Georgia"/>
              <a:sym typeface="Georgia"/>
            </a:endParaRPr>
          </a:p>
          <a:p>
            <a:pPr indent="0" lvl="0" marL="0" rtl="0" algn="l">
              <a:spcBef>
                <a:spcPts val="0"/>
              </a:spcBef>
              <a:spcAft>
                <a:spcPts val="0"/>
              </a:spcAft>
              <a:buNone/>
            </a:pPr>
            <a:r>
              <a:rPr lang="en" sz="1500">
                <a:solidFill>
                  <a:srgbClr val="313B3F"/>
                </a:solidFill>
                <a:highlight>
                  <a:srgbClr val="FFFFFF"/>
                </a:highlight>
                <a:latin typeface="Georgia"/>
                <a:ea typeface="Georgia"/>
                <a:cs typeface="Georgia"/>
                <a:sym typeface="Georgia"/>
              </a:rPr>
              <a:t>Loss function calculates how far is the nn output from the true target as a value:</a:t>
            </a:r>
            <a:endParaRPr sz="1500">
              <a:solidFill>
                <a:srgbClr val="313B3F"/>
              </a:solidFill>
              <a:highlight>
                <a:srgbClr val="FFFFFF"/>
              </a:highlight>
              <a:latin typeface="Georgia"/>
              <a:ea typeface="Georgia"/>
              <a:cs typeface="Georgia"/>
              <a:sym typeface="Georgia"/>
            </a:endParaRPr>
          </a:p>
          <a:p>
            <a:pPr indent="0" lvl="0" marL="0" rtl="0" algn="l">
              <a:spcBef>
                <a:spcPts val="0"/>
              </a:spcBef>
              <a:spcAft>
                <a:spcPts val="0"/>
              </a:spcAft>
              <a:buNone/>
            </a:pPr>
            <a:r>
              <a:rPr lang="en" sz="1500">
                <a:solidFill>
                  <a:srgbClr val="313B3F"/>
                </a:solidFill>
                <a:highlight>
                  <a:srgbClr val="FFFFFF"/>
                </a:highlight>
                <a:latin typeface="Georgia"/>
                <a:ea typeface="Georgia"/>
                <a:cs typeface="Georgia"/>
                <a:sym typeface="Georgia"/>
              </a:rPr>
              <a:t>Optimize how to minimize this loss score by changing weights using method called backpropagation. </a:t>
            </a:r>
            <a:r>
              <a:rPr lang="en" sz="1500">
                <a:solidFill>
                  <a:srgbClr val="313B3F"/>
                </a:solidFill>
                <a:highlight>
                  <a:schemeClr val="lt1"/>
                </a:highlight>
                <a:latin typeface="Georgia"/>
                <a:ea typeface="Georgia"/>
                <a:cs typeface="Georgia"/>
                <a:sym typeface="Georgia"/>
              </a:rPr>
              <a:t>we send the error backwards to update the weights this is a small adjustment compared to earlier values.</a:t>
            </a:r>
            <a:endParaRPr sz="1500">
              <a:solidFill>
                <a:srgbClr val="313B3F"/>
              </a:solidFill>
              <a:highlight>
                <a:schemeClr val="lt1"/>
              </a:highlight>
              <a:latin typeface="Georgia"/>
              <a:ea typeface="Georgia"/>
              <a:cs typeface="Georgia"/>
              <a:sym typeface="Georgia"/>
            </a:endParaRPr>
          </a:p>
          <a:p>
            <a:pPr indent="0" lvl="0" marL="0" rtl="0" algn="l">
              <a:spcBef>
                <a:spcPts val="0"/>
              </a:spcBef>
              <a:spcAft>
                <a:spcPts val="0"/>
              </a:spcAft>
              <a:buNone/>
            </a:pPr>
            <a:r>
              <a:t/>
            </a:r>
            <a:endParaRPr sz="1500">
              <a:solidFill>
                <a:srgbClr val="313B3F"/>
              </a:solidFill>
              <a:highlight>
                <a:schemeClr val="lt1"/>
              </a:highlight>
              <a:latin typeface="Georgia"/>
              <a:ea typeface="Georgia"/>
              <a:cs typeface="Georgia"/>
              <a:sym typeface="Georgia"/>
            </a:endParaRPr>
          </a:p>
          <a:p>
            <a:pPr indent="0" lvl="0" marL="0" rtl="0" algn="l">
              <a:spcBef>
                <a:spcPts val="0"/>
              </a:spcBef>
              <a:spcAft>
                <a:spcPts val="0"/>
              </a:spcAft>
              <a:buNone/>
            </a:pPr>
            <a:r>
              <a:rPr lang="en" sz="1500">
                <a:solidFill>
                  <a:srgbClr val="313B3F"/>
                </a:solidFill>
                <a:highlight>
                  <a:schemeClr val="lt1"/>
                </a:highlight>
                <a:latin typeface="Georgia"/>
                <a:ea typeface="Georgia"/>
                <a:cs typeface="Georgia"/>
                <a:sym typeface="Georgia"/>
              </a:rPr>
              <a:t>We go over this loop over and over again until we get correct accuracy : minimum loss we can obtain.</a:t>
            </a:r>
            <a:endParaRPr sz="1500">
              <a:solidFill>
                <a:srgbClr val="313B3F"/>
              </a:solidFill>
              <a:highlight>
                <a:schemeClr val="lt1"/>
              </a:highlight>
              <a:latin typeface="Georgia"/>
              <a:ea typeface="Georgia"/>
              <a:cs typeface="Georgia"/>
              <a:sym typeface="Georgia"/>
            </a:endParaRPr>
          </a:p>
          <a:p>
            <a:pPr indent="0" lvl="0" marL="0" rtl="0" algn="l">
              <a:spcBef>
                <a:spcPts val="0"/>
              </a:spcBef>
              <a:spcAft>
                <a:spcPts val="0"/>
              </a:spcAft>
              <a:buNone/>
            </a:pPr>
            <a:r>
              <a:t/>
            </a:r>
            <a:endParaRPr sz="1500">
              <a:solidFill>
                <a:srgbClr val="313B3F"/>
              </a:solidFill>
              <a:highlight>
                <a:srgbClr val="FFFFFF"/>
              </a:highlight>
              <a:latin typeface="Georgia"/>
              <a:ea typeface="Georgia"/>
              <a:cs typeface="Georgia"/>
              <a:sym typeface="Georgia"/>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76719ef98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176719ef98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rgbClr val="313B3F"/>
              </a:solidFill>
              <a:highlight>
                <a:srgbClr val="FFFFFF"/>
              </a:highlight>
              <a:latin typeface="Georgia"/>
              <a:ea typeface="Georgia"/>
              <a:cs typeface="Georgia"/>
              <a:sym typeface="Georgia"/>
            </a:endParaRPr>
          </a:p>
          <a:p>
            <a:pPr indent="0" lvl="0" marL="0" rtl="0" algn="l">
              <a:spcBef>
                <a:spcPts val="0"/>
              </a:spcBef>
              <a:spcAft>
                <a:spcPts val="0"/>
              </a:spcAft>
              <a:buNone/>
            </a:pPr>
            <a:r>
              <a:rPr lang="en"/>
              <a:t>When training a NN we put full set of data into three category.</a:t>
            </a:r>
            <a:endParaRPr/>
          </a:p>
          <a:p>
            <a:pPr indent="0" lvl="0" marL="0" rtl="0" algn="l">
              <a:spcBef>
                <a:spcPts val="0"/>
              </a:spcBef>
              <a:spcAft>
                <a:spcPts val="0"/>
              </a:spcAft>
              <a:buNone/>
            </a:pPr>
            <a:r>
              <a:rPr lang="en"/>
              <a:t>Training: use to train the model</a:t>
            </a:r>
            <a:endParaRPr/>
          </a:p>
          <a:p>
            <a:pPr indent="0" lvl="0" marL="0" rtl="0" algn="l">
              <a:spcBef>
                <a:spcPts val="0"/>
              </a:spcBef>
              <a:spcAft>
                <a:spcPts val="0"/>
              </a:spcAft>
              <a:buNone/>
            </a:pPr>
            <a:r>
              <a:rPr lang="en"/>
              <a:t>Validate: During the training , use this data to evaluate model prediction against the true data in each training iterative</a:t>
            </a:r>
            <a:endParaRPr/>
          </a:p>
          <a:p>
            <a:pPr indent="0" lvl="0" marL="0" rtl="0" algn="l">
              <a:spcBef>
                <a:spcPts val="0"/>
              </a:spcBef>
              <a:spcAft>
                <a:spcPts val="0"/>
              </a:spcAft>
              <a:buNone/>
            </a:pPr>
            <a:r>
              <a:rPr lang="en"/>
              <a:t>Test:After the model is build , use this data to check the accuracy of the model</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16fa6b98581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16fa6b98581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My project is to build a NN for  a given </a:t>
            </a:r>
            <a:r>
              <a:rPr lang="en"/>
              <a:t>dynamical</a:t>
            </a:r>
            <a:r>
              <a:rPr lang="en"/>
              <a:t> system using autoencoders and Neural ODEs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paper im </a:t>
            </a:r>
            <a:r>
              <a:rPr lang="en"/>
              <a:t>referring</a:t>
            </a:r>
            <a:r>
              <a:rPr lang="en"/>
              <a:t> to work on the project</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16fa6b98581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16fa6b98581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Once the part 1, and 2 are done we will able to predict future time stem values in given system</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16fa6b98581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16fa6b98581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1st part is to find a NN model that gives reduced dimensional data representation to the original dynamical system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I want this step because,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Most dynamical system data are high dimensional so to </a:t>
            </a:r>
            <a:r>
              <a:rPr lang="en"/>
              <a:t>analyse</a:t>
            </a:r>
            <a:r>
              <a:rPr lang="en"/>
              <a:t> those data in given states are </a:t>
            </a:r>
            <a:r>
              <a:rPr lang="en"/>
              <a:t>computationally</a:t>
            </a:r>
            <a:r>
              <a:rPr lang="en"/>
              <a:t> expensive.</a:t>
            </a:r>
            <a:endParaRPr/>
          </a:p>
          <a:p>
            <a:pPr indent="0" lvl="0" marL="0" rtl="0" algn="l">
              <a:spcBef>
                <a:spcPts val="0"/>
              </a:spcBef>
              <a:spcAft>
                <a:spcPts val="0"/>
              </a:spcAft>
              <a:buNone/>
            </a:pPr>
            <a:r>
              <a:rPr lang="en"/>
              <a:t>So, we need to find a way to compress the data without damaging the properties of it.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some well known techniques for this purposes which are not  belongs to Deep learning such as PCA, DMD, SVD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16fa6b98581_0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16fa6b98581_0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do this in a deep learning environment we use NN type called Autoencoders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6fa6b98581_0_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16fa6b98581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chemeClr val="dk1"/>
                </a:solidFill>
                <a:latin typeface="Times New Roman"/>
                <a:ea typeface="Times New Roman"/>
                <a:cs typeface="Times New Roman"/>
                <a:sym typeface="Times New Roman"/>
              </a:rPr>
              <a:t>An autoencoder is a neural network that is trained to attempt to copy its input to its output.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a:p>
            <a:pPr indent="0" lvl="0" marL="0" rtl="0" algn="l">
              <a:spcBef>
                <a:spcPts val="0"/>
              </a:spcBef>
              <a:spcAft>
                <a:spcPts val="0"/>
              </a:spcAft>
              <a:buNone/>
            </a:pPr>
            <a:r>
              <a:rPr lang="en"/>
              <a:t>Important abt this is that,</a:t>
            </a:r>
            <a:endParaRPr/>
          </a:p>
          <a:p>
            <a:pPr indent="0" lvl="0" marL="0" rtl="0" algn="l">
              <a:spcBef>
                <a:spcPts val="0"/>
              </a:spcBef>
              <a:spcAft>
                <a:spcPts val="0"/>
              </a:spcAft>
              <a:buNone/>
            </a:pPr>
            <a:r>
              <a:rPr lang="en"/>
              <a:t>Internally</a:t>
            </a:r>
            <a:r>
              <a:rPr lang="en"/>
              <a:t> it has a hidden layer: we called it latent layer that has </a:t>
            </a:r>
            <a:r>
              <a:rPr lang="en">
                <a:solidFill>
                  <a:schemeClr val="dk1"/>
                </a:solidFill>
              </a:rPr>
              <a:t>another representation in different manifold to the input data</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map transform original data to this latent layer we called encoder, the map that do the reverse of it we called the decoder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latent layer in autoencoder can be both high and low dimensional.</a:t>
            </a:r>
            <a:endParaRPr/>
          </a:p>
          <a:p>
            <a:pPr indent="0" lvl="0" marL="0" rtl="0" algn="l">
              <a:spcBef>
                <a:spcPts val="0"/>
              </a:spcBef>
              <a:spcAft>
                <a:spcPts val="0"/>
              </a:spcAft>
              <a:buNone/>
            </a:pPr>
            <a:r>
              <a:rPr lang="en"/>
              <a:t>We are interested in autoencoders with low dimensional latent layer</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16fa6b98581_0_5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16fa6b98581_0_5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called it under complete autoencoder</a:t>
            </a:r>
            <a:endParaRPr/>
          </a:p>
          <a:p>
            <a:pPr indent="0" lvl="0" marL="0" rtl="0" algn="l">
              <a:spcBef>
                <a:spcPts val="0"/>
              </a:spcBef>
              <a:spcAft>
                <a:spcPts val="0"/>
              </a:spcAft>
              <a:buNone/>
            </a:pPr>
            <a:r>
              <a:t/>
            </a:r>
            <a:endParaRPr/>
          </a:p>
          <a:p>
            <a:pPr indent="-317500" lvl="0" marL="457200" rtl="0" algn="l">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Constrain h to have lower dimension than U </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Force it to capture most important features of training data</a:t>
            </a:r>
            <a:endParaRPr sz="1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Ambient space: higher dimensional space where the object is originally defined.</a:t>
            </a:r>
            <a:endParaRPr/>
          </a:p>
          <a:p>
            <a:pPr indent="0" lvl="0" marL="0" rtl="0" algn="l">
              <a:spcBef>
                <a:spcPts val="0"/>
              </a:spcBef>
              <a:spcAft>
                <a:spcPts val="0"/>
              </a:spcAft>
              <a:buClr>
                <a:schemeClr val="dk1"/>
              </a:buClr>
              <a:buSzPts val="1100"/>
              <a:buFont typeface="Arial"/>
              <a:buNone/>
            </a:pPr>
            <a:r>
              <a:rPr lang="en">
                <a:solidFill>
                  <a:schemeClr val="dk1"/>
                </a:solidFill>
              </a:rPr>
              <a:t>Salient: </a:t>
            </a:r>
            <a:r>
              <a:rPr lang="en" sz="1050">
                <a:solidFill>
                  <a:srgbClr val="BDC1C6"/>
                </a:solidFill>
                <a:highlight>
                  <a:srgbClr val="202124"/>
                </a:highlight>
                <a:latin typeface="Roboto"/>
                <a:ea typeface="Roboto"/>
                <a:cs typeface="Roboto"/>
                <a:sym typeface="Roboto"/>
              </a:rPr>
              <a:t>most noticeable or important.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16fa6b98581_0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16fa6b98581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for simulations , I have created few autoencoders for few systems</a:t>
            </a:r>
            <a:endParaRPr/>
          </a:p>
          <a:p>
            <a:pPr indent="0" lvl="0" marL="0" rtl="0" algn="l">
              <a:spcBef>
                <a:spcPts val="0"/>
              </a:spcBef>
              <a:spcAft>
                <a:spcPts val="0"/>
              </a:spcAft>
              <a:buNone/>
            </a:pPr>
            <a:r>
              <a:rPr lang="en"/>
              <a:t>Let me remind you again that why we use auto..</a:t>
            </a:r>
            <a:endParaRPr/>
          </a:p>
          <a:p>
            <a:pPr indent="0" lvl="0" marL="0" rtl="0" algn="l">
              <a:spcBef>
                <a:spcPts val="0"/>
              </a:spcBef>
              <a:spcAft>
                <a:spcPts val="0"/>
              </a:spcAft>
              <a:buNone/>
            </a:pPr>
            <a:r>
              <a:rPr lang="en"/>
              <a:t>To do </a:t>
            </a:r>
            <a:r>
              <a:rPr lang="en"/>
              <a:t>computations</a:t>
            </a:r>
            <a:r>
              <a:rPr lang="en"/>
              <a:t> we prefer low dimension and but for the </a:t>
            </a:r>
            <a:r>
              <a:rPr lang="en"/>
              <a:t>representation we prefer original high dimension.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all of the systems that i considered,</a:t>
            </a:r>
            <a:endParaRPr/>
          </a:p>
          <a:p>
            <a:pPr indent="0" lvl="0" marL="0" rtl="0" algn="l">
              <a:spcBef>
                <a:spcPts val="0"/>
              </a:spcBef>
              <a:spcAft>
                <a:spcPts val="0"/>
              </a:spcAft>
              <a:buNone/>
            </a:pPr>
            <a:r>
              <a:rPr lang="en"/>
              <a:t> Data set  was simulated taking a single trajectory of the system and point taken are evenly spaced.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When the data was feeded to the NN,</a:t>
            </a:r>
            <a:endParaRPr/>
          </a:p>
          <a:p>
            <a:pPr indent="0" lvl="0" marL="0" rtl="0" algn="l">
              <a:spcBef>
                <a:spcPts val="0"/>
              </a:spcBef>
              <a:spcAft>
                <a:spcPts val="0"/>
              </a:spcAft>
              <a:buNone/>
            </a:pPr>
            <a:r>
              <a:rPr lang="en"/>
              <a:t>Data points were randomly selected  from the data set.</a:t>
            </a:r>
            <a:endParaRPr/>
          </a:p>
          <a:p>
            <a:pPr indent="-317500" lvl="0" marL="457200" rtl="0" algn="l">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Considered all state variables  of  each  data point</a:t>
            </a:r>
            <a:endParaRPr sz="1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400">
                <a:solidFill>
                  <a:schemeClr val="dk1"/>
                </a:solidFill>
                <a:latin typeface="Times New Roman"/>
                <a:ea typeface="Times New Roman"/>
                <a:cs typeface="Times New Roman"/>
                <a:sym typeface="Times New Roman"/>
              </a:rPr>
              <a:t>70 of data set taken as training data</a:t>
            </a:r>
            <a:endParaRPr sz="1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400">
                <a:solidFill>
                  <a:schemeClr val="dk1"/>
                </a:solidFill>
                <a:latin typeface="Times New Roman"/>
                <a:ea typeface="Times New Roman"/>
                <a:cs typeface="Times New Roman"/>
                <a:sym typeface="Times New Roman"/>
              </a:rPr>
              <a:t>15 ..</a:t>
            </a:r>
            <a:endParaRPr sz="1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400">
                <a:solidFill>
                  <a:schemeClr val="dk1"/>
                </a:solidFill>
                <a:latin typeface="Times New Roman"/>
                <a:ea typeface="Times New Roman"/>
                <a:cs typeface="Times New Roman"/>
                <a:sym typeface="Times New Roman"/>
              </a:rPr>
              <a:t>Last 15</a:t>
            </a:r>
            <a:endParaRPr sz="1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176176da820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176176da820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first autoencoder was created for a circle</a:t>
            </a:r>
            <a:endParaRPr/>
          </a:p>
          <a:p>
            <a:pPr indent="0" lvl="0" marL="0" rtl="0" algn="l">
              <a:spcBef>
                <a:spcPts val="0"/>
              </a:spcBef>
              <a:spcAft>
                <a:spcPts val="0"/>
              </a:spcAft>
              <a:buNone/>
            </a:pPr>
            <a:r>
              <a:rPr lang="en"/>
              <a:t>	Since circle can be represent from both  2D data and 1D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tabel shows the the structure of the autoencoder used to with 2D input, 1D latent layer, 2D output.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Thai</a:t>
            </a:r>
            <a:r>
              <a:rPr lang="en"/>
              <a:t> graph shows the Training data loss and validation data loss of the data at each epoch.</a:t>
            </a:r>
            <a:endParaRPr/>
          </a:p>
          <a:p>
            <a:pPr indent="0" lvl="0" marL="0" rtl="0" algn="l">
              <a:spcBef>
                <a:spcPts val="0"/>
              </a:spcBef>
              <a:spcAft>
                <a:spcPts val="0"/>
              </a:spcAft>
              <a:buNone/>
            </a:pPr>
            <a:r>
              <a:rPr lang="en"/>
              <a:t>That means the difference between NN output and true target when training the model and validating the model at each epoch.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Epoch means how many times full set of training data  is used to train the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Since the graph is converged autoencoder can </a:t>
            </a:r>
            <a:r>
              <a:rPr lang="en"/>
              <a:t>guarantee</a:t>
            </a:r>
            <a:r>
              <a:rPr lang="en"/>
              <a:t> a good autoencoder for circle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176176da820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176176da820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tested the model with </a:t>
            </a:r>
            <a:endParaRPr/>
          </a:p>
          <a:p>
            <a:pPr indent="0" lvl="0" marL="0" rtl="0" algn="l">
              <a:spcBef>
                <a:spcPts val="0"/>
              </a:spcBef>
              <a:spcAft>
                <a:spcPts val="0"/>
              </a:spcAft>
              <a:buNone/>
            </a:pPr>
            <a:r>
              <a:rPr lang="en"/>
              <a:t>Test data which represent in this graph.</a:t>
            </a:r>
            <a:endParaRPr/>
          </a:p>
          <a:p>
            <a:pPr indent="0" lvl="0" marL="0" rtl="0" algn="l">
              <a:spcBef>
                <a:spcPts val="0"/>
              </a:spcBef>
              <a:spcAft>
                <a:spcPts val="0"/>
              </a:spcAft>
              <a:buNone/>
            </a:pPr>
            <a:r>
              <a:rPr lang="en"/>
              <a:t>This is the showed encoder output .</a:t>
            </a:r>
            <a:endParaRPr/>
          </a:p>
          <a:p>
            <a:pPr indent="0" lvl="0" marL="0" rtl="0" algn="l">
              <a:spcBef>
                <a:spcPts val="0"/>
              </a:spcBef>
              <a:spcAft>
                <a:spcPts val="0"/>
              </a:spcAft>
              <a:buNone/>
            </a:pPr>
            <a:r>
              <a:rPr lang="en"/>
              <a:t>To </a:t>
            </a:r>
            <a:r>
              <a:rPr lang="en"/>
              <a:t>validate</a:t>
            </a:r>
            <a:r>
              <a:rPr lang="en"/>
              <a:t> it is correct latent layer output , I mapped it with real </a:t>
            </a:r>
            <a:r>
              <a:rPr lang="en"/>
              <a:t>angels</a:t>
            </a:r>
            <a:r>
              <a:rPr lang="en"/>
              <a:t> . the graph is type of y=x , assure that this reduced order </a:t>
            </a:r>
            <a:r>
              <a:rPr lang="en"/>
              <a:t>representation</a:t>
            </a:r>
            <a:r>
              <a:rPr lang="en"/>
              <a:t> of input data is true.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Last </a:t>
            </a:r>
            <a:r>
              <a:rPr lang="en"/>
              <a:t>graph</a:t>
            </a:r>
            <a:r>
              <a:rPr lang="en"/>
              <a:t> shows the reconstruction of the original circle using decoder mapping</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176176da820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176176da820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16fa6b98581_0_7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16fa6b98581_0_7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graphs shows results of  the autoencoder  that reduced trefoil knot dimension from 3d to 2d .</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176176da820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176176da820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16fa6b98581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16fa6b98581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Henon map result.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Both these cases , reconstructing from low dim to high data was missing.</a:t>
            </a:r>
            <a:endParaRPr/>
          </a:p>
          <a:p>
            <a:pPr indent="0" lvl="0" marL="0" rtl="0" algn="l">
              <a:spcBef>
                <a:spcPts val="0"/>
              </a:spcBef>
              <a:spcAft>
                <a:spcPts val="0"/>
              </a:spcAft>
              <a:buNone/>
            </a:pPr>
            <a:r>
              <a:rPr lang="en"/>
              <a:t>Reason I Think for that is : both henon and trefoil can not reduced to low dim since original dimensions are their low dimensions</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176176da820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176176da820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last system simulated for autoencoders </a:t>
            </a:r>
            <a:endParaRPr/>
          </a:p>
          <a:p>
            <a:pPr indent="0" lvl="0" marL="0" rtl="0" algn="l">
              <a:spcBef>
                <a:spcPts val="0"/>
              </a:spcBef>
              <a:spcAft>
                <a:spcPts val="0"/>
              </a:spcAft>
              <a:buNone/>
            </a:pPr>
            <a:r>
              <a:rPr lang="en"/>
              <a:t>Speciality here is:</a:t>
            </a:r>
            <a:endParaRPr/>
          </a:p>
          <a:p>
            <a:pPr indent="0" lvl="0" marL="0" rtl="0" algn="l">
              <a:spcBef>
                <a:spcPts val="0"/>
              </a:spcBef>
              <a:spcAft>
                <a:spcPts val="0"/>
              </a:spcAft>
              <a:buNone/>
            </a:pPr>
            <a:r>
              <a:rPr lang="en"/>
              <a:t>Instead of taking original dimension as input , we created a 4D data set of lorentz system using this </a:t>
            </a:r>
            <a:r>
              <a:rPr lang="en"/>
              <a:t>representations</a:t>
            </a:r>
            <a:r>
              <a:rPr lang="en"/>
              <a:t> where alpha is a constant.</a:t>
            </a:r>
            <a:endParaRPr/>
          </a:p>
          <a:p>
            <a:pPr indent="0" lvl="0" marL="0" rtl="0" algn="l">
              <a:spcBef>
                <a:spcPts val="0"/>
              </a:spcBef>
              <a:spcAft>
                <a:spcPts val="0"/>
              </a:spcAft>
              <a:buNone/>
            </a:pPr>
            <a:r>
              <a:rPr lang="en"/>
              <a:t>X,y,z are the original system data.</a:t>
            </a:r>
            <a:endParaRPr/>
          </a:p>
          <a:p>
            <a:pPr indent="0" lvl="0" marL="0" rtl="0" algn="l">
              <a:spcBef>
                <a:spcPts val="0"/>
              </a:spcBef>
              <a:spcAft>
                <a:spcPts val="0"/>
              </a:spcAft>
              <a:buNone/>
            </a:pPr>
            <a:r>
              <a:rPr lang="en"/>
              <a:t>In 4D system become a spiral.</a:t>
            </a:r>
            <a:endParaRPr/>
          </a:p>
          <a:p>
            <a:pPr indent="0" lvl="0" marL="0" rtl="0" algn="l">
              <a:spcBef>
                <a:spcPts val="0"/>
              </a:spcBef>
              <a:spcAft>
                <a:spcPts val="0"/>
              </a:spcAft>
              <a:buNone/>
            </a:pPr>
            <a:r>
              <a:rPr lang="en"/>
              <a:t>And took 4D system as input. And check weather we can have original 3D system in the latent layer .</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176176da820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176176da820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16fa6b98581_0_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16fa6b98581_0_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Once test data set applied to the trained autoencoder, latent layer </a:t>
            </a:r>
            <a:r>
              <a:rPr lang="en"/>
              <a:t>representation….</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176176da82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176176da82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the conclusion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16fa6b98581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16fa6b98581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desilvr@clarkson.edu" TargetMode="External"/><Relationship Id="rId4" Type="http://schemas.openxmlformats.org/officeDocument/2006/relationships/image" Target="../media/image7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9.png"/><Relationship Id="rId4" Type="http://schemas.openxmlformats.org/officeDocument/2006/relationships/image" Target="../media/image2.gif"/><Relationship Id="rId9" Type="http://schemas.openxmlformats.org/officeDocument/2006/relationships/image" Target="../media/image4.png"/><Relationship Id="rId5" Type="http://schemas.openxmlformats.org/officeDocument/2006/relationships/image" Target="../media/image11.gif"/><Relationship Id="rId6" Type="http://schemas.openxmlformats.org/officeDocument/2006/relationships/image" Target="../media/image1.gif"/><Relationship Id="rId7" Type="http://schemas.openxmlformats.org/officeDocument/2006/relationships/image" Target="../media/image7.gif"/><Relationship Id="rId8"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image5.png"/><Relationship Id="rId11" Type="http://schemas.openxmlformats.org/officeDocument/2006/relationships/image" Target="../media/image15.png"/><Relationship Id="rId10" Type="http://schemas.openxmlformats.org/officeDocument/2006/relationships/image" Target="../media/image8.png"/><Relationship Id="rId12" Type="http://schemas.openxmlformats.org/officeDocument/2006/relationships/image" Target="../media/image16.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3.png"/><Relationship Id="rId7" Type="http://schemas.openxmlformats.org/officeDocument/2006/relationships/image" Target="../media/image17.png"/><Relationship Id="rId8" Type="http://schemas.openxmlformats.org/officeDocument/2006/relationships/image" Target="../media/image12.png"/></Relationships>
</file>

<file path=ppt/slides/_rels/slide6.xml.rels><?xml version="1.0" encoding="UTF-8" standalone="yes"?><Relationships xmlns="http://schemas.openxmlformats.org/package/2006/relationships"><Relationship Id="rId11" Type="http://schemas.openxmlformats.org/officeDocument/2006/relationships/image" Target="../media/image24.png"/><Relationship Id="rId10" Type="http://schemas.openxmlformats.org/officeDocument/2006/relationships/image" Target="../media/image44.png"/><Relationship Id="rId13" Type="http://schemas.openxmlformats.org/officeDocument/2006/relationships/image" Target="../media/image28.png"/><Relationship Id="rId12" Type="http://schemas.openxmlformats.org/officeDocument/2006/relationships/image" Target="../media/image26.png"/><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9.jpg"/><Relationship Id="rId4" Type="http://schemas.openxmlformats.org/officeDocument/2006/relationships/image" Target="../media/image23.jpg"/><Relationship Id="rId9" Type="http://schemas.openxmlformats.org/officeDocument/2006/relationships/image" Target="../media/image22.png"/><Relationship Id="rId5" Type="http://schemas.openxmlformats.org/officeDocument/2006/relationships/image" Target="../media/image27.jpg"/><Relationship Id="rId6" Type="http://schemas.openxmlformats.org/officeDocument/2006/relationships/image" Target="../media/image21.png"/><Relationship Id="rId7" Type="http://schemas.openxmlformats.org/officeDocument/2006/relationships/image" Target="../media/image20.jpg"/><Relationship Id="rId8" Type="http://schemas.openxmlformats.org/officeDocument/2006/relationships/image" Target="../media/image25.png"/></Relationships>
</file>

<file path=ppt/slides/_rels/slide7.xml.rels><?xml version="1.0" encoding="UTF-8" standalone="yes"?><Relationships xmlns="http://schemas.openxmlformats.org/package/2006/relationships"><Relationship Id="rId11" Type="http://schemas.openxmlformats.org/officeDocument/2006/relationships/image" Target="../media/image24.png"/><Relationship Id="rId10" Type="http://schemas.openxmlformats.org/officeDocument/2006/relationships/image" Target="../media/image44.png"/><Relationship Id="rId13" Type="http://schemas.openxmlformats.org/officeDocument/2006/relationships/image" Target="../media/image28.png"/><Relationship Id="rId12" Type="http://schemas.openxmlformats.org/officeDocument/2006/relationships/image" Target="../media/image26.png"/><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9.jpg"/><Relationship Id="rId4" Type="http://schemas.openxmlformats.org/officeDocument/2006/relationships/image" Target="../media/image23.jpg"/><Relationship Id="rId9" Type="http://schemas.openxmlformats.org/officeDocument/2006/relationships/image" Target="../media/image22.png"/><Relationship Id="rId5" Type="http://schemas.openxmlformats.org/officeDocument/2006/relationships/image" Target="../media/image27.jpg"/><Relationship Id="rId6" Type="http://schemas.openxmlformats.org/officeDocument/2006/relationships/image" Target="../media/image21.png"/><Relationship Id="rId7" Type="http://schemas.openxmlformats.org/officeDocument/2006/relationships/image" Target="../media/image20.jpg"/><Relationship Id="rId8"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4.png"/><Relationship Id="rId4" Type="http://schemas.openxmlformats.org/officeDocument/2006/relationships/image" Target="../media/image4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4.png"/><Relationship Id="rId4" Type="http://schemas.openxmlformats.org/officeDocument/2006/relationships/image" Target="../media/image4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9.jpg"/><Relationship Id="rId4" Type="http://schemas.openxmlformats.org/officeDocument/2006/relationships/image" Target="../media/image30.jpg"/><Relationship Id="rId5" Type="http://schemas.openxmlformats.org/officeDocument/2006/relationships/image" Target="../media/image3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8.png"/><Relationship Id="rId4" Type="http://schemas.openxmlformats.org/officeDocument/2006/relationships/image" Target="../media/image5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2.gif"/><Relationship Id="rId4" Type="http://schemas.openxmlformats.org/officeDocument/2006/relationships/image" Target="../media/image32.gif"/><Relationship Id="rId5" Type="http://schemas.openxmlformats.org/officeDocument/2006/relationships/image" Target="../media/image36.gif"/><Relationship Id="rId6"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3.png"/><Relationship Id="rId4" Type="http://schemas.openxmlformats.org/officeDocument/2006/relationships/image" Target="../media/image55.png"/><Relationship Id="rId5" Type="http://schemas.openxmlformats.org/officeDocument/2006/relationships/image" Target="../media/image47.png"/><Relationship Id="rId6" Type="http://schemas.openxmlformats.org/officeDocument/2006/relationships/image" Target="../media/image45.png"/><Relationship Id="rId7" Type="http://schemas.openxmlformats.org/officeDocument/2006/relationships/image" Target="../media/image60.png"/><Relationship Id="rId8" Type="http://schemas.openxmlformats.org/officeDocument/2006/relationships/image" Target="../media/image41.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3.png"/><Relationship Id="rId4" Type="http://schemas.openxmlformats.org/officeDocument/2006/relationships/image" Target="../media/image60.png"/><Relationship Id="rId9" Type="http://schemas.openxmlformats.org/officeDocument/2006/relationships/image" Target="../media/image57.png"/><Relationship Id="rId5" Type="http://schemas.openxmlformats.org/officeDocument/2006/relationships/image" Target="../media/image45.png"/><Relationship Id="rId6" Type="http://schemas.openxmlformats.org/officeDocument/2006/relationships/image" Target="../media/image41.gif"/><Relationship Id="rId7" Type="http://schemas.openxmlformats.org/officeDocument/2006/relationships/image" Target="../media/image51.png"/><Relationship Id="rId8" Type="http://schemas.openxmlformats.org/officeDocument/2006/relationships/image" Target="../media/image4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6.png"/><Relationship Id="rId4" Type="http://schemas.openxmlformats.org/officeDocument/2006/relationships/image" Target="../media/image62.png"/><Relationship Id="rId5" Type="http://schemas.openxmlformats.org/officeDocument/2006/relationships/image" Target="../media/image4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54.png"/><Relationship Id="rId4" Type="http://schemas.openxmlformats.org/officeDocument/2006/relationships/image" Target="../media/image63.png"/><Relationship Id="rId5" Type="http://schemas.openxmlformats.org/officeDocument/2006/relationships/image" Target="../media/image50.png"/><Relationship Id="rId6" Type="http://schemas.openxmlformats.org/officeDocument/2006/relationships/image" Target="../media/image4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61.png"/><Relationship Id="rId4" Type="http://schemas.openxmlformats.org/officeDocument/2006/relationships/image" Target="../media/image56.png"/><Relationship Id="rId5" Type="http://schemas.openxmlformats.org/officeDocument/2006/relationships/image" Target="../media/image59.png"/><Relationship Id="rId6" Type="http://schemas.openxmlformats.org/officeDocument/2006/relationships/image" Target="../media/image58.png"/></Relationships>
</file>

<file path=ppt/slides/_rels/slide23.xml.rels><?xml version="1.0" encoding="UTF-8" standalone="yes"?><Relationships xmlns="http://schemas.openxmlformats.org/package/2006/relationships"><Relationship Id="rId10" Type="http://schemas.openxmlformats.org/officeDocument/2006/relationships/image" Target="../media/image69.png"/><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52.png"/><Relationship Id="rId4" Type="http://schemas.openxmlformats.org/officeDocument/2006/relationships/image" Target="../media/image77.png"/><Relationship Id="rId9" Type="http://schemas.openxmlformats.org/officeDocument/2006/relationships/image" Target="../media/image61.png"/><Relationship Id="rId5" Type="http://schemas.openxmlformats.org/officeDocument/2006/relationships/image" Target="../media/image74.png"/><Relationship Id="rId6" Type="http://schemas.openxmlformats.org/officeDocument/2006/relationships/image" Target="../media/image71.png"/><Relationship Id="rId7" Type="http://schemas.openxmlformats.org/officeDocument/2006/relationships/image" Target="../media/image64.png"/><Relationship Id="rId8" Type="http://schemas.openxmlformats.org/officeDocument/2006/relationships/image" Target="../media/image6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78.png"/><Relationship Id="rId4" Type="http://schemas.openxmlformats.org/officeDocument/2006/relationships/image" Target="../media/image37.png"/><Relationship Id="rId5" Type="http://schemas.openxmlformats.org/officeDocument/2006/relationships/image" Target="../media/image6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75.png"/><Relationship Id="rId4" Type="http://schemas.openxmlformats.org/officeDocument/2006/relationships/image" Target="../media/image66.png"/><Relationship Id="rId5" Type="http://schemas.openxmlformats.org/officeDocument/2006/relationships/image" Target="../media/image7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72.pn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73.png"/><Relationship Id="rId7" Type="http://schemas.openxmlformats.org/officeDocument/2006/relationships/image" Target="../media/image6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52400" y="450050"/>
            <a:ext cx="8898900" cy="848700"/>
          </a:xfrm>
          <a:prstGeom prst="rect">
            <a:avLst/>
          </a:prstGeom>
          <a:solidFill>
            <a:srgbClr val="054B3E"/>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rmAutofit fontScale="70000" lnSpcReduction="20000"/>
          </a:bodyPr>
          <a:lstStyle/>
          <a:p>
            <a:pPr indent="0" lvl="0" marL="0" rtl="0" algn="ctr">
              <a:spcBef>
                <a:spcPts val="0"/>
              </a:spcBef>
              <a:spcAft>
                <a:spcPts val="0"/>
              </a:spcAft>
              <a:buNone/>
            </a:pPr>
            <a:r>
              <a:t/>
            </a:r>
            <a:endParaRPr sz="2800">
              <a:solidFill>
                <a:srgbClr val="FFFF00"/>
              </a:solidFill>
              <a:latin typeface="Oswald"/>
              <a:ea typeface="Oswald"/>
              <a:cs typeface="Oswald"/>
              <a:sym typeface="Oswald"/>
            </a:endParaRPr>
          </a:p>
          <a:p>
            <a:pPr indent="0" lvl="0" marL="0" rtl="0" algn="l">
              <a:spcBef>
                <a:spcPts val="0"/>
              </a:spcBef>
              <a:spcAft>
                <a:spcPts val="0"/>
              </a:spcAft>
              <a:buNone/>
            </a:pPr>
            <a:r>
              <a:rPr lang="en" sz="2800">
                <a:solidFill>
                  <a:srgbClr val="FFFF00"/>
                </a:solidFill>
                <a:latin typeface="Oswald"/>
                <a:ea typeface="Oswald"/>
                <a:cs typeface="Oswald"/>
                <a:sym typeface="Oswald"/>
              </a:rPr>
              <a:t>                                              MA 725 : 25 - OCT - 2022</a:t>
            </a:r>
            <a:endParaRPr sz="2800">
              <a:solidFill>
                <a:srgbClr val="FFFF00"/>
              </a:solidFill>
              <a:latin typeface="Oswald"/>
              <a:ea typeface="Oswald"/>
              <a:cs typeface="Oswald"/>
              <a:sym typeface="Oswald"/>
            </a:endParaRPr>
          </a:p>
          <a:p>
            <a:pPr indent="0" lvl="0" marL="0" rtl="0" algn="ctr">
              <a:spcBef>
                <a:spcPts val="0"/>
              </a:spcBef>
              <a:spcAft>
                <a:spcPts val="0"/>
              </a:spcAft>
              <a:buNone/>
            </a:pPr>
            <a:r>
              <a:t/>
            </a:r>
            <a:endParaRPr sz="2800">
              <a:solidFill>
                <a:srgbClr val="FFFF00"/>
              </a:solidFill>
              <a:latin typeface="Oswald"/>
              <a:ea typeface="Oswald"/>
              <a:cs typeface="Oswald"/>
              <a:sym typeface="Oswald"/>
            </a:endParaRPr>
          </a:p>
        </p:txBody>
      </p:sp>
      <p:sp>
        <p:nvSpPr>
          <p:cNvPr id="55" name="Google Shape;55;p13"/>
          <p:cNvSpPr txBox="1"/>
          <p:nvPr/>
        </p:nvSpPr>
        <p:spPr>
          <a:xfrm>
            <a:off x="489200" y="1607050"/>
            <a:ext cx="7781700" cy="30567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ctr">
              <a:lnSpc>
                <a:spcPct val="115000"/>
              </a:lnSpc>
              <a:spcBef>
                <a:spcPts val="400"/>
              </a:spcBef>
              <a:spcAft>
                <a:spcPts val="0"/>
              </a:spcAft>
              <a:buNone/>
            </a:pPr>
            <a:r>
              <a:t/>
            </a:r>
            <a:endParaRPr b="1" sz="2000" u="sng">
              <a:solidFill>
                <a:srgbClr val="054B3E"/>
              </a:solidFill>
              <a:latin typeface="Oswald"/>
              <a:ea typeface="Oswald"/>
              <a:cs typeface="Oswald"/>
              <a:sym typeface="Oswald"/>
            </a:endParaRPr>
          </a:p>
          <a:p>
            <a:pPr indent="0" lvl="0" marL="0" rtl="0" algn="ctr">
              <a:lnSpc>
                <a:spcPct val="115000"/>
              </a:lnSpc>
              <a:spcBef>
                <a:spcPts val="400"/>
              </a:spcBef>
              <a:spcAft>
                <a:spcPts val="0"/>
              </a:spcAft>
              <a:buNone/>
            </a:pPr>
            <a:r>
              <a:t/>
            </a:r>
            <a:endParaRPr b="1" sz="2000" u="sng">
              <a:solidFill>
                <a:srgbClr val="054B3E"/>
              </a:solidFill>
              <a:latin typeface="Oswald"/>
              <a:ea typeface="Oswald"/>
              <a:cs typeface="Oswald"/>
              <a:sym typeface="Oswald"/>
            </a:endParaRPr>
          </a:p>
          <a:p>
            <a:pPr indent="0" lvl="0" marL="0" rtl="0" algn="ctr">
              <a:lnSpc>
                <a:spcPct val="115000"/>
              </a:lnSpc>
              <a:spcBef>
                <a:spcPts val="400"/>
              </a:spcBef>
              <a:spcAft>
                <a:spcPts val="0"/>
              </a:spcAft>
              <a:buNone/>
            </a:pPr>
            <a:r>
              <a:t/>
            </a:r>
            <a:endParaRPr b="1" sz="2000" u="sng">
              <a:solidFill>
                <a:srgbClr val="054B3E"/>
              </a:solidFill>
              <a:latin typeface="Oswald"/>
              <a:ea typeface="Oswald"/>
              <a:cs typeface="Oswald"/>
              <a:sym typeface="Oswald"/>
            </a:endParaRPr>
          </a:p>
          <a:p>
            <a:pPr indent="0" lvl="0" marL="0" rtl="0" algn="ctr">
              <a:lnSpc>
                <a:spcPct val="115000"/>
              </a:lnSpc>
              <a:spcBef>
                <a:spcPts val="400"/>
              </a:spcBef>
              <a:spcAft>
                <a:spcPts val="0"/>
              </a:spcAft>
              <a:buNone/>
            </a:pPr>
            <a:r>
              <a:t/>
            </a:r>
            <a:endParaRPr b="1" sz="6886" u="sng">
              <a:solidFill>
                <a:srgbClr val="054B3E"/>
              </a:solidFill>
              <a:latin typeface="Oswald"/>
              <a:ea typeface="Oswald"/>
              <a:cs typeface="Oswald"/>
              <a:sym typeface="Oswald"/>
            </a:endParaRPr>
          </a:p>
          <a:p>
            <a:pPr indent="0" lvl="0" marL="0" rtl="0" algn="ctr">
              <a:lnSpc>
                <a:spcPct val="115000"/>
              </a:lnSpc>
              <a:spcBef>
                <a:spcPts val="400"/>
              </a:spcBef>
              <a:spcAft>
                <a:spcPts val="0"/>
              </a:spcAft>
              <a:buNone/>
            </a:pPr>
            <a:r>
              <a:rPr b="1" lang="en" sz="6886" u="sng">
                <a:solidFill>
                  <a:srgbClr val="054B3E"/>
                </a:solidFill>
                <a:latin typeface="Oswald"/>
                <a:ea typeface="Oswald"/>
                <a:cs typeface="Oswald"/>
                <a:sym typeface="Oswald"/>
              </a:rPr>
              <a:t>Data Driven Reduced-Order Modeling U</a:t>
            </a:r>
            <a:r>
              <a:rPr b="1" lang="en" sz="6886" u="sng">
                <a:solidFill>
                  <a:srgbClr val="054B3E"/>
                </a:solidFill>
                <a:latin typeface="Oswald"/>
                <a:ea typeface="Oswald"/>
                <a:cs typeface="Oswald"/>
                <a:sym typeface="Oswald"/>
              </a:rPr>
              <a:t>sing</a:t>
            </a:r>
            <a:r>
              <a:rPr b="1" lang="en" sz="6886" u="sng">
                <a:solidFill>
                  <a:srgbClr val="054B3E"/>
                </a:solidFill>
                <a:latin typeface="Oswald"/>
                <a:ea typeface="Oswald"/>
                <a:cs typeface="Oswald"/>
                <a:sym typeface="Oswald"/>
              </a:rPr>
              <a:t> Neural Networks</a:t>
            </a:r>
            <a:endParaRPr b="1" sz="6686" u="sng">
              <a:solidFill>
                <a:srgbClr val="054B3E"/>
              </a:solidFill>
              <a:latin typeface="Oswald"/>
              <a:ea typeface="Oswald"/>
              <a:cs typeface="Oswald"/>
              <a:sym typeface="Oswald"/>
            </a:endParaRPr>
          </a:p>
          <a:p>
            <a:pPr indent="0" lvl="0" marL="0" rtl="0" algn="ctr">
              <a:lnSpc>
                <a:spcPct val="115000"/>
              </a:lnSpc>
              <a:spcBef>
                <a:spcPts val="400"/>
              </a:spcBef>
              <a:spcAft>
                <a:spcPts val="0"/>
              </a:spcAft>
              <a:buNone/>
            </a:pPr>
            <a:r>
              <a:rPr lang="en" sz="6886" u="sng">
                <a:solidFill>
                  <a:srgbClr val="054B3E"/>
                </a:solidFill>
                <a:latin typeface="Oswald"/>
                <a:ea typeface="Oswald"/>
                <a:cs typeface="Oswald"/>
                <a:sym typeface="Oswald"/>
              </a:rPr>
              <a:t>Rammini Nipuni Senani de Silva</a:t>
            </a:r>
            <a:endParaRPr sz="6886" u="sng">
              <a:solidFill>
                <a:srgbClr val="054B3E"/>
              </a:solidFill>
              <a:latin typeface="Oswald"/>
              <a:ea typeface="Oswald"/>
              <a:cs typeface="Oswald"/>
              <a:sym typeface="Oswald"/>
            </a:endParaRPr>
          </a:p>
          <a:p>
            <a:pPr indent="0" lvl="0" marL="0" rtl="0" algn="ctr">
              <a:lnSpc>
                <a:spcPct val="115000"/>
              </a:lnSpc>
              <a:spcBef>
                <a:spcPts val="400"/>
              </a:spcBef>
              <a:spcAft>
                <a:spcPts val="0"/>
              </a:spcAft>
              <a:buNone/>
            </a:pPr>
            <a:r>
              <a:t/>
            </a:r>
            <a:endParaRPr sz="6886" u="sng">
              <a:solidFill>
                <a:srgbClr val="054B3E"/>
              </a:solidFill>
              <a:latin typeface="Oswald"/>
              <a:ea typeface="Oswald"/>
              <a:cs typeface="Oswald"/>
              <a:sym typeface="Oswald"/>
            </a:endParaRPr>
          </a:p>
          <a:p>
            <a:pPr indent="0" lvl="0" marL="0" rtl="0" algn="ctr">
              <a:lnSpc>
                <a:spcPct val="115000"/>
              </a:lnSpc>
              <a:spcBef>
                <a:spcPts val="400"/>
              </a:spcBef>
              <a:spcAft>
                <a:spcPts val="0"/>
              </a:spcAft>
              <a:buNone/>
            </a:pPr>
            <a:r>
              <a:t/>
            </a:r>
            <a:endParaRPr sz="6886" u="sng">
              <a:solidFill>
                <a:srgbClr val="054B3E"/>
              </a:solidFill>
              <a:latin typeface="Oswald"/>
              <a:ea typeface="Oswald"/>
              <a:cs typeface="Oswald"/>
              <a:sym typeface="Oswald"/>
            </a:endParaRPr>
          </a:p>
          <a:p>
            <a:pPr indent="0" lvl="0" marL="0" rtl="0" algn="ctr">
              <a:lnSpc>
                <a:spcPct val="115000"/>
              </a:lnSpc>
              <a:spcBef>
                <a:spcPts val="320"/>
              </a:spcBef>
              <a:spcAft>
                <a:spcPts val="0"/>
              </a:spcAft>
              <a:buNone/>
            </a:pPr>
            <a:r>
              <a:rPr lang="en" sz="3886" u="sng">
                <a:solidFill>
                  <a:srgbClr val="054B3E"/>
                </a:solidFill>
                <a:latin typeface="Oswald"/>
                <a:ea typeface="Oswald"/>
                <a:cs typeface="Oswald"/>
                <a:sym typeface="Oswald"/>
              </a:rPr>
              <a:t>Department of Mathematics</a:t>
            </a:r>
            <a:endParaRPr sz="3886" u="sng">
              <a:solidFill>
                <a:srgbClr val="054B3E"/>
              </a:solidFill>
              <a:latin typeface="Oswald"/>
              <a:ea typeface="Oswald"/>
              <a:cs typeface="Oswald"/>
              <a:sym typeface="Oswald"/>
            </a:endParaRPr>
          </a:p>
          <a:p>
            <a:pPr indent="0" lvl="0" marL="0" rtl="0" algn="ctr">
              <a:lnSpc>
                <a:spcPct val="115000"/>
              </a:lnSpc>
              <a:spcBef>
                <a:spcPts val="320"/>
              </a:spcBef>
              <a:spcAft>
                <a:spcPts val="0"/>
              </a:spcAft>
              <a:buNone/>
            </a:pPr>
            <a:r>
              <a:rPr lang="en" sz="3886" u="sng">
                <a:solidFill>
                  <a:srgbClr val="054B3E"/>
                </a:solidFill>
                <a:latin typeface="Oswald"/>
                <a:ea typeface="Oswald"/>
                <a:cs typeface="Oswald"/>
                <a:sym typeface="Oswald"/>
              </a:rPr>
              <a:t>Clarkson University, Potsdam</a:t>
            </a:r>
            <a:endParaRPr sz="3886" u="sng">
              <a:solidFill>
                <a:srgbClr val="054B3E"/>
              </a:solidFill>
              <a:latin typeface="Oswald"/>
              <a:ea typeface="Oswald"/>
              <a:cs typeface="Oswald"/>
              <a:sym typeface="Oswald"/>
            </a:endParaRPr>
          </a:p>
          <a:p>
            <a:pPr indent="0" lvl="0" marL="0" rtl="0" algn="ctr">
              <a:lnSpc>
                <a:spcPct val="115000"/>
              </a:lnSpc>
              <a:spcBef>
                <a:spcPts val="320"/>
              </a:spcBef>
              <a:spcAft>
                <a:spcPts val="0"/>
              </a:spcAft>
              <a:buNone/>
            </a:pPr>
            <a:r>
              <a:rPr lang="en" sz="3886" u="sng">
                <a:solidFill>
                  <a:srgbClr val="0097A7"/>
                </a:solidFill>
                <a:latin typeface="Oswald"/>
                <a:ea typeface="Oswald"/>
                <a:cs typeface="Oswald"/>
                <a:sym typeface="Oswald"/>
                <a:hlinkClick r:id="rId3">
                  <a:extLst>
                    <a:ext uri="{A12FA001-AC4F-418D-AE19-62706E023703}">
                      <ahyp:hlinkClr val="tx"/>
                    </a:ext>
                  </a:extLst>
                </a:hlinkClick>
              </a:rPr>
              <a:t>desilvr@clarkson.edu</a:t>
            </a:r>
            <a:endParaRPr sz="3886" u="sng">
              <a:solidFill>
                <a:srgbClr val="054B3E"/>
              </a:solidFill>
              <a:latin typeface="Oswald"/>
              <a:ea typeface="Oswald"/>
              <a:cs typeface="Oswald"/>
              <a:sym typeface="Oswald"/>
            </a:endParaRPr>
          </a:p>
          <a:p>
            <a:pPr indent="0" lvl="0" marL="0" rtl="0" algn="ctr">
              <a:lnSpc>
                <a:spcPct val="115000"/>
              </a:lnSpc>
              <a:spcBef>
                <a:spcPts val="320"/>
              </a:spcBef>
              <a:spcAft>
                <a:spcPts val="0"/>
              </a:spcAft>
              <a:buNone/>
            </a:pPr>
            <a:r>
              <a:t/>
            </a:r>
            <a:endParaRPr sz="1600" u="sng">
              <a:solidFill>
                <a:srgbClr val="054B3E"/>
              </a:solidFill>
              <a:latin typeface="Oswald"/>
              <a:ea typeface="Oswald"/>
              <a:cs typeface="Oswald"/>
              <a:sym typeface="Oswald"/>
            </a:endParaRPr>
          </a:p>
          <a:p>
            <a:pPr indent="0" lvl="0" marL="0" rtl="0" algn="ctr">
              <a:lnSpc>
                <a:spcPct val="115000"/>
              </a:lnSpc>
              <a:spcBef>
                <a:spcPts val="400"/>
              </a:spcBef>
              <a:spcAft>
                <a:spcPts val="0"/>
              </a:spcAft>
              <a:buNone/>
            </a:pPr>
            <a:r>
              <a:t/>
            </a:r>
            <a:endParaRPr b="1" sz="2000" u="sng">
              <a:solidFill>
                <a:srgbClr val="054B3E"/>
              </a:solidFill>
              <a:latin typeface="Oswald"/>
              <a:ea typeface="Oswald"/>
              <a:cs typeface="Oswald"/>
              <a:sym typeface="Oswald"/>
            </a:endParaRPr>
          </a:p>
          <a:p>
            <a:pPr indent="0" lvl="0" marL="0" rtl="0" algn="ctr">
              <a:lnSpc>
                <a:spcPct val="115000"/>
              </a:lnSpc>
              <a:spcBef>
                <a:spcPts val="400"/>
              </a:spcBef>
              <a:spcAft>
                <a:spcPts val="0"/>
              </a:spcAft>
              <a:buNone/>
            </a:pPr>
            <a:r>
              <a:t/>
            </a:r>
            <a:endParaRPr sz="2000" u="sng">
              <a:solidFill>
                <a:srgbClr val="054B3E"/>
              </a:solidFill>
              <a:latin typeface="Oswald"/>
              <a:ea typeface="Oswald"/>
              <a:cs typeface="Oswald"/>
              <a:sym typeface="Oswald"/>
            </a:endParaRPr>
          </a:p>
          <a:p>
            <a:pPr indent="0" lvl="0" marL="0" rtl="0" algn="ctr">
              <a:lnSpc>
                <a:spcPct val="115000"/>
              </a:lnSpc>
              <a:spcBef>
                <a:spcPts val="400"/>
              </a:spcBef>
              <a:spcAft>
                <a:spcPts val="0"/>
              </a:spcAft>
              <a:buNone/>
            </a:pPr>
            <a:r>
              <a:t/>
            </a:r>
            <a:endParaRPr sz="2000" u="sng">
              <a:solidFill>
                <a:srgbClr val="054B3E"/>
              </a:solidFill>
              <a:latin typeface="Oswald"/>
              <a:ea typeface="Oswald"/>
              <a:cs typeface="Oswald"/>
              <a:sym typeface="Oswald"/>
            </a:endParaRPr>
          </a:p>
          <a:p>
            <a:pPr indent="0" lvl="0" marL="0" rtl="0" algn="ctr">
              <a:lnSpc>
                <a:spcPct val="115000"/>
              </a:lnSpc>
              <a:spcBef>
                <a:spcPts val="400"/>
              </a:spcBef>
              <a:spcAft>
                <a:spcPts val="0"/>
              </a:spcAft>
              <a:buNone/>
            </a:pPr>
            <a:r>
              <a:t/>
            </a:r>
            <a:endParaRPr sz="2000" u="sng">
              <a:solidFill>
                <a:srgbClr val="054B3E"/>
              </a:solidFill>
              <a:latin typeface="Oswald"/>
              <a:ea typeface="Oswald"/>
              <a:cs typeface="Oswald"/>
              <a:sym typeface="Oswald"/>
            </a:endParaRPr>
          </a:p>
        </p:txBody>
      </p:sp>
      <p:sp>
        <p:nvSpPr>
          <p:cNvPr id="56" name="Google Shape;56;p13"/>
          <p:cNvSpPr/>
          <p:nvPr/>
        </p:nvSpPr>
        <p:spPr>
          <a:xfrm>
            <a:off x="0" y="4914900"/>
            <a:ext cx="9144000" cy="570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i="0" lang="en" sz="4400" u="none" cap="none" strike="noStrike">
                <a:solidFill>
                  <a:srgbClr val="FFFFFF"/>
                </a:solidFill>
                <a:latin typeface="Oswald"/>
                <a:ea typeface="Oswald"/>
                <a:cs typeface="Oswald"/>
                <a:sym typeface="Oswald"/>
              </a:rPr>
              <a:t>                            </a:t>
            </a:r>
            <a:endParaRPr>
              <a:latin typeface="Oswald"/>
              <a:ea typeface="Oswald"/>
              <a:cs typeface="Oswald"/>
              <a:sym typeface="Oswald"/>
            </a:endParaRPr>
          </a:p>
        </p:txBody>
      </p:sp>
      <p:sp>
        <p:nvSpPr>
          <p:cNvPr id="57" name="Google Shape;57;p13"/>
          <p:cNvSpPr/>
          <p:nvPr/>
        </p:nvSpPr>
        <p:spPr>
          <a:xfrm>
            <a:off x="0" y="4972050"/>
            <a:ext cx="9144000" cy="171600"/>
          </a:xfrm>
          <a:prstGeom prst="rect">
            <a:avLst/>
          </a:prstGeom>
          <a:solidFill>
            <a:srgbClr val="054B3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58" name="Google Shape;58;p13"/>
          <p:cNvSpPr/>
          <p:nvPr/>
        </p:nvSpPr>
        <p:spPr>
          <a:xfrm>
            <a:off x="0" y="0"/>
            <a:ext cx="9144000" cy="228600"/>
          </a:xfrm>
          <a:prstGeom prst="rect">
            <a:avLst/>
          </a:prstGeom>
          <a:solidFill>
            <a:srgbClr val="054B3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59" name="Google Shape;59;p13"/>
          <p:cNvSpPr/>
          <p:nvPr/>
        </p:nvSpPr>
        <p:spPr>
          <a:xfrm>
            <a:off x="0" y="228675"/>
            <a:ext cx="9144000" cy="570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pic>
        <p:nvPicPr>
          <p:cNvPr id="60" name="Google Shape;60;p13"/>
          <p:cNvPicPr preferRelativeResize="0"/>
          <p:nvPr/>
        </p:nvPicPr>
        <p:blipFill rotWithShape="1">
          <a:blip r:embed="rId4">
            <a:alphaModFix/>
          </a:blip>
          <a:srcRect b="19306" l="4514" r="71722" t="15381"/>
          <a:stretch/>
        </p:blipFill>
        <p:spPr>
          <a:xfrm>
            <a:off x="254400" y="485172"/>
            <a:ext cx="778450" cy="778449"/>
          </a:xfrm>
          <a:prstGeom prst="rect">
            <a:avLst/>
          </a:prstGeom>
          <a:noFill/>
          <a:ln>
            <a:noFill/>
          </a:ln>
        </p:spPr>
      </p:pic>
      <p:sp>
        <p:nvSpPr>
          <p:cNvPr id="61" name="Google Shape;61;p13"/>
          <p:cNvSpPr txBox="1"/>
          <p:nvPr/>
        </p:nvSpPr>
        <p:spPr>
          <a:xfrm>
            <a:off x="8472458" y="4196895"/>
            <a:ext cx="548700" cy="3543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5" name="Shape 65"/>
        <p:cNvGrpSpPr/>
        <p:nvPr/>
      </p:nvGrpSpPr>
      <p:grpSpPr>
        <a:xfrm>
          <a:off x="0" y="0"/>
          <a:ext cx="0" cy="0"/>
          <a:chOff x="0" y="0"/>
          <a:chExt cx="0" cy="0"/>
        </a:xfrm>
      </p:grpSpPr>
      <p:sp>
        <p:nvSpPr>
          <p:cNvPr id="66" name="Google Shape;66;p14"/>
          <p:cNvSpPr txBox="1"/>
          <p:nvPr/>
        </p:nvSpPr>
        <p:spPr>
          <a:xfrm>
            <a:off x="152400" y="266700"/>
            <a:ext cx="9144000" cy="534600"/>
          </a:xfrm>
          <a:prstGeom prst="rect">
            <a:avLst/>
          </a:prstGeom>
          <a:solidFill>
            <a:srgbClr val="054B3E"/>
          </a:solid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sz="2600">
                <a:solidFill>
                  <a:srgbClr val="FFFF00"/>
                </a:solidFill>
                <a:latin typeface="Oswald"/>
                <a:ea typeface="Oswald"/>
                <a:cs typeface="Oswald"/>
                <a:sym typeface="Oswald"/>
              </a:rPr>
              <a:t>Neural Network: AI-&gt;ML -&gt; DL</a:t>
            </a:r>
            <a:endParaRPr sz="2600">
              <a:solidFill>
                <a:srgbClr val="FFFF00"/>
              </a:solidFill>
              <a:latin typeface="Oswald"/>
              <a:ea typeface="Oswald"/>
              <a:cs typeface="Oswald"/>
              <a:sym typeface="Oswald"/>
            </a:endParaRPr>
          </a:p>
        </p:txBody>
      </p:sp>
      <p:sp>
        <p:nvSpPr>
          <p:cNvPr id="67" name="Google Shape;67;p14"/>
          <p:cNvSpPr/>
          <p:nvPr/>
        </p:nvSpPr>
        <p:spPr>
          <a:xfrm>
            <a:off x="152400" y="152400"/>
            <a:ext cx="9144000" cy="1143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400">
              <a:solidFill>
                <a:srgbClr val="FFFFFF"/>
              </a:solidFill>
              <a:latin typeface="Oswald"/>
              <a:ea typeface="Oswald"/>
              <a:cs typeface="Oswald"/>
              <a:sym typeface="Oswald"/>
            </a:endParaRPr>
          </a:p>
        </p:txBody>
      </p:sp>
      <p:sp>
        <p:nvSpPr>
          <p:cNvPr id="68" name="Google Shape;68;p14"/>
          <p:cNvSpPr/>
          <p:nvPr/>
        </p:nvSpPr>
        <p:spPr>
          <a:xfrm>
            <a:off x="152400" y="5067300"/>
            <a:ext cx="9144000" cy="570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69" name="Google Shape;69;p14"/>
          <p:cNvSpPr/>
          <p:nvPr/>
        </p:nvSpPr>
        <p:spPr>
          <a:xfrm>
            <a:off x="152400" y="5124450"/>
            <a:ext cx="9144000" cy="171600"/>
          </a:xfrm>
          <a:prstGeom prst="rect">
            <a:avLst/>
          </a:prstGeom>
          <a:solidFill>
            <a:srgbClr val="054B3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70" name="Google Shape;70;p14"/>
          <p:cNvSpPr txBox="1"/>
          <p:nvPr/>
        </p:nvSpPr>
        <p:spPr>
          <a:xfrm>
            <a:off x="8624858" y="4349295"/>
            <a:ext cx="548700" cy="3543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71" name="Google Shape;71;p14"/>
          <p:cNvSpPr txBox="1"/>
          <p:nvPr/>
        </p:nvSpPr>
        <p:spPr>
          <a:xfrm>
            <a:off x="4835850" y="1163300"/>
            <a:ext cx="3789000" cy="73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i="1" lang="en" sz="950">
                <a:solidFill>
                  <a:srgbClr val="262626"/>
                </a:solidFill>
              </a:rPr>
              <a:t>AI can be described as the effort to automate intellectual tasks normally performed by humans.</a:t>
            </a:r>
            <a:endParaRPr i="1" sz="950">
              <a:solidFill>
                <a:srgbClr val="262626"/>
              </a:solidFill>
            </a:endParaRPr>
          </a:p>
          <a:p>
            <a:pPr indent="0" lvl="0" marL="0" rtl="0" algn="l">
              <a:spcBef>
                <a:spcPts val="0"/>
              </a:spcBef>
              <a:spcAft>
                <a:spcPts val="0"/>
              </a:spcAft>
              <a:buNone/>
            </a:pPr>
            <a:r>
              <a:t/>
            </a:r>
            <a:endParaRPr/>
          </a:p>
        </p:txBody>
      </p:sp>
      <p:pic>
        <p:nvPicPr>
          <p:cNvPr id="72" name="Google Shape;72;p14"/>
          <p:cNvPicPr preferRelativeResize="0"/>
          <p:nvPr/>
        </p:nvPicPr>
        <p:blipFill>
          <a:blip r:embed="rId3">
            <a:alphaModFix/>
          </a:blip>
          <a:stretch>
            <a:fillRect/>
          </a:stretch>
        </p:blipFill>
        <p:spPr>
          <a:xfrm>
            <a:off x="335075" y="846025"/>
            <a:ext cx="3659825" cy="2672700"/>
          </a:xfrm>
          <a:prstGeom prst="rect">
            <a:avLst/>
          </a:prstGeom>
          <a:noFill/>
          <a:ln>
            <a:noFill/>
          </a:ln>
        </p:spPr>
      </p:pic>
      <p:pic>
        <p:nvPicPr>
          <p:cNvPr id="73" name="Google Shape;73;p14"/>
          <p:cNvPicPr preferRelativeResize="0"/>
          <p:nvPr/>
        </p:nvPicPr>
        <p:blipFill>
          <a:blip r:embed="rId4">
            <a:alphaModFix/>
          </a:blip>
          <a:stretch>
            <a:fillRect/>
          </a:stretch>
        </p:blipFill>
        <p:spPr>
          <a:xfrm>
            <a:off x="559201" y="3369550"/>
            <a:ext cx="2493599" cy="1697600"/>
          </a:xfrm>
          <a:prstGeom prst="rect">
            <a:avLst/>
          </a:prstGeom>
          <a:noFill/>
          <a:ln>
            <a:noFill/>
          </a:ln>
        </p:spPr>
      </p:pic>
      <p:sp>
        <p:nvSpPr>
          <p:cNvPr id="74" name="Google Shape;74;p14"/>
          <p:cNvSpPr txBox="1"/>
          <p:nvPr/>
        </p:nvSpPr>
        <p:spPr>
          <a:xfrm>
            <a:off x="4960825" y="1833175"/>
            <a:ext cx="3364800" cy="432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 sz="750">
                <a:solidFill>
                  <a:srgbClr val="262626"/>
                </a:solidFill>
              </a:rPr>
              <a:t>Machine Learning </a:t>
            </a:r>
            <a:r>
              <a:rPr i="1" lang="en" sz="750">
                <a:solidFill>
                  <a:srgbClr val="262626"/>
                </a:solidFill>
              </a:rPr>
              <a:t>finds statistical structure in these examples that eventually allows the system to come up with rules for automating the task.</a:t>
            </a:r>
            <a:endParaRPr i="1" sz="750">
              <a:solidFill>
                <a:srgbClr val="262626"/>
              </a:solidFill>
            </a:endParaRPr>
          </a:p>
        </p:txBody>
      </p:sp>
      <p:sp>
        <p:nvSpPr>
          <p:cNvPr id="75" name="Google Shape;75;p14"/>
          <p:cNvSpPr txBox="1"/>
          <p:nvPr/>
        </p:nvSpPr>
        <p:spPr>
          <a:xfrm>
            <a:off x="4653200" y="2432350"/>
            <a:ext cx="3000000" cy="831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 sz="750">
                <a:solidFill>
                  <a:srgbClr val="262626"/>
                </a:solidFill>
              </a:rPr>
              <a:t>the central problem in machine learning and deep learning is to meaningfully</a:t>
            </a:r>
            <a:endParaRPr i="1" sz="750">
              <a:solidFill>
                <a:srgbClr val="262626"/>
              </a:solidFill>
            </a:endParaRPr>
          </a:p>
          <a:p>
            <a:pPr indent="0" lvl="0" marL="0" rtl="0" algn="l">
              <a:lnSpc>
                <a:spcPct val="115000"/>
              </a:lnSpc>
              <a:spcBef>
                <a:spcPts val="0"/>
              </a:spcBef>
              <a:spcAft>
                <a:spcPts val="0"/>
              </a:spcAft>
              <a:buNone/>
            </a:pPr>
            <a:r>
              <a:rPr i="1" lang="en" sz="750">
                <a:solidFill>
                  <a:srgbClr val="262626"/>
                </a:solidFill>
              </a:rPr>
              <a:t>transform data: in other words, to learn useful representations of the input data at</a:t>
            </a:r>
            <a:endParaRPr i="1" sz="750">
              <a:solidFill>
                <a:srgbClr val="262626"/>
              </a:solidFill>
            </a:endParaRPr>
          </a:p>
          <a:p>
            <a:pPr indent="0" lvl="0" marL="0" rtl="0" algn="l">
              <a:lnSpc>
                <a:spcPct val="115000"/>
              </a:lnSpc>
              <a:spcBef>
                <a:spcPts val="0"/>
              </a:spcBef>
              <a:spcAft>
                <a:spcPts val="0"/>
              </a:spcAft>
              <a:buNone/>
            </a:pPr>
            <a:r>
              <a:rPr i="1" lang="en" sz="750">
                <a:solidFill>
                  <a:srgbClr val="262626"/>
                </a:solidFill>
              </a:rPr>
              <a:t>hand—representations that get us closer to the expected output.</a:t>
            </a:r>
            <a:endParaRPr i="1" sz="750">
              <a:solidFill>
                <a:srgbClr val="262626"/>
              </a:solidFill>
            </a:endParaRPr>
          </a:p>
        </p:txBody>
      </p:sp>
      <p:sp>
        <p:nvSpPr>
          <p:cNvPr id="76" name="Google Shape;76;p14"/>
          <p:cNvSpPr txBox="1"/>
          <p:nvPr/>
        </p:nvSpPr>
        <p:spPr>
          <a:xfrm>
            <a:off x="4653200" y="3429925"/>
            <a:ext cx="3000000" cy="963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 sz="750">
                <a:solidFill>
                  <a:srgbClr val="262626"/>
                </a:solidFill>
              </a:rPr>
              <a:t>Learning, in the context of machine</a:t>
            </a:r>
            <a:endParaRPr i="1" sz="750">
              <a:solidFill>
                <a:srgbClr val="262626"/>
              </a:solidFill>
            </a:endParaRPr>
          </a:p>
          <a:p>
            <a:pPr indent="0" lvl="0" marL="0" rtl="0" algn="l">
              <a:lnSpc>
                <a:spcPct val="115000"/>
              </a:lnSpc>
              <a:spcBef>
                <a:spcPts val="0"/>
              </a:spcBef>
              <a:spcAft>
                <a:spcPts val="0"/>
              </a:spcAft>
              <a:buNone/>
            </a:pPr>
            <a:r>
              <a:rPr i="1" lang="en" sz="750">
                <a:solidFill>
                  <a:srgbClr val="262626"/>
                </a:solidFill>
              </a:rPr>
              <a:t>learning, describes an automatic search process for data transformations that produce</a:t>
            </a:r>
            <a:endParaRPr i="1" sz="750">
              <a:solidFill>
                <a:srgbClr val="262626"/>
              </a:solidFill>
            </a:endParaRPr>
          </a:p>
          <a:p>
            <a:pPr indent="0" lvl="0" marL="0" rtl="0" algn="l">
              <a:lnSpc>
                <a:spcPct val="115000"/>
              </a:lnSpc>
              <a:spcBef>
                <a:spcPts val="0"/>
              </a:spcBef>
              <a:spcAft>
                <a:spcPts val="0"/>
              </a:spcAft>
              <a:buNone/>
            </a:pPr>
            <a:r>
              <a:rPr i="1" lang="en" sz="750">
                <a:solidFill>
                  <a:srgbClr val="262626"/>
                </a:solidFill>
              </a:rPr>
              <a:t>useful representations of some data, guided by some feedback signal—representations</a:t>
            </a:r>
            <a:endParaRPr i="1" sz="750">
              <a:solidFill>
                <a:srgbClr val="262626"/>
              </a:solidFill>
            </a:endParaRPr>
          </a:p>
          <a:p>
            <a:pPr indent="0" lvl="0" marL="0" rtl="0" algn="l">
              <a:lnSpc>
                <a:spcPct val="115000"/>
              </a:lnSpc>
              <a:spcBef>
                <a:spcPts val="0"/>
              </a:spcBef>
              <a:spcAft>
                <a:spcPts val="0"/>
              </a:spcAft>
              <a:buNone/>
            </a:pPr>
            <a:r>
              <a:rPr i="1" lang="en" sz="750">
                <a:solidFill>
                  <a:srgbClr val="262626"/>
                </a:solidFill>
              </a:rPr>
              <a:t>that are amenable to simpler rules solving the task at hand.</a:t>
            </a:r>
            <a:endParaRPr i="1" sz="750">
              <a:solidFill>
                <a:srgbClr val="262626"/>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0" name="Shape 80"/>
        <p:cNvGrpSpPr/>
        <p:nvPr/>
      </p:nvGrpSpPr>
      <p:grpSpPr>
        <a:xfrm>
          <a:off x="0" y="0"/>
          <a:ext cx="0" cy="0"/>
          <a:chOff x="0" y="0"/>
          <a:chExt cx="0" cy="0"/>
        </a:xfrm>
      </p:grpSpPr>
      <p:sp>
        <p:nvSpPr>
          <p:cNvPr id="81" name="Google Shape;81;p15"/>
          <p:cNvSpPr txBox="1"/>
          <p:nvPr/>
        </p:nvSpPr>
        <p:spPr>
          <a:xfrm>
            <a:off x="152400" y="266700"/>
            <a:ext cx="9144000" cy="534600"/>
          </a:xfrm>
          <a:prstGeom prst="rect">
            <a:avLst/>
          </a:prstGeom>
          <a:solidFill>
            <a:srgbClr val="054B3E"/>
          </a:solid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sz="2600">
                <a:solidFill>
                  <a:srgbClr val="FFFF00"/>
                </a:solidFill>
                <a:latin typeface="Oswald"/>
                <a:ea typeface="Oswald"/>
                <a:cs typeface="Oswald"/>
                <a:sym typeface="Oswald"/>
              </a:rPr>
              <a:t>Neural Network: ML vs DL</a:t>
            </a:r>
            <a:endParaRPr sz="2600">
              <a:solidFill>
                <a:srgbClr val="FFFF00"/>
              </a:solidFill>
              <a:latin typeface="Oswald"/>
              <a:ea typeface="Oswald"/>
              <a:cs typeface="Oswald"/>
              <a:sym typeface="Oswald"/>
            </a:endParaRPr>
          </a:p>
        </p:txBody>
      </p:sp>
      <p:sp>
        <p:nvSpPr>
          <p:cNvPr id="82" name="Google Shape;82;p15"/>
          <p:cNvSpPr/>
          <p:nvPr/>
        </p:nvSpPr>
        <p:spPr>
          <a:xfrm>
            <a:off x="152400" y="152400"/>
            <a:ext cx="9144000" cy="1143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400">
              <a:solidFill>
                <a:srgbClr val="FFFFFF"/>
              </a:solidFill>
              <a:latin typeface="Oswald"/>
              <a:ea typeface="Oswald"/>
              <a:cs typeface="Oswald"/>
              <a:sym typeface="Oswald"/>
            </a:endParaRPr>
          </a:p>
        </p:txBody>
      </p:sp>
      <p:sp>
        <p:nvSpPr>
          <p:cNvPr id="83" name="Google Shape;83;p15"/>
          <p:cNvSpPr/>
          <p:nvPr/>
        </p:nvSpPr>
        <p:spPr>
          <a:xfrm>
            <a:off x="152400" y="5067300"/>
            <a:ext cx="9144000" cy="570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84" name="Google Shape;84;p15"/>
          <p:cNvSpPr/>
          <p:nvPr/>
        </p:nvSpPr>
        <p:spPr>
          <a:xfrm>
            <a:off x="152400" y="5124450"/>
            <a:ext cx="9144000" cy="171600"/>
          </a:xfrm>
          <a:prstGeom prst="rect">
            <a:avLst/>
          </a:prstGeom>
          <a:solidFill>
            <a:srgbClr val="054B3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85" name="Google Shape;85;p15"/>
          <p:cNvSpPr txBox="1"/>
          <p:nvPr/>
        </p:nvSpPr>
        <p:spPr>
          <a:xfrm>
            <a:off x="8624858" y="4349295"/>
            <a:ext cx="548700" cy="3543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86" name="Google Shape;86;p15"/>
          <p:cNvSpPr txBox="1"/>
          <p:nvPr/>
        </p:nvSpPr>
        <p:spPr>
          <a:xfrm>
            <a:off x="692225" y="1771650"/>
            <a:ext cx="6758700" cy="56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 sz="750">
                <a:solidFill>
                  <a:srgbClr val="262626"/>
                </a:solidFill>
              </a:rPr>
              <a:t>Learning, in the context of machine learning, </a:t>
            </a:r>
            <a:endParaRPr i="1" sz="750">
              <a:solidFill>
                <a:srgbClr val="262626"/>
              </a:solidFill>
            </a:endParaRPr>
          </a:p>
          <a:p>
            <a:pPr indent="0" lvl="0" marL="0" rtl="0" algn="l">
              <a:lnSpc>
                <a:spcPct val="115000"/>
              </a:lnSpc>
              <a:spcBef>
                <a:spcPts val="0"/>
              </a:spcBef>
              <a:spcAft>
                <a:spcPts val="0"/>
              </a:spcAft>
              <a:buNone/>
            </a:pPr>
            <a:r>
              <a:rPr i="1" lang="en" sz="750">
                <a:solidFill>
                  <a:srgbClr val="262626"/>
                </a:solidFill>
              </a:rPr>
              <a:t>describes an automatic search process for data transformations that produce useful representations of some data, guided by some feedback signal—representations that are amenable to simpler rules solving the task at hand.</a:t>
            </a:r>
            <a:endParaRPr i="1" sz="750">
              <a:solidFill>
                <a:srgbClr val="262626"/>
              </a:solidFill>
            </a:endParaRPr>
          </a:p>
        </p:txBody>
      </p:sp>
      <p:sp>
        <p:nvSpPr>
          <p:cNvPr id="87" name="Google Shape;87;p15"/>
          <p:cNvSpPr txBox="1"/>
          <p:nvPr/>
        </p:nvSpPr>
        <p:spPr>
          <a:xfrm>
            <a:off x="528775" y="1086375"/>
            <a:ext cx="5893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Machine learning vs Deep Learning</a:t>
            </a:r>
            <a:endParaRPr/>
          </a:p>
        </p:txBody>
      </p:sp>
      <p:sp>
        <p:nvSpPr>
          <p:cNvPr id="88" name="Google Shape;88;p15"/>
          <p:cNvSpPr txBox="1"/>
          <p:nvPr/>
        </p:nvSpPr>
        <p:spPr>
          <a:xfrm>
            <a:off x="692225" y="2384250"/>
            <a:ext cx="5979900" cy="56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 sz="750">
                <a:solidFill>
                  <a:srgbClr val="262626"/>
                </a:solidFill>
              </a:rPr>
              <a:t>‘Deep’ in Deep Learning </a:t>
            </a:r>
            <a:r>
              <a:rPr i="1" lang="en" sz="750">
                <a:solidFill>
                  <a:srgbClr val="262626"/>
                </a:solidFill>
              </a:rPr>
              <a:t>stands for idea of successive layers of representations. </a:t>
            </a:r>
            <a:endParaRPr i="1" sz="750">
              <a:solidFill>
                <a:srgbClr val="262626"/>
              </a:solidFill>
            </a:endParaRPr>
          </a:p>
          <a:p>
            <a:pPr indent="0" lvl="0" marL="0" rtl="0" algn="l">
              <a:lnSpc>
                <a:spcPct val="115000"/>
              </a:lnSpc>
              <a:spcBef>
                <a:spcPts val="0"/>
              </a:spcBef>
              <a:spcAft>
                <a:spcPts val="0"/>
              </a:spcAft>
              <a:buNone/>
            </a:pPr>
            <a:r>
              <a:rPr i="1" lang="en" sz="750">
                <a:solidFill>
                  <a:srgbClr val="262626"/>
                </a:solidFill>
              </a:rPr>
              <a:t>How many layers contribute to a model of the data is called the depth of the model. Other appropriate names for the field could have been layered representations learning or hierarchical representations learning.</a:t>
            </a:r>
            <a:endParaRPr i="1" sz="750">
              <a:solidFill>
                <a:srgbClr val="262626"/>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6"/>
          <p:cNvSpPr txBox="1"/>
          <p:nvPr/>
        </p:nvSpPr>
        <p:spPr>
          <a:xfrm>
            <a:off x="152400" y="266700"/>
            <a:ext cx="9144000" cy="534600"/>
          </a:xfrm>
          <a:prstGeom prst="rect">
            <a:avLst/>
          </a:prstGeom>
          <a:solidFill>
            <a:srgbClr val="054B3E"/>
          </a:solid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sz="2600">
                <a:solidFill>
                  <a:srgbClr val="FFFF00"/>
                </a:solidFill>
                <a:latin typeface="Oswald"/>
                <a:ea typeface="Oswald"/>
                <a:cs typeface="Oswald"/>
                <a:sym typeface="Oswald"/>
              </a:rPr>
              <a:t>Neural Network : Definition</a:t>
            </a:r>
            <a:endParaRPr sz="2600">
              <a:solidFill>
                <a:srgbClr val="FFFF00"/>
              </a:solidFill>
              <a:latin typeface="Oswald"/>
              <a:ea typeface="Oswald"/>
              <a:cs typeface="Oswald"/>
              <a:sym typeface="Oswald"/>
            </a:endParaRPr>
          </a:p>
        </p:txBody>
      </p:sp>
      <p:sp>
        <p:nvSpPr>
          <p:cNvPr id="94" name="Google Shape;94;p16"/>
          <p:cNvSpPr/>
          <p:nvPr/>
        </p:nvSpPr>
        <p:spPr>
          <a:xfrm>
            <a:off x="152400" y="152400"/>
            <a:ext cx="9144000" cy="1143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400">
              <a:solidFill>
                <a:srgbClr val="FFFFFF"/>
              </a:solidFill>
              <a:latin typeface="Oswald"/>
              <a:ea typeface="Oswald"/>
              <a:cs typeface="Oswald"/>
              <a:sym typeface="Oswald"/>
            </a:endParaRPr>
          </a:p>
        </p:txBody>
      </p:sp>
      <p:sp>
        <p:nvSpPr>
          <p:cNvPr id="95" name="Google Shape;95;p16"/>
          <p:cNvSpPr/>
          <p:nvPr/>
        </p:nvSpPr>
        <p:spPr>
          <a:xfrm>
            <a:off x="152400" y="5067300"/>
            <a:ext cx="9144000" cy="570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96" name="Google Shape;96;p16"/>
          <p:cNvSpPr/>
          <p:nvPr/>
        </p:nvSpPr>
        <p:spPr>
          <a:xfrm>
            <a:off x="152400" y="5124450"/>
            <a:ext cx="9144000" cy="171600"/>
          </a:xfrm>
          <a:prstGeom prst="rect">
            <a:avLst/>
          </a:prstGeom>
          <a:solidFill>
            <a:srgbClr val="054B3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97" name="Google Shape;97;p16"/>
          <p:cNvSpPr txBox="1"/>
          <p:nvPr/>
        </p:nvSpPr>
        <p:spPr>
          <a:xfrm>
            <a:off x="8624858" y="4349295"/>
            <a:ext cx="548700" cy="3543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pic>
        <p:nvPicPr>
          <p:cNvPr id="98" name="Google Shape;98;p16"/>
          <p:cNvPicPr preferRelativeResize="0"/>
          <p:nvPr/>
        </p:nvPicPr>
        <p:blipFill>
          <a:blip r:embed="rId3">
            <a:alphaModFix/>
          </a:blip>
          <a:stretch>
            <a:fillRect/>
          </a:stretch>
        </p:blipFill>
        <p:spPr>
          <a:xfrm>
            <a:off x="5001598" y="948350"/>
            <a:ext cx="4142404" cy="2654499"/>
          </a:xfrm>
          <a:prstGeom prst="rect">
            <a:avLst/>
          </a:prstGeom>
          <a:noFill/>
          <a:ln>
            <a:noFill/>
          </a:ln>
        </p:spPr>
      </p:pic>
      <p:pic>
        <p:nvPicPr>
          <p:cNvPr id="99" name="Google Shape;99;p16" title="[0,0,0,&quot;https://latex-staging.easygenerator.com/eqneditor/editor.php?latex=x%5E%7B(1)%7D%2Cx%5E%7B(2)%7D#0&quot;]"/>
          <p:cNvPicPr preferRelativeResize="0"/>
          <p:nvPr/>
        </p:nvPicPr>
        <p:blipFill>
          <a:blip r:embed="rId4">
            <a:alphaModFix/>
          </a:blip>
          <a:stretch>
            <a:fillRect/>
          </a:stretch>
        </p:blipFill>
        <p:spPr>
          <a:xfrm>
            <a:off x="5458100" y="3623519"/>
            <a:ext cx="668419" cy="149167"/>
          </a:xfrm>
          <a:prstGeom prst="rect">
            <a:avLst/>
          </a:prstGeom>
          <a:noFill/>
          <a:ln>
            <a:noFill/>
          </a:ln>
        </p:spPr>
      </p:pic>
      <p:sp>
        <p:nvSpPr>
          <p:cNvPr id="100" name="Google Shape;100;p16"/>
          <p:cNvSpPr txBox="1"/>
          <p:nvPr/>
        </p:nvSpPr>
        <p:spPr>
          <a:xfrm>
            <a:off x="6202245" y="3486688"/>
            <a:ext cx="114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Times New Roman"/>
                <a:ea typeface="Times New Roman"/>
                <a:cs typeface="Times New Roman"/>
                <a:sym typeface="Times New Roman"/>
              </a:rPr>
              <a:t>: </a:t>
            </a:r>
            <a:r>
              <a:rPr lang="en" sz="1300">
                <a:latin typeface="Times New Roman"/>
                <a:ea typeface="Times New Roman"/>
                <a:cs typeface="Times New Roman"/>
                <a:sym typeface="Times New Roman"/>
              </a:rPr>
              <a:t>Layers</a:t>
            </a:r>
            <a:endParaRPr sz="1300">
              <a:latin typeface="Times New Roman"/>
              <a:ea typeface="Times New Roman"/>
              <a:cs typeface="Times New Roman"/>
              <a:sym typeface="Times New Roman"/>
            </a:endParaRPr>
          </a:p>
        </p:txBody>
      </p:sp>
      <p:sp>
        <p:nvSpPr>
          <p:cNvPr id="101" name="Google Shape;101;p16"/>
          <p:cNvSpPr txBox="1"/>
          <p:nvPr/>
        </p:nvSpPr>
        <p:spPr>
          <a:xfrm>
            <a:off x="6202245" y="3694580"/>
            <a:ext cx="114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r>
              <a:rPr lang="en" sz="1300">
                <a:latin typeface="Times New Roman"/>
                <a:ea typeface="Times New Roman"/>
                <a:cs typeface="Times New Roman"/>
                <a:sym typeface="Times New Roman"/>
              </a:rPr>
              <a:t>mappings</a:t>
            </a:r>
            <a:endParaRPr sz="1300">
              <a:latin typeface="Times New Roman"/>
              <a:ea typeface="Times New Roman"/>
              <a:cs typeface="Times New Roman"/>
              <a:sym typeface="Times New Roman"/>
            </a:endParaRPr>
          </a:p>
        </p:txBody>
      </p:sp>
      <p:pic>
        <p:nvPicPr>
          <p:cNvPr id="102" name="Google Shape;102;p16" title="[0,0,0,&quot;https://latex-staging.easygenerator.com/eqneditor/editor.php?latex=A_1%3A%20A_3#0&quot;]"/>
          <p:cNvPicPr preferRelativeResize="0"/>
          <p:nvPr/>
        </p:nvPicPr>
        <p:blipFill>
          <a:blip r:embed="rId5">
            <a:alphaModFix/>
          </a:blip>
          <a:stretch>
            <a:fillRect/>
          </a:stretch>
        </p:blipFill>
        <p:spPr>
          <a:xfrm>
            <a:off x="5462234" y="3823092"/>
            <a:ext cx="600547" cy="176394"/>
          </a:xfrm>
          <a:prstGeom prst="rect">
            <a:avLst/>
          </a:prstGeom>
          <a:noFill/>
          <a:ln>
            <a:noFill/>
          </a:ln>
        </p:spPr>
      </p:pic>
      <p:pic>
        <p:nvPicPr>
          <p:cNvPr id="103" name="Google Shape;103;p16" title="[0,0,0,&quot;https://latex-staging.easygenerator.com/eqneditor/editor.php?latex=x%5E%7B(i%2B1)%7D%3DA_ix%5E%7B(i)%7D#0&quot;]"/>
          <p:cNvPicPr preferRelativeResize="0"/>
          <p:nvPr/>
        </p:nvPicPr>
        <p:blipFill>
          <a:blip r:embed="rId6">
            <a:alphaModFix/>
          </a:blip>
          <a:stretch>
            <a:fillRect/>
          </a:stretch>
        </p:blipFill>
        <p:spPr>
          <a:xfrm>
            <a:off x="5368975" y="4520800"/>
            <a:ext cx="1077388" cy="171600"/>
          </a:xfrm>
          <a:prstGeom prst="rect">
            <a:avLst/>
          </a:prstGeom>
          <a:noFill/>
          <a:ln>
            <a:noFill/>
          </a:ln>
        </p:spPr>
      </p:pic>
      <p:sp>
        <p:nvSpPr>
          <p:cNvPr id="104" name="Google Shape;104;p16"/>
          <p:cNvSpPr txBox="1"/>
          <p:nvPr/>
        </p:nvSpPr>
        <p:spPr>
          <a:xfrm>
            <a:off x="5296975" y="4186536"/>
            <a:ext cx="3161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Times New Roman"/>
                <a:ea typeface="Times New Roman"/>
                <a:cs typeface="Times New Roman"/>
                <a:sym typeface="Times New Roman"/>
              </a:rPr>
              <a:t>Mapping can be linear or nonlinear</a:t>
            </a:r>
            <a:endParaRPr sz="1100">
              <a:latin typeface="Times New Roman"/>
              <a:ea typeface="Times New Roman"/>
              <a:cs typeface="Times New Roman"/>
              <a:sym typeface="Times New Roman"/>
            </a:endParaRPr>
          </a:p>
        </p:txBody>
      </p:sp>
      <p:pic>
        <p:nvPicPr>
          <p:cNvPr id="105" name="Google Shape;105;p16" title="[0,0,0,&quot;https://latex-staging.easygenerator.com/eqneditor/editor.php?latex=%20y%20%3D%20A_M%20A_%7BM-1%7D%20%5Cdots%20A_2%20A_1%20x%20#0&quot;]"/>
          <p:cNvPicPr preferRelativeResize="0"/>
          <p:nvPr/>
        </p:nvPicPr>
        <p:blipFill>
          <a:blip r:embed="rId7">
            <a:alphaModFix/>
          </a:blip>
          <a:stretch>
            <a:fillRect/>
          </a:stretch>
        </p:blipFill>
        <p:spPr>
          <a:xfrm>
            <a:off x="5368971" y="4755503"/>
            <a:ext cx="1431637" cy="134744"/>
          </a:xfrm>
          <a:prstGeom prst="rect">
            <a:avLst/>
          </a:prstGeom>
          <a:noFill/>
          <a:ln>
            <a:noFill/>
          </a:ln>
        </p:spPr>
      </p:pic>
      <p:sp>
        <p:nvSpPr>
          <p:cNvPr id="106" name="Google Shape;106;p16"/>
          <p:cNvSpPr txBox="1"/>
          <p:nvPr/>
        </p:nvSpPr>
        <p:spPr>
          <a:xfrm>
            <a:off x="369775" y="1337475"/>
            <a:ext cx="47298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A neural network is </a:t>
            </a:r>
            <a:r>
              <a:rPr b="1" lang="en">
                <a:solidFill>
                  <a:schemeClr val="dk1"/>
                </a:solidFill>
                <a:latin typeface="Times New Roman"/>
                <a:ea typeface="Times New Roman"/>
                <a:cs typeface="Times New Roman"/>
                <a:sym typeface="Times New Roman"/>
              </a:rPr>
              <a:t>a method in artificial intelligence that teaches computers to process data in a way that is inspired by the human brain</a:t>
            </a:r>
            <a:r>
              <a:rPr lang="en">
                <a:solidFill>
                  <a:schemeClr val="dk1"/>
                </a:solidFill>
                <a:latin typeface="Times New Roman"/>
                <a:ea typeface="Times New Roman"/>
                <a:cs typeface="Times New Roman"/>
                <a:sym typeface="Times New Roman"/>
              </a:rPr>
              <a:t>.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It is a type of machine learning process, called deep learning, that uses interconnected nodes or neurons in a layered structure that resembles the human brain.</a:t>
            </a:r>
            <a:endParaRPr sz="1600">
              <a:solidFill>
                <a:schemeClr val="dk1"/>
              </a:solidFill>
              <a:latin typeface="Times New Roman"/>
              <a:ea typeface="Times New Roman"/>
              <a:cs typeface="Times New Roman"/>
              <a:sym typeface="Times New Roman"/>
            </a:endParaRPr>
          </a:p>
        </p:txBody>
      </p:sp>
      <p:pic>
        <p:nvPicPr>
          <p:cNvPr id="107" name="Google Shape;107;p16" title="[0,0,0,&quot;https://www.codecogs.com/eqnedit.php?latex=w%5E%7B(k)%7D_%7Bij%7D#0&quot;]"/>
          <p:cNvPicPr preferRelativeResize="0"/>
          <p:nvPr/>
        </p:nvPicPr>
        <p:blipFill>
          <a:blip r:embed="rId8">
            <a:alphaModFix/>
          </a:blip>
          <a:stretch>
            <a:fillRect/>
          </a:stretch>
        </p:blipFill>
        <p:spPr>
          <a:xfrm>
            <a:off x="5783330" y="4049977"/>
            <a:ext cx="232168" cy="208375"/>
          </a:xfrm>
          <a:prstGeom prst="rect">
            <a:avLst/>
          </a:prstGeom>
          <a:noFill/>
          <a:ln>
            <a:noFill/>
          </a:ln>
        </p:spPr>
      </p:pic>
      <p:pic>
        <p:nvPicPr>
          <p:cNvPr id="108" name="Google Shape;108;p16" title="[0,0,0,&quot;https://www.codecogs.com/eqnedit.php?latex=%5Ctext%7BWeights%20of%20%7DA_k%20%5Ctext%7B%20th%20mapping%7D%20#0&quot;]"/>
          <p:cNvPicPr preferRelativeResize="0"/>
          <p:nvPr/>
        </p:nvPicPr>
        <p:blipFill>
          <a:blip r:embed="rId9">
            <a:alphaModFix/>
          </a:blip>
          <a:stretch>
            <a:fillRect/>
          </a:stretch>
        </p:blipFill>
        <p:spPr>
          <a:xfrm>
            <a:off x="6349600" y="4072237"/>
            <a:ext cx="1815375" cy="149031"/>
          </a:xfrm>
          <a:prstGeom prst="rect">
            <a:avLst/>
          </a:prstGeom>
          <a:noFill/>
          <a:ln>
            <a:noFill/>
          </a:ln>
        </p:spPr>
      </p:pic>
      <p:sp>
        <p:nvSpPr>
          <p:cNvPr id="109" name="Google Shape;109;p16"/>
          <p:cNvSpPr txBox="1"/>
          <p:nvPr/>
        </p:nvSpPr>
        <p:spPr>
          <a:xfrm>
            <a:off x="6202250" y="3946650"/>
            <a:ext cx="27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7"/>
          <p:cNvSpPr txBox="1"/>
          <p:nvPr/>
        </p:nvSpPr>
        <p:spPr>
          <a:xfrm>
            <a:off x="152400" y="266700"/>
            <a:ext cx="9144000" cy="534600"/>
          </a:xfrm>
          <a:prstGeom prst="rect">
            <a:avLst/>
          </a:prstGeom>
          <a:solidFill>
            <a:srgbClr val="054B3E"/>
          </a:solid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sz="2600">
                <a:solidFill>
                  <a:srgbClr val="FFFF00"/>
                </a:solidFill>
                <a:latin typeface="Oswald"/>
                <a:ea typeface="Oswald"/>
                <a:cs typeface="Oswald"/>
                <a:sym typeface="Oswald"/>
              </a:rPr>
              <a:t>Simple </a:t>
            </a:r>
            <a:r>
              <a:rPr lang="en" sz="2600">
                <a:solidFill>
                  <a:srgbClr val="FFFF00"/>
                </a:solidFill>
                <a:latin typeface="Oswald"/>
                <a:ea typeface="Oswald"/>
                <a:cs typeface="Oswald"/>
                <a:sym typeface="Oswald"/>
              </a:rPr>
              <a:t>Neural network</a:t>
            </a:r>
            <a:endParaRPr sz="2600">
              <a:solidFill>
                <a:schemeClr val="accent6"/>
              </a:solidFill>
              <a:latin typeface="Oswald"/>
              <a:ea typeface="Oswald"/>
              <a:cs typeface="Oswald"/>
              <a:sym typeface="Oswald"/>
            </a:endParaRPr>
          </a:p>
        </p:txBody>
      </p:sp>
      <p:sp>
        <p:nvSpPr>
          <p:cNvPr id="115" name="Google Shape;115;p17"/>
          <p:cNvSpPr/>
          <p:nvPr/>
        </p:nvSpPr>
        <p:spPr>
          <a:xfrm>
            <a:off x="152400" y="152400"/>
            <a:ext cx="9144000" cy="1143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400">
              <a:solidFill>
                <a:srgbClr val="FFFFFF"/>
              </a:solidFill>
              <a:latin typeface="Oswald"/>
              <a:ea typeface="Oswald"/>
              <a:cs typeface="Oswald"/>
              <a:sym typeface="Oswald"/>
            </a:endParaRPr>
          </a:p>
        </p:txBody>
      </p:sp>
      <p:sp>
        <p:nvSpPr>
          <p:cNvPr id="116" name="Google Shape;116;p17"/>
          <p:cNvSpPr/>
          <p:nvPr/>
        </p:nvSpPr>
        <p:spPr>
          <a:xfrm>
            <a:off x="210375" y="5037238"/>
            <a:ext cx="9144000" cy="570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117" name="Google Shape;117;p17"/>
          <p:cNvSpPr/>
          <p:nvPr/>
        </p:nvSpPr>
        <p:spPr>
          <a:xfrm>
            <a:off x="110750" y="4979950"/>
            <a:ext cx="9144000" cy="171600"/>
          </a:xfrm>
          <a:prstGeom prst="rect">
            <a:avLst/>
          </a:prstGeom>
          <a:solidFill>
            <a:srgbClr val="054B3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118" name="Google Shape;118;p17"/>
          <p:cNvSpPr/>
          <p:nvPr/>
        </p:nvSpPr>
        <p:spPr>
          <a:xfrm>
            <a:off x="152400" y="4979938"/>
            <a:ext cx="9144000" cy="570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119" name="Google Shape;119;p17"/>
          <p:cNvSpPr txBox="1"/>
          <p:nvPr/>
        </p:nvSpPr>
        <p:spPr>
          <a:xfrm>
            <a:off x="392700" y="1051300"/>
            <a:ext cx="78891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313B3F"/>
                </a:solidFill>
                <a:highlight>
                  <a:srgbClr val="FFFFFF"/>
                </a:highlight>
                <a:latin typeface="Georgia"/>
                <a:ea typeface="Georgia"/>
                <a:cs typeface="Georgia"/>
                <a:sym typeface="Georgia"/>
              </a:rPr>
              <a:t>The simplest neural network: one input neuron, one hidden layer neuron, and one output neuron.</a:t>
            </a:r>
            <a:endParaRPr/>
          </a:p>
        </p:txBody>
      </p:sp>
      <p:sp>
        <p:nvSpPr>
          <p:cNvPr id="120" name="Google Shape;120;p17"/>
          <p:cNvSpPr/>
          <p:nvPr/>
        </p:nvSpPr>
        <p:spPr>
          <a:xfrm>
            <a:off x="978250" y="1947800"/>
            <a:ext cx="597300" cy="575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x</a:t>
            </a:r>
            <a:endParaRPr>
              <a:latin typeface="Times New Roman"/>
              <a:ea typeface="Times New Roman"/>
              <a:cs typeface="Times New Roman"/>
              <a:sym typeface="Times New Roman"/>
            </a:endParaRPr>
          </a:p>
        </p:txBody>
      </p:sp>
      <p:sp>
        <p:nvSpPr>
          <p:cNvPr id="121" name="Google Shape;121;p17"/>
          <p:cNvSpPr/>
          <p:nvPr/>
        </p:nvSpPr>
        <p:spPr>
          <a:xfrm>
            <a:off x="2258200" y="1947800"/>
            <a:ext cx="597300" cy="575100"/>
          </a:xfrm>
          <a:prstGeom prst="ellipse">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122" name="Google Shape;122;p17"/>
          <p:cNvSpPr/>
          <p:nvPr/>
        </p:nvSpPr>
        <p:spPr>
          <a:xfrm>
            <a:off x="3630825" y="1947800"/>
            <a:ext cx="597300" cy="575100"/>
          </a:xfrm>
          <a:prstGeom prst="ellipse">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cxnSp>
        <p:nvCxnSpPr>
          <p:cNvPr id="123" name="Google Shape;123;p17"/>
          <p:cNvCxnSpPr>
            <a:stCxn id="120" idx="6"/>
            <a:endCxn id="121" idx="2"/>
          </p:cNvCxnSpPr>
          <p:nvPr/>
        </p:nvCxnSpPr>
        <p:spPr>
          <a:xfrm>
            <a:off x="1575550" y="2235350"/>
            <a:ext cx="682800" cy="0"/>
          </a:xfrm>
          <a:prstGeom prst="straightConnector1">
            <a:avLst/>
          </a:prstGeom>
          <a:noFill/>
          <a:ln cap="flat" cmpd="sng" w="9525">
            <a:solidFill>
              <a:srgbClr val="FF9900"/>
            </a:solidFill>
            <a:prstDash val="solid"/>
            <a:round/>
            <a:headEnd len="med" w="med" type="none"/>
            <a:tailEnd len="med" w="med" type="triangle"/>
          </a:ln>
        </p:spPr>
      </p:cxnSp>
      <p:cxnSp>
        <p:nvCxnSpPr>
          <p:cNvPr id="124" name="Google Shape;124;p17"/>
          <p:cNvCxnSpPr>
            <a:stCxn id="121" idx="6"/>
            <a:endCxn id="122" idx="2"/>
          </p:cNvCxnSpPr>
          <p:nvPr/>
        </p:nvCxnSpPr>
        <p:spPr>
          <a:xfrm>
            <a:off x="2855500" y="2235350"/>
            <a:ext cx="775200" cy="0"/>
          </a:xfrm>
          <a:prstGeom prst="straightConnector1">
            <a:avLst/>
          </a:prstGeom>
          <a:noFill/>
          <a:ln cap="flat" cmpd="sng" w="9525">
            <a:solidFill>
              <a:srgbClr val="6AA84F"/>
            </a:solidFill>
            <a:prstDash val="solid"/>
            <a:round/>
            <a:headEnd len="med" w="med" type="none"/>
            <a:tailEnd len="med" w="med" type="triangle"/>
          </a:ln>
        </p:spPr>
      </p:cxnSp>
      <p:pic>
        <p:nvPicPr>
          <p:cNvPr id="125" name="Google Shape;125;p17" title="[0,0,0,&quot;https://www.codecogs.com/eqnedit.php?latex=w_1#0&quot;]"/>
          <p:cNvPicPr preferRelativeResize="0"/>
          <p:nvPr/>
        </p:nvPicPr>
        <p:blipFill>
          <a:blip r:embed="rId3">
            <a:alphaModFix/>
          </a:blip>
          <a:stretch>
            <a:fillRect/>
          </a:stretch>
        </p:blipFill>
        <p:spPr>
          <a:xfrm>
            <a:off x="1744425" y="2032200"/>
            <a:ext cx="189415" cy="114300"/>
          </a:xfrm>
          <a:prstGeom prst="rect">
            <a:avLst/>
          </a:prstGeom>
          <a:noFill/>
          <a:ln>
            <a:noFill/>
          </a:ln>
        </p:spPr>
      </p:pic>
      <p:pic>
        <p:nvPicPr>
          <p:cNvPr id="126" name="Google Shape;126;p17" title="[0,0,0,&quot;https://www.codecogs.com/eqnedit.php?latex=w_2#0&quot;]"/>
          <p:cNvPicPr preferRelativeResize="0"/>
          <p:nvPr/>
        </p:nvPicPr>
        <p:blipFill>
          <a:blip r:embed="rId4">
            <a:alphaModFix/>
          </a:blip>
          <a:stretch>
            <a:fillRect/>
          </a:stretch>
        </p:blipFill>
        <p:spPr>
          <a:xfrm>
            <a:off x="3046874" y="2046498"/>
            <a:ext cx="189425" cy="112378"/>
          </a:xfrm>
          <a:prstGeom prst="rect">
            <a:avLst/>
          </a:prstGeom>
          <a:noFill/>
          <a:ln>
            <a:noFill/>
          </a:ln>
        </p:spPr>
      </p:pic>
      <p:pic>
        <p:nvPicPr>
          <p:cNvPr id="127" name="Google Shape;127;p17" title="[0,0,0,&quot;https://www.codecogs.com/eqnedit.php?latex=a%5E%7B(2)%7D#0&quot;]"/>
          <p:cNvPicPr preferRelativeResize="0"/>
          <p:nvPr/>
        </p:nvPicPr>
        <p:blipFill>
          <a:blip r:embed="rId5">
            <a:alphaModFix/>
          </a:blip>
          <a:stretch>
            <a:fillRect/>
          </a:stretch>
        </p:blipFill>
        <p:spPr>
          <a:xfrm>
            <a:off x="2462224" y="2130050"/>
            <a:ext cx="245138" cy="171600"/>
          </a:xfrm>
          <a:prstGeom prst="rect">
            <a:avLst/>
          </a:prstGeom>
          <a:noFill/>
          <a:ln>
            <a:noFill/>
          </a:ln>
        </p:spPr>
      </p:pic>
      <p:pic>
        <p:nvPicPr>
          <p:cNvPr id="128" name="Google Shape;128;p17" title="[0,0,0,&quot;https://www.codecogs.com/eqnedit.php?latex=a%5E%7B(3)%7D#0&quot;]"/>
          <p:cNvPicPr preferRelativeResize="0"/>
          <p:nvPr/>
        </p:nvPicPr>
        <p:blipFill>
          <a:blip r:embed="rId6">
            <a:alphaModFix/>
          </a:blip>
          <a:stretch>
            <a:fillRect/>
          </a:stretch>
        </p:blipFill>
        <p:spPr>
          <a:xfrm>
            <a:off x="3806900" y="2130049"/>
            <a:ext cx="245150" cy="171611"/>
          </a:xfrm>
          <a:prstGeom prst="rect">
            <a:avLst/>
          </a:prstGeom>
          <a:noFill/>
          <a:ln>
            <a:noFill/>
          </a:ln>
        </p:spPr>
      </p:pic>
      <p:pic>
        <p:nvPicPr>
          <p:cNvPr id="129" name="Google Shape;129;p17" title="[0,0,0,&quot;https://www.codecogs.com/eqnedit.php?latex=a%5E%7B(3)%7D%20%3D%20g(w_1a%5E%7B(2)%7D)#0&quot;]"/>
          <p:cNvPicPr preferRelativeResize="0"/>
          <p:nvPr/>
        </p:nvPicPr>
        <p:blipFill>
          <a:blip r:embed="rId7">
            <a:alphaModFix/>
          </a:blip>
          <a:stretch>
            <a:fillRect/>
          </a:stretch>
        </p:blipFill>
        <p:spPr>
          <a:xfrm>
            <a:off x="3456350" y="2566175"/>
            <a:ext cx="946251" cy="171600"/>
          </a:xfrm>
          <a:prstGeom prst="rect">
            <a:avLst/>
          </a:prstGeom>
          <a:noFill/>
          <a:ln>
            <a:noFill/>
          </a:ln>
        </p:spPr>
      </p:pic>
      <p:pic>
        <p:nvPicPr>
          <p:cNvPr id="130" name="Google Shape;130;p17" title="[0,0,0,&quot;https://www.codecogs.com/eqnedit.php?latex=a%5E%7B(2)%7D%20%3D%20g(w_1x)#0&quot;]"/>
          <p:cNvPicPr preferRelativeResize="0"/>
          <p:nvPr/>
        </p:nvPicPr>
        <p:blipFill>
          <a:blip r:embed="rId8">
            <a:alphaModFix/>
          </a:blip>
          <a:stretch>
            <a:fillRect/>
          </a:stretch>
        </p:blipFill>
        <p:spPr>
          <a:xfrm>
            <a:off x="2082875" y="2571750"/>
            <a:ext cx="813875" cy="171600"/>
          </a:xfrm>
          <a:prstGeom prst="rect">
            <a:avLst/>
          </a:prstGeom>
          <a:noFill/>
          <a:ln>
            <a:noFill/>
          </a:ln>
        </p:spPr>
      </p:pic>
      <p:sp>
        <p:nvSpPr>
          <p:cNvPr id="131" name="Google Shape;131;p17"/>
          <p:cNvSpPr/>
          <p:nvPr/>
        </p:nvSpPr>
        <p:spPr>
          <a:xfrm>
            <a:off x="978250" y="3608525"/>
            <a:ext cx="597300" cy="575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x</a:t>
            </a:r>
            <a:endParaRPr>
              <a:latin typeface="Times New Roman"/>
              <a:ea typeface="Times New Roman"/>
              <a:cs typeface="Times New Roman"/>
              <a:sym typeface="Times New Roman"/>
            </a:endParaRPr>
          </a:p>
        </p:txBody>
      </p:sp>
      <p:sp>
        <p:nvSpPr>
          <p:cNvPr id="132" name="Google Shape;132;p17"/>
          <p:cNvSpPr/>
          <p:nvPr/>
        </p:nvSpPr>
        <p:spPr>
          <a:xfrm>
            <a:off x="2536000" y="3432875"/>
            <a:ext cx="2628900" cy="926400"/>
          </a:xfrm>
          <a:prstGeom prst="roundRect">
            <a:avLst>
              <a:gd fmla="val 16667" name="adj"/>
            </a:avLst>
          </a:prstGeom>
          <a:solidFill>
            <a:srgbClr val="F6B26B"/>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300">
                <a:latin typeface="Times New Roman"/>
                <a:ea typeface="Times New Roman"/>
                <a:cs typeface="Times New Roman"/>
                <a:sym typeface="Times New Roman"/>
              </a:rPr>
              <a:t>l</a:t>
            </a:r>
            <a:r>
              <a:rPr lang="en" sz="1300">
                <a:latin typeface="Times New Roman"/>
                <a:ea typeface="Times New Roman"/>
                <a:cs typeface="Times New Roman"/>
                <a:sym typeface="Times New Roman"/>
              </a:rPr>
              <a:t>inear combination         activation</a:t>
            </a:r>
            <a:endParaRPr sz="1300">
              <a:latin typeface="Times New Roman"/>
              <a:ea typeface="Times New Roman"/>
              <a:cs typeface="Times New Roman"/>
              <a:sym typeface="Times New Roman"/>
            </a:endParaRPr>
          </a:p>
        </p:txBody>
      </p:sp>
      <p:cxnSp>
        <p:nvCxnSpPr>
          <p:cNvPr id="133" name="Google Shape;133;p17"/>
          <p:cNvCxnSpPr>
            <a:stCxn id="131" idx="6"/>
            <a:endCxn id="132" idx="1"/>
          </p:cNvCxnSpPr>
          <p:nvPr/>
        </p:nvCxnSpPr>
        <p:spPr>
          <a:xfrm>
            <a:off x="1575550" y="3896075"/>
            <a:ext cx="960600" cy="0"/>
          </a:xfrm>
          <a:prstGeom prst="straightConnector1">
            <a:avLst/>
          </a:prstGeom>
          <a:noFill/>
          <a:ln cap="flat" cmpd="sng" w="9525">
            <a:solidFill>
              <a:srgbClr val="FF9900"/>
            </a:solidFill>
            <a:prstDash val="solid"/>
            <a:round/>
            <a:headEnd len="med" w="med" type="none"/>
            <a:tailEnd len="med" w="med" type="triangle"/>
          </a:ln>
        </p:spPr>
      </p:cxnSp>
      <p:cxnSp>
        <p:nvCxnSpPr>
          <p:cNvPr id="134" name="Google Shape;134;p17"/>
          <p:cNvCxnSpPr>
            <a:stCxn id="132" idx="3"/>
            <a:endCxn id="135" idx="1"/>
          </p:cNvCxnSpPr>
          <p:nvPr/>
        </p:nvCxnSpPr>
        <p:spPr>
          <a:xfrm>
            <a:off x="5164900" y="3896075"/>
            <a:ext cx="907200" cy="0"/>
          </a:xfrm>
          <a:prstGeom prst="straightConnector1">
            <a:avLst/>
          </a:prstGeom>
          <a:noFill/>
          <a:ln cap="flat" cmpd="sng" w="9525">
            <a:solidFill>
              <a:srgbClr val="93C47D"/>
            </a:solidFill>
            <a:prstDash val="solid"/>
            <a:round/>
            <a:headEnd len="med" w="med" type="none"/>
            <a:tailEnd len="med" w="med" type="triangle"/>
          </a:ln>
        </p:spPr>
      </p:cxnSp>
      <p:sp>
        <p:nvSpPr>
          <p:cNvPr id="136" name="Google Shape;136;p17"/>
          <p:cNvSpPr/>
          <p:nvPr/>
        </p:nvSpPr>
        <p:spPr>
          <a:xfrm>
            <a:off x="6072100" y="3432875"/>
            <a:ext cx="2628900" cy="926400"/>
          </a:xfrm>
          <a:prstGeom prst="roundRect">
            <a:avLst>
              <a:gd fmla="val 16667" name="adj"/>
            </a:avLst>
          </a:prstGeom>
          <a:solidFill>
            <a:srgbClr val="93C47D"/>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300">
                <a:solidFill>
                  <a:schemeClr val="dk1"/>
                </a:solidFill>
                <a:latin typeface="Times New Roman"/>
                <a:ea typeface="Times New Roman"/>
                <a:cs typeface="Times New Roman"/>
                <a:sym typeface="Times New Roman"/>
              </a:rPr>
              <a:t>linear combination         activation</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pic>
        <p:nvPicPr>
          <p:cNvPr id="137" name="Google Shape;137;p17" title="[0,0,0,&quot;https://www.codecogs.com/eqnedit.php?latex=w_1#0&quot;]"/>
          <p:cNvPicPr preferRelativeResize="0"/>
          <p:nvPr/>
        </p:nvPicPr>
        <p:blipFill>
          <a:blip r:embed="rId3">
            <a:alphaModFix/>
          </a:blip>
          <a:stretch>
            <a:fillRect/>
          </a:stretch>
        </p:blipFill>
        <p:spPr>
          <a:xfrm>
            <a:off x="1933850" y="3720625"/>
            <a:ext cx="189415" cy="114300"/>
          </a:xfrm>
          <a:prstGeom prst="rect">
            <a:avLst/>
          </a:prstGeom>
          <a:noFill/>
          <a:ln>
            <a:noFill/>
          </a:ln>
        </p:spPr>
      </p:pic>
      <p:pic>
        <p:nvPicPr>
          <p:cNvPr id="138" name="Google Shape;138;p17" title="[0,0,0,&quot;https://www.codecogs.com/eqnedit.php?latex=w_2#0&quot;]"/>
          <p:cNvPicPr preferRelativeResize="0"/>
          <p:nvPr/>
        </p:nvPicPr>
        <p:blipFill>
          <a:blip r:embed="rId4">
            <a:alphaModFix/>
          </a:blip>
          <a:stretch>
            <a:fillRect/>
          </a:stretch>
        </p:blipFill>
        <p:spPr>
          <a:xfrm>
            <a:off x="5523799" y="3721775"/>
            <a:ext cx="189425" cy="111875"/>
          </a:xfrm>
          <a:prstGeom prst="rect">
            <a:avLst/>
          </a:prstGeom>
          <a:noFill/>
          <a:ln>
            <a:noFill/>
          </a:ln>
        </p:spPr>
      </p:pic>
      <p:sp>
        <p:nvSpPr>
          <p:cNvPr id="139" name="Google Shape;139;p17"/>
          <p:cNvSpPr txBox="1"/>
          <p:nvPr/>
        </p:nvSpPr>
        <p:spPr>
          <a:xfrm>
            <a:off x="788750" y="3190513"/>
            <a:ext cx="1145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Times New Roman"/>
                <a:ea typeface="Times New Roman"/>
                <a:cs typeface="Times New Roman"/>
                <a:sym typeface="Times New Roman"/>
              </a:rPr>
              <a:t>Input neuron</a:t>
            </a:r>
            <a:endParaRPr sz="1100">
              <a:latin typeface="Times New Roman"/>
              <a:ea typeface="Times New Roman"/>
              <a:cs typeface="Times New Roman"/>
              <a:sym typeface="Times New Roman"/>
            </a:endParaRPr>
          </a:p>
        </p:txBody>
      </p:sp>
      <p:pic>
        <p:nvPicPr>
          <p:cNvPr id="140" name="Google Shape;140;p17" title="[0,0,0,&quot;https://www.codecogs.com/eqnedit.php?latex=z%5E%7B(2)%7D%20%3D%20w_1%20x#0&quot;]"/>
          <p:cNvPicPr preferRelativeResize="0"/>
          <p:nvPr/>
        </p:nvPicPr>
        <p:blipFill>
          <a:blip r:embed="rId9">
            <a:alphaModFix/>
          </a:blip>
          <a:stretch>
            <a:fillRect/>
          </a:stretch>
        </p:blipFill>
        <p:spPr>
          <a:xfrm>
            <a:off x="2659962" y="3995700"/>
            <a:ext cx="963273" cy="235750"/>
          </a:xfrm>
          <a:prstGeom prst="rect">
            <a:avLst/>
          </a:prstGeom>
          <a:noFill/>
          <a:ln>
            <a:noFill/>
          </a:ln>
        </p:spPr>
      </p:pic>
      <p:pic>
        <p:nvPicPr>
          <p:cNvPr id="141" name="Google Shape;141;p17" title="[0,0,0,&quot;https://www.codecogs.com/eqnedit.php?latex=z%5E%7B(3)%7D%20%3D%20w_2%20a%5E%7B(2)%7D#0&quot;]"/>
          <p:cNvPicPr preferRelativeResize="0"/>
          <p:nvPr/>
        </p:nvPicPr>
        <p:blipFill>
          <a:blip r:embed="rId10">
            <a:alphaModFix/>
          </a:blip>
          <a:stretch>
            <a:fillRect/>
          </a:stretch>
        </p:blipFill>
        <p:spPr>
          <a:xfrm>
            <a:off x="6125350" y="3995708"/>
            <a:ext cx="1145101" cy="235754"/>
          </a:xfrm>
          <a:prstGeom prst="rect">
            <a:avLst/>
          </a:prstGeom>
          <a:noFill/>
          <a:ln>
            <a:noFill/>
          </a:ln>
        </p:spPr>
      </p:pic>
      <p:sp>
        <p:nvSpPr>
          <p:cNvPr id="142" name="Google Shape;142;p17"/>
          <p:cNvSpPr txBox="1"/>
          <p:nvPr/>
        </p:nvSpPr>
        <p:spPr>
          <a:xfrm>
            <a:off x="3097850" y="3161875"/>
            <a:ext cx="1145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Times New Roman"/>
                <a:ea typeface="Times New Roman"/>
                <a:cs typeface="Times New Roman"/>
                <a:sym typeface="Times New Roman"/>
              </a:rPr>
              <a:t>hidden</a:t>
            </a:r>
            <a:r>
              <a:rPr lang="en" sz="1100">
                <a:latin typeface="Times New Roman"/>
                <a:ea typeface="Times New Roman"/>
                <a:cs typeface="Times New Roman"/>
                <a:sym typeface="Times New Roman"/>
              </a:rPr>
              <a:t> neuron</a:t>
            </a:r>
            <a:endParaRPr sz="1100">
              <a:latin typeface="Times New Roman"/>
              <a:ea typeface="Times New Roman"/>
              <a:cs typeface="Times New Roman"/>
              <a:sym typeface="Times New Roman"/>
            </a:endParaRPr>
          </a:p>
        </p:txBody>
      </p:sp>
      <p:sp>
        <p:nvSpPr>
          <p:cNvPr id="143" name="Google Shape;143;p17"/>
          <p:cNvSpPr txBox="1"/>
          <p:nvPr/>
        </p:nvSpPr>
        <p:spPr>
          <a:xfrm>
            <a:off x="6595725" y="3161875"/>
            <a:ext cx="1145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Times New Roman"/>
                <a:ea typeface="Times New Roman"/>
                <a:cs typeface="Times New Roman"/>
                <a:sym typeface="Times New Roman"/>
              </a:rPr>
              <a:t>Output </a:t>
            </a:r>
            <a:r>
              <a:rPr lang="en" sz="1100">
                <a:latin typeface="Times New Roman"/>
                <a:ea typeface="Times New Roman"/>
                <a:cs typeface="Times New Roman"/>
                <a:sym typeface="Times New Roman"/>
              </a:rPr>
              <a:t>neuron</a:t>
            </a:r>
            <a:endParaRPr sz="1100">
              <a:latin typeface="Times New Roman"/>
              <a:ea typeface="Times New Roman"/>
              <a:cs typeface="Times New Roman"/>
              <a:sym typeface="Times New Roman"/>
            </a:endParaRPr>
          </a:p>
        </p:txBody>
      </p:sp>
      <p:pic>
        <p:nvPicPr>
          <p:cNvPr id="144" name="Google Shape;144;p17" title="[0,0,0,&quot;https://www.codecogs.com/eqnedit.php?latex=a%5E%7B(2)%7D%20%3D%20g(z%5E%7B(2)%7D)#0&quot;]"/>
          <p:cNvPicPr preferRelativeResize="0"/>
          <p:nvPr/>
        </p:nvPicPr>
        <p:blipFill>
          <a:blip r:embed="rId11">
            <a:alphaModFix/>
          </a:blip>
          <a:stretch>
            <a:fillRect/>
          </a:stretch>
        </p:blipFill>
        <p:spPr>
          <a:xfrm>
            <a:off x="4090363" y="4008221"/>
            <a:ext cx="963275" cy="210716"/>
          </a:xfrm>
          <a:prstGeom prst="rect">
            <a:avLst/>
          </a:prstGeom>
          <a:noFill/>
          <a:ln>
            <a:noFill/>
          </a:ln>
        </p:spPr>
      </p:pic>
      <p:pic>
        <p:nvPicPr>
          <p:cNvPr id="145" name="Google Shape;145;p17" title="[0,0,0,&quot;https://www.codecogs.com/eqnedit.php?latex=a%5E%7B(3)%7D%20%3D%20g(z%5E%7B(3)%7D)#0&quot;]"/>
          <p:cNvPicPr preferRelativeResize="0"/>
          <p:nvPr/>
        </p:nvPicPr>
        <p:blipFill>
          <a:blip r:embed="rId12">
            <a:alphaModFix/>
          </a:blip>
          <a:stretch>
            <a:fillRect/>
          </a:stretch>
        </p:blipFill>
        <p:spPr>
          <a:xfrm>
            <a:off x="7690900" y="4010088"/>
            <a:ext cx="946249" cy="206980"/>
          </a:xfrm>
          <a:prstGeom prst="rect">
            <a:avLst/>
          </a:prstGeom>
          <a:noFill/>
          <a:ln>
            <a:noFill/>
          </a:ln>
        </p:spPr>
      </p:pic>
      <p:cxnSp>
        <p:nvCxnSpPr>
          <p:cNvPr id="146" name="Google Shape;146;p17"/>
          <p:cNvCxnSpPr>
            <a:stCxn id="140" idx="3"/>
            <a:endCxn id="144" idx="1"/>
          </p:cNvCxnSpPr>
          <p:nvPr/>
        </p:nvCxnSpPr>
        <p:spPr>
          <a:xfrm>
            <a:off x="3623236" y="4113575"/>
            <a:ext cx="467100" cy="0"/>
          </a:xfrm>
          <a:prstGeom prst="straightConnector1">
            <a:avLst/>
          </a:prstGeom>
          <a:noFill/>
          <a:ln cap="flat" cmpd="sng" w="9525">
            <a:solidFill>
              <a:schemeClr val="dk2"/>
            </a:solidFill>
            <a:prstDash val="solid"/>
            <a:round/>
            <a:headEnd len="med" w="med" type="none"/>
            <a:tailEnd len="med" w="med" type="triangle"/>
          </a:ln>
        </p:spPr>
      </p:cxnSp>
      <p:cxnSp>
        <p:nvCxnSpPr>
          <p:cNvPr id="147" name="Google Shape;147;p17"/>
          <p:cNvCxnSpPr>
            <a:stCxn id="141" idx="3"/>
            <a:endCxn id="145" idx="1"/>
          </p:cNvCxnSpPr>
          <p:nvPr/>
        </p:nvCxnSpPr>
        <p:spPr>
          <a:xfrm>
            <a:off x="7270451" y="4113585"/>
            <a:ext cx="4203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1000"/>
                                        <p:tgtEl>
                                          <p:spTgt spid="131"/>
                                        </p:tgtEl>
                                      </p:cBhvr>
                                    </p:animEffect>
                                  </p:childTnLst>
                                </p:cTn>
                              </p:par>
                              <p:par>
                                <p:cTn fill="hold" nodeType="with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1000"/>
                                        <p:tgtEl>
                                          <p:spTgt spid="132"/>
                                        </p:tgtEl>
                                      </p:cBhvr>
                                    </p:animEffect>
                                  </p:childTnLst>
                                </p:cTn>
                              </p:par>
                              <p:par>
                                <p:cTn fill="hold" nodeType="with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1000"/>
                                        <p:tgtEl>
                                          <p:spTgt spid="133"/>
                                        </p:tgtEl>
                                      </p:cBhvr>
                                    </p:animEffect>
                                  </p:childTnLst>
                                </p:cTn>
                              </p:par>
                              <p:par>
                                <p:cTn fill="hold" nodeType="with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1000"/>
                                        <p:tgtEl>
                                          <p:spTgt spid="134"/>
                                        </p:tgtEl>
                                      </p:cBhvr>
                                    </p:animEffect>
                                  </p:childTnLst>
                                </p:cTn>
                              </p:par>
                              <p:par>
                                <p:cTn fill="hold" nodeType="with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1000"/>
                                        <p:tgtEl>
                                          <p:spTgt spid="136"/>
                                        </p:tgtEl>
                                      </p:cBhvr>
                                    </p:animEffect>
                                  </p:childTnLst>
                                </p:cTn>
                              </p:par>
                              <p:par>
                                <p:cTn fill="hold" nodeType="with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1000"/>
                                        <p:tgtEl>
                                          <p:spTgt spid="137"/>
                                        </p:tgtEl>
                                      </p:cBhvr>
                                    </p:animEffect>
                                  </p:childTnLst>
                                </p:cTn>
                              </p:par>
                              <p:par>
                                <p:cTn fill="hold" nodeType="with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1000"/>
                                        <p:tgtEl>
                                          <p:spTgt spid="138"/>
                                        </p:tgtEl>
                                      </p:cBhvr>
                                    </p:animEffect>
                                  </p:childTnLst>
                                </p:cTn>
                              </p:par>
                              <p:par>
                                <p:cTn fill="hold" nodeType="with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1000"/>
                                        <p:tgtEl>
                                          <p:spTgt spid="139"/>
                                        </p:tgtEl>
                                      </p:cBhvr>
                                    </p:animEffect>
                                  </p:childTnLst>
                                </p:cTn>
                              </p:par>
                              <p:par>
                                <p:cTn fill="hold" nodeType="with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1000"/>
                                        <p:tgtEl>
                                          <p:spTgt spid="140"/>
                                        </p:tgtEl>
                                      </p:cBhvr>
                                    </p:animEffect>
                                  </p:childTnLst>
                                </p:cTn>
                              </p:par>
                              <p:par>
                                <p:cTn fill="hold" nodeType="with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1000"/>
                                        <p:tgtEl>
                                          <p:spTgt spid="141"/>
                                        </p:tgtEl>
                                      </p:cBhvr>
                                    </p:animEffect>
                                  </p:childTnLst>
                                </p:cTn>
                              </p:par>
                              <p:par>
                                <p:cTn fill="hold" nodeType="with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1000"/>
                                        <p:tgtEl>
                                          <p:spTgt spid="142"/>
                                        </p:tgtEl>
                                      </p:cBhvr>
                                    </p:animEffect>
                                  </p:childTnLst>
                                </p:cTn>
                              </p:par>
                              <p:par>
                                <p:cTn fill="hold" nodeType="with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1000"/>
                                        <p:tgtEl>
                                          <p:spTgt spid="143"/>
                                        </p:tgtEl>
                                      </p:cBhvr>
                                    </p:animEffect>
                                  </p:childTnLst>
                                </p:cTn>
                              </p:par>
                              <p:par>
                                <p:cTn fill="hold" nodeType="with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1000"/>
                                        <p:tgtEl>
                                          <p:spTgt spid="144"/>
                                        </p:tgtEl>
                                      </p:cBhvr>
                                    </p:animEffect>
                                  </p:childTnLst>
                                </p:cTn>
                              </p:par>
                              <p:par>
                                <p:cTn fill="hold" nodeType="with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1000"/>
                                        <p:tgtEl>
                                          <p:spTgt spid="145"/>
                                        </p:tgtEl>
                                      </p:cBhvr>
                                    </p:animEffect>
                                  </p:childTnLst>
                                </p:cTn>
                              </p:par>
                              <p:par>
                                <p:cTn fill="hold" nodeType="with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1000"/>
                                        <p:tgtEl>
                                          <p:spTgt spid="146"/>
                                        </p:tgtEl>
                                      </p:cBhvr>
                                    </p:animEffect>
                                  </p:childTnLst>
                                </p:cTn>
                              </p:par>
                              <p:par>
                                <p:cTn fill="hold" nodeType="with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1000"/>
                                        <p:tgtEl>
                                          <p:spTgt spid="1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1" name="Shape 151"/>
        <p:cNvGrpSpPr/>
        <p:nvPr/>
      </p:nvGrpSpPr>
      <p:grpSpPr>
        <a:xfrm>
          <a:off x="0" y="0"/>
          <a:ext cx="0" cy="0"/>
          <a:chOff x="0" y="0"/>
          <a:chExt cx="0" cy="0"/>
        </a:xfrm>
      </p:grpSpPr>
      <p:sp>
        <p:nvSpPr>
          <p:cNvPr id="152" name="Google Shape;152;p18"/>
          <p:cNvSpPr txBox="1"/>
          <p:nvPr/>
        </p:nvSpPr>
        <p:spPr>
          <a:xfrm>
            <a:off x="152400" y="266700"/>
            <a:ext cx="9144000" cy="534600"/>
          </a:xfrm>
          <a:prstGeom prst="rect">
            <a:avLst/>
          </a:prstGeom>
          <a:solidFill>
            <a:srgbClr val="054B3E"/>
          </a:solid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sz="2600">
                <a:solidFill>
                  <a:srgbClr val="FFFF00"/>
                </a:solidFill>
                <a:latin typeface="Oswald"/>
                <a:ea typeface="Oswald"/>
                <a:cs typeface="Oswald"/>
                <a:sym typeface="Oswald"/>
              </a:rPr>
              <a:t>One -Layer Neural network</a:t>
            </a:r>
            <a:endParaRPr sz="2600">
              <a:solidFill>
                <a:srgbClr val="FFFF00"/>
              </a:solidFill>
              <a:latin typeface="Oswald"/>
              <a:ea typeface="Oswald"/>
              <a:cs typeface="Oswald"/>
              <a:sym typeface="Oswald"/>
            </a:endParaRPr>
          </a:p>
        </p:txBody>
      </p:sp>
      <p:sp>
        <p:nvSpPr>
          <p:cNvPr id="153" name="Google Shape;153;p18"/>
          <p:cNvSpPr/>
          <p:nvPr/>
        </p:nvSpPr>
        <p:spPr>
          <a:xfrm>
            <a:off x="152400" y="152400"/>
            <a:ext cx="9144000" cy="1143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400">
              <a:solidFill>
                <a:srgbClr val="FFFFFF"/>
              </a:solidFill>
              <a:latin typeface="Oswald"/>
              <a:ea typeface="Oswald"/>
              <a:cs typeface="Oswald"/>
              <a:sym typeface="Oswald"/>
            </a:endParaRPr>
          </a:p>
        </p:txBody>
      </p:sp>
      <p:sp>
        <p:nvSpPr>
          <p:cNvPr id="154" name="Google Shape;154;p18"/>
          <p:cNvSpPr/>
          <p:nvPr/>
        </p:nvSpPr>
        <p:spPr>
          <a:xfrm>
            <a:off x="0" y="4971900"/>
            <a:ext cx="9144000" cy="171600"/>
          </a:xfrm>
          <a:prstGeom prst="rect">
            <a:avLst/>
          </a:prstGeom>
          <a:solidFill>
            <a:srgbClr val="054B3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155" name="Google Shape;155;p18"/>
          <p:cNvSpPr txBox="1"/>
          <p:nvPr/>
        </p:nvSpPr>
        <p:spPr>
          <a:xfrm>
            <a:off x="8624858" y="4349295"/>
            <a:ext cx="548700" cy="3543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pic>
        <p:nvPicPr>
          <p:cNvPr id="156" name="Google Shape;156;p18"/>
          <p:cNvPicPr preferRelativeResize="0"/>
          <p:nvPr/>
        </p:nvPicPr>
        <p:blipFill rotWithShape="1">
          <a:blip r:embed="rId3">
            <a:alphaModFix/>
          </a:blip>
          <a:srcRect b="23482" l="0" r="0" t="8374"/>
          <a:stretch/>
        </p:blipFill>
        <p:spPr>
          <a:xfrm>
            <a:off x="210375" y="1711542"/>
            <a:ext cx="687989" cy="490963"/>
          </a:xfrm>
          <a:prstGeom prst="rect">
            <a:avLst/>
          </a:prstGeom>
          <a:noFill/>
          <a:ln>
            <a:noFill/>
          </a:ln>
        </p:spPr>
      </p:pic>
      <p:pic>
        <p:nvPicPr>
          <p:cNvPr id="157" name="Google Shape;157;p18"/>
          <p:cNvPicPr preferRelativeResize="0"/>
          <p:nvPr/>
        </p:nvPicPr>
        <p:blipFill rotWithShape="1">
          <a:blip r:embed="rId4">
            <a:alphaModFix/>
          </a:blip>
          <a:srcRect b="23971" l="29913" r="25419" t="0"/>
          <a:stretch/>
        </p:blipFill>
        <p:spPr>
          <a:xfrm>
            <a:off x="1015128" y="1701460"/>
            <a:ext cx="560373" cy="541214"/>
          </a:xfrm>
          <a:prstGeom prst="rect">
            <a:avLst/>
          </a:prstGeom>
          <a:noFill/>
          <a:ln>
            <a:noFill/>
          </a:ln>
        </p:spPr>
      </p:pic>
      <p:pic>
        <p:nvPicPr>
          <p:cNvPr id="158" name="Google Shape;158;p18"/>
          <p:cNvPicPr preferRelativeResize="0"/>
          <p:nvPr/>
        </p:nvPicPr>
        <p:blipFill>
          <a:blip r:embed="rId5">
            <a:alphaModFix/>
          </a:blip>
          <a:stretch>
            <a:fillRect/>
          </a:stretch>
        </p:blipFill>
        <p:spPr>
          <a:xfrm>
            <a:off x="472376" y="881175"/>
            <a:ext cx="846419" cy="513917"/>
          </a:xfrm>
          <a:prstGeom prst="rect">
            <a:avLst/>
          </a:prstGeom>
          <a:noFill/>
          <a:ln>
            <a:noFill/>
          </a:ln>
        </p:spPr>
      </p:pic>
      <p:cxnSp>
        <p:nvCxnSpPr>
          <p:cNvPr id="159" name="Google Shape;159;p18"/>
          <p:cNvCxnSpPr/>
          <p:nvPr/>
        </p:nvCxnSpPr>
        <p:spPr>
          <a:xfrm flipH="1">
            <a:off x="890812" y="1363767"/>
            <a:ext cx="1800" cy="147900"/>
          </a:xfrm>
          <a:prstGeom prst="straightConnector1">
            <a:avLst/>
          </a:prstGeom>
          <a:noFill/>
          <a:ln cap="flat" cmpd="sng" w="9525">
            <a:solidFill>
              <a:schemeClr val="dk2"/>
            </a:solidFill>
            <a:prstDash val="solid"/>
            <a:round/>
            <a:headEnd len="med" w="med" type="none"/>
            <a:tailEnd len="med" w="med" type="none"/>
          </a:ln>
        </p:spPr>
      </p:cxnSp>
      <p:cxnSp>
        <p:nvCxnSpPr>
          <p:cNvPr id="160" name="Google Shape;160;p18"/>
          <p:cNvCxnSpPr/>
          <p:nvPr/>
        </p:nvCxnSpPr>
        <p:spPr>
          <a:xfrm>
            <a:off x="532793" y="1510548"/>
            <a:ext cx="780000" cy="0"/>
          </a:xfrm>
          <a:prstGeom prst="straightConnector1">
            <a:avLst/>
          </a:prstGeom>
          <a:noFill/>
          <a:ln cap="flat" cmpd="sng" w="9525">
            <a:solidFill>
              <a:schemeClr val="dk2"/>
            </a:solidFill>
            <a:prstDash val="solid"/>
            <a:round/>
            <a:headEnd len="med" w="med" type="none"/>
            <a:tailEnd len="med" w="med" type="none"/>
          </a:ln>
        </p:spPr>
      </p:cxnSp>
      <p:cxnSp>
        <p:nvCxnSpPr>
          <p:cNvPr id="161" name="Google Shape;161;p18"/>
          <p:cNvCxnSpPr/>
          <p:nvPr/>
        </p:nvCxnSpPr>
        <p:spPr>
          <a:xfrm flipH="1">
            <a:off x="532650" y="1516892"/>
            <a:ext cx="6600" cy="184500"/>
          </a:xfrm>
          <a:prstGeom prst="straightConnector1">
            <a:avLst/>
          </a:prstGeom>
          <a:noFill/>
          <a:ln cap="flat" cmpd="sng" w="9525">
            <a:solidFill>
              <a:schemeClr val="dk2"/>
            </a:solidFill>
            <a:prstDash val="solid"/>
            <a:round/>
            <a:headEnd len="med" w="med" type="none"/>
            <a:tailEnd len="med" w="med" type="triangle"/>
          </a:ln>
        </p:spPr>
      </p:cxnSp>
      <p:cxnSp>
        <p:nvCxnSpPr>
          <p:cNvPr id="162" name="Google Shape;162;p18"/>
          <p:cNvCxnSpPr/>
          <p:nvPr/>
        </p:nvCxnSpPr>
        <p:spPr>
          <a:xfrm flipH="1">
            <a:off x="1292401" y="1518787"/>
            <a:ext cx="5700" cy="180900"/>
          </a:xfrm>
          <a:prstGeom prst="straightConnector1">
            <a:avLst/>
          </a:prstGeom>
          <a:noFill/>
          <a:ln cap="flat" cmpd="sng" w="9525">
            <a:solidFill>
              <a:schemeClr val="dk2"/>
            </a:solidFill>
            <a:prstDash val="solid"/>
            <a:round/>
            <a:headEnd len="med" w="med" type="none"/>
            <a:tailEnd len="med" w="med" type="triangle"/>
          </a:ln>
        </p:spPr>
      </p:cxnSp>
      <p:sp>
        <p:nvSpPr>
          <p:cNvPr id="163" name="Google Shape;163;p18"/>
          <p:cNvSpPr txBox="1"/>
          <p:nvPr/>
        </p:nvSpPr>
        <p:spPr>
          <a:xfrm>
            <a:off x="152400" y="2433575"/>
            <a:ext cx="2127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Times New Roman"/>
                <a:ea typeface="Times New Roman"/>
                <a:cs typeface="Times New Roman"/>
                <a:sym typeface="Times New Roman"/>
              </a:rPr>
              <a:t>Target: Categorized two types of data</a:t>
            </a:r>
            <a:endParaRPr>
              <a:latin typeface="Times New Roman"/>
              <a:ea typeface="Times New Roman"/>
              <a:cs typeface="Times New Roman"/>
              <a:sym typeface="Times New Roman"/>
            </a:endParaRPr>
          </a:p>
        </p:txBody>
      </p:sp>
      <p:pic>
        <p:nvPicPr>
          <p:cNvPr id="164" name="Google Shape;164;p18"/>
          <p:cNvPicPr preferRelativeResize="0"/>
          <p:nvPr/>
        </p:nvPicPr>
        <p:blipFill rotWithShape="1">
          <a:blip r:embed="rId6">
            <a:alphaModFix/>
          </a:blip>
          <a:srcRect b="5334" l="5047" r="7776" t="10518"/>
          <a:stretch/>
        </p:blipFill>
        <p:spPr>
          <a:xfrm>
            <a:off x="270150" y="3142825"/>
            <a:ext cx="2050202" cy="1484326"/>
          </a:xfrm>
          <a:prstGeom prst="rect">
            <a:avLst/>
          </a:prstGeom>
          <a:noFill/>
          <a:ln>
            <a:noFill/>
          </a:ln>
        </p:spPr>
      </p:pic>
      <p:cxnSp>
        <p:nvCxnSpPr>
          <p:cNvPr id="165" name="Google Shape;165;p18"/>
          <p:cNvCxnSpPr/>
          <p:nvPr/>
        </p:nvCxnSpPr>
        <p:spPr>
          <a:xfrm>
            <a:off x="529400" y="3224475"/>
            <a:ext cx="1588200" cy="1241700"/>
          </a:xfrm>
          <a:prstGeom prst="straightConnector1">
            <a:avLst/>
          </a:prstGeom>
          <a:noFill/>
          <a:ln cap="flat" cmpd="sng" w="28575">
            <a:solidFill>
              <a:srgbClr val="FF0000"/>
            </a:solidFill>
            <a:prstDash val="solid"/>
            <a:round/>
            <a:headEnd len="med" w="med" type="none"/>
            <a:tailEnd len="med" w="med" type="none"/>
          </a:ln>
        </p:spPr>
      </p:cxnSp>
      <p:sp>
        <p:nvSpPr>
          <p:cNvPr id="166" name="Google Shape;166;p18"/>
          <p:cNvSpPr txBox="1"/>
          <p:nvPr/>
        </p:nvSpPr>
        <p:spPr>
          <a:xfrm>
            <a:off x="587150" y="4235125"/>
            <a:ext cx="51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t>
            </a:r>
            <a:r>
              <a:rPr b="1" lang="en">
                <a:solidFill>
                  <a:schemeClr val="dk1"/>
                </a:solidFill>
              </a:rPr>
              <a:t>-</a:t>
            </a:r>
            <a:r>
              <a:rPr lang="en">
                <a:solidFill>
                  <a:schemeClr val="dk1"/>
                </a:solidFill>
              </a:rPr>
              <a:t>)</a:t>
            </a:r>
            <a:endParaRPr>
              <a:solidFill>
                <a:schemeClr val="dk1"/>
              </a:solidFill>
            </a:endParaRPr>
          </a:p>
        </p:txBody>
      </p:sp>
      <p:sp>
        <p:nvSpPr>
          <p:cNvPr id="167" name="Google Shape;167;p18"/>
          <p:cNvSpPr txBox="1"/>
          <p:nvPr/>
        </p:nvSpPr>
        <p:spPr>
          <a:xfrm>
            <a:off x="1819175" y="3224475"/>
            <a:ext cx="173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68" name="Google Shape;168;p18"/>
          <p:cNvSpPr txBox="1"/>
          <p:nvPr/>
        </p:nvSpPr>
        <p:spPr>
          <a:xfrm>
            <a:off x="1731000" y="3224475"/>
            <a:ext cx="54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t>
            </a:r>
            <a:r>
              <a:rPr b="1" lang="en"/>
              <a:t>+</a:t>
            </a:r>
            <a:r>
              <a:rPr lang="en"/>
              <a:t>)</a:t>
            </a:r>
            <a:endParaRPr/>
          </a:p>
        </p:txBody>
      </p:sp>
      <p:sp>
        <p:nvSpPr>
          <p:cNvPr id="169" name="Google Shape;169;p18"/>
          <p:cNvSpPr txBox="1"/>
          <p:nvPr/>
        </p:nvSpPr>
        <p:spPr>
          <a:xfrm>
            <a:off x="3043400" y="1534650"/>
            <a:ext cx="4725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Times New Roman"/>
                <a:ea typeface="Times New Roman"/>
                <a:cs typeface="Times New Roman"/>
                <a:sym typeface="Times New Roman"/>
              </a:rPr>
              <a:t>The decision rule for </a:t>
            </a:r>
            <a:r>
              <a:rPr lang="en">
                <a:latin typeface="Times New Roman"/>
                <a:ea typeface="Times New Roman"/>
                <a:cs typeface="Times New Roman"/>
                <a:sym typeface="Times New Roman"/>
              </a:rPr>
              <a:t>classification</a:t>
            </a:r>
            <a:r>
              <a:rPr lang="en">
                <a:latin typeface="Times New Roman"/>
                <a:ea typeface="Times New Roman"/>
                <a:cs typeface="Times New Roman"/>
                <a:sym typeface="Times New Roman"/>
              </a:rPr>
              <a:t> where input is    </a:t>
            </a:r>
            <a:r>
              <a:rPr lang="en">
                <a:latin typeface="Times New Roman"/>
                <a:ea typeface="Times New Roman"/>
                <a:cs typeface="Times New Roman"/>
                <a:sym typeface="Times New Roman"/>
              </a:rPr>
              <a:t> x =</a:t>
            </a:r>
            <a:endParaRPr>
              <a:latin typeface="Times New Roman"/>
              <a:ea typeface="Times New Roman"/>
              <a:cs typeface="Times New Roman"/>
              <a:sym typeface="Times New Roman"/>
            </a:endParaRPr>
          </a:p>
        </p:txBody>
      </p:sp>
      <p:cxnSp>
        <p:nvCxnSpPr>
          <p:cNvPr id="170" name="Google Shape;170;p18"/>
          <p:cNvCxnSpPr/>
          <p:nvPr/>
        </p:nvCxnSpPr>
        <p:spPr>
          <a:xfrm>
            <a:off x="5975375" y="2160150"/>
            <a:ext cx="4800" cy="403200"/>
          </a:xfrm>
          <a:prstGeom prst="straightConnector1">
            <a:avLst/>
          </a:prstGeom>
          <a:noFill/>
          <a:ln cap="flat" cmpd="sng" w="9525">
            <a:solidFill>
              <a:schemeClr val="dk2"/>
            </a:solidFill>
            <a:prstDash val="solid"/>
            <a:round/>
            <a:headEnd len="med" w="med" type="none"/>
            <a:tailEnd len="med" w="med" type="none"/>
          </a:ln>
        </p:spPr>
      </p:cxnSp>
      <p:cxnSp>
        <p:nvCxnSpPr>
          <p:cNvPr id="171" name="Google Shape;171;p18"/>
          <p:cNvCxnSpPr/>
          <p:nvPr/>
        </p:nvCxnSpPr>
        <p:spPr>
          <a:xfrm>
            <a:off x="5965625" y="2160150"/>
            <a:ext cx="404400" cy="0"/>
          </a:xfrm>
          <a:prstGeom prst="straightConnector1">
            <a:avLst/>
          </a:prstGeom>
          <a:noFill/>
          <a:ln cap="flat" cmpd="sng" w="9525">
            <a:solidFill>
              <a:schemeClr val="dk2"/>
            </a:solidFill>
            <a:prstDash val="solid"/>
            <a:round/>
            <a:headEnd len="med" w="med" type="none"/>
            <a:tailEnd len="med" w="med" type="none"/>
          </a:ln>
        </p:spPr>
      </p:cxnSp>
      <p:cxnSp>
        <p:nvCxnSpPr>
          <p:cNvPr id="172" name="Google Shape;172;p18"/>
          <p:cNvCxnSpPr/>
          <p:nvPr/>
        </p:nvCxnSpPr>
        <p:spPr>
          <a:xfrm flipH="1" rot="10800000">
            <a:off x="5975375" y="2557650"/>
            <a:ext cx="384900" cy="9600"/>
          </a:xfrm>
          <a:prstGeom prst="straightConnector1">
            <a:avLst/>
          </a:prstGeom>
          <a:noFill/>
          <a:ln cap="flat" cmpd="sng" w="9525">
            <a:solidFill>
              <a:schemeClr val="dk2"/>
            </a:solidFill>
            <a:prstDash val="solid"/>
            <a:round/>
            <a:headEnd len="med" w="med" type="none"/>
            <a:tailEnd len="med" w="med" type="none"/>
          </a:ln>
        </p:spPr>
      </p:cxnSp>
      <p:sp>
        <p:nvSpPr>
          <p:cNvPr id="173" name="Google Shape;173;p18"/>
          <p:cNvSpPr txBox="1"/>
          <p:nvPr/>
        </p:nvSpPr>
        <p:spPr>
          <a:xfrm>
            <a:off x="6389125" y="1990800"/>
            <a:ext cx="51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a&gt;=0 </a:t>
            </a:r>
            <a:endParaRPr sz="1000"/>
          </a:p>
        </p:txBody>
      </p:sp>
      <p:sp>
        <p:nvSpPr>
          <p:cNvPr id="174" name="Google Shape;174;p18"/>
          <p:cNvSpPr txBox="1"/>
          <p:nvPr/>
        </p:nvSpPr>
        <p:spPr>
          <a:xfrm>
            <a:off x="6418000" y="2385450"/>
            <a:ext cx="51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a&lt;0 </a:t>
            </a:r>
            <a:endParaRPr sz="1100"/>
          </a:p>
        </p:txBody>
      </p:sp>
      <p:pic>
        <p:nvPicPr>
          <p:cNvPr descr="What is Perceptron: A Beginners Guide for Perceptron [Updated]" id="175" name="Google Shape;175;p18"/>
          <p:cNvPicPr preferRelativeResize="0"/>
          <p:nvPr/>
        </p:nvPicPr>
        <p:blipFill>
          <a:blip r:embed="rId7">
            <a:alphaModFix/>
          </a:blip>
          <a:stretch>
            <a:fillRect/>
          </a:stretch>
        </p:blipFill>
        <p:spPr>
          <a:xfrm>
            <a:off x="3264775" y="3321401"/>
            <a:ext cx="3488525" cy="1607675"/>
          </a:xfrm>
          <a:prstGeom prst="rect">
            <a:avLst/>
          </a:prstGeom>
          <a:noFill/>
          <a:ln>
            <a:noFill/>
          </a:ln>
        </p:spPr>
      </p:pic>
      <p:sp>
        <p:nvSpPr>
          <p:cNvPr id="176" name="Google Shape;176;p18"/>
          <p:cNvSpPr/>
          <p:nvPr/>
        </p:nvSpPr>
        <p:spPr>
          <a:xfrm>
            <a:off x="5254100" y="2281525"/>
            <a:ext cx="687900" cy="184500"/>
          </a:xfrm>
          <a:prstGeom prst="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8"/>
          <p:cNvSpPr txBox="1"/>
          <p:nvPr/>
        </p:nvSpPr>
        <p:spPr>
          <a:xfrm>
            <a:off x="6488450" y="2795400"/>
            <a:ext cx="1280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latin typeface="Times New Roman"/>
                <a:ea typeface="Times New Roman"/>
                <a:cs typeface="Times New Roman"/>
                <a:sym typeface="Times New Roman"/>
              </a:rPr>
              <a:t>ReLU activation</a:t>
            </a:r>
            <a:endParaRPr i="1" sz="1200">
              <a:latin typeface="Times New Roman"/>
              <a:ea typeface="Times New Roman"/>
              <a:cs typeface="Times New Roman"/>
              <a:sym typeface="Times New Roman"/>
            </a:endParaRPr>
          </a:p>
        </p:txBody>
      </p:sp>
      <p:sp>
        <p:nvSpPr>
          <p:cNvPr id="178" name="Google Shape;178;p18"/>
          <p:cNvSpPr txBox="1"/>
          <p:nvPr/>
        </p:nvSpPr>
        <p:spPr>
          <a:xfrm>
            <a:off x="4510050" y="4577000"/>
            <a:ext cx="28011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The Simplest Neural network: Perceptron</a:t>
            </a:r>
            <a:endParaRPr sz="900"/>
          </a:p>
        </p:txBody>
      </p:sp>
      <p:pic>
        <p:nvPicPr>
          <p:cNvPr id="179" name="Google Shape;179;p18" title="[0,0,0,&quot;https://www.codecogs.com/eqnedit.php?latex=y%20%3D%20%5Csigma%20(W%5ETX%20%2Bb)#0&quot;]"/>
          <p:cNvPicPr preferRelativeResize="0"/>
          <p:nvPr/>
        </p:nvPicPr>
        <p:blipFill>
          <a:blip r:embed="rId8">
            <a:alphaModFix/>
          </a:blip>
          <a:stretch>
            <a:fillRect/>
          </a:stretch>
        </p:blipFill>
        <p:spPr>
          <a:xfrm>
            <a:off x="6965450" y="4307800"/>
            <a:ext cx="1722900" cy="269191"/>
          </a:xfrm>
          <a:prstGeom prst="rect">
            <a:avLst/>
          </a:prstGeom>
          <a:noFill/>
          <a:ln>
            <a:noFill/>
          </a:ln>
        </p:spPr>
      </p:pic>
      <p:pic>
        <p:nvPicPr>
          <p:cNvPr id="180" name="Google Shape;180;p18" title="[255,0,0,&quot;https://www.codecogs.com/eqnedit.php?latex=w_1x_1%2Bw_2x_2%2Bb%3D0#0&quot;]"/>
          <p:cNvPicPr preferRelativeResize="0"/>
          <p:nvPr/>
        </p:nvPicPr>
        <p:blipFill>
          <a:blip r:embed="rId9">
            <a:alphaModFix/>
          </a:blip>
          <a:stretch>
            <a:fillRect/>
          </a:stretch>
        </p:blipFill>
        <p:spPr>
          <a:xfrm>
            <a:off x="1859125" y="4084797"/>
            <a:ext cx="1280701" cy="150323"/>
          </a:xfrm>
          <a:prstGeom prst="rect">
            <a:avLst/>
          </a:prstGeom>
          <a:noFill/>
          <a:ln>
            <a:noFill/>
          </a:ln>
        </p:spPr>
      </p:pic>
      <p:pic>
        <p:nvPicPr>
          <p:cNvPr id="181" name="Google Shape;181;p18" title="[0,0,0,&quot;https://www.codecogs.com/eqnedit.php?latex=w_1x_1%20%2B%20w_2x_2%2Bb%20%3D0%20%5Ctext%7B%20represents%20a%20line%20in%202D%7D#0&quot;]"/>
          <p:cNvPicPr preferRelativeResize="0"/>
          <p:nvPr/>
        </p:nvPicPr>
        <p:blipFill>
          <a:blip r:embed="rId10">
            <a:alphaModFix/>
          </a:blip>
          <a:stretch>
            <a:fillRect/>
          </a:stretch>
        </p:blipFill>
        <p:spPr>
          <a:xfrm>
            <a:off x="3115722" y="1156912"/>
            <a:ext cx="3783405" cy="180900"/>
          </a:xfrm>
          <a:prstGeom prst="rect">
            <a:avLst/>
          </a:prstGeom>
          <a:noFill/>
          <a:ln>
            <a:noFill/>
          </a:ln>
        </p:spPr>
      </p:pic>
      <p:sp>
        <p:nvSpPr>
          <p:cNvPr id="182" name="Google Shape;182;p18"/>
          <p:cNvSpPr txBox="1"/>
          <p:nvPr/>
        </p:nvSpPr>
        <p:spPr>
          <a:xfrm>
            <a:off x="4436150" y="2784225"/>
            <a:ext cx="1280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latin typeface="Times New Roman"/>
                <a:ea typeface="Times New Roman"/>
                <a:cs typeface="Times New Roman"/>
                <a:sym typeface="Times New Roman"/>
              </a:rPr>
              <a:t>Linear output</a:t>
            </a:r>
            <a:endParaRPr i="1" sz="1200">
              <a:latin typeface="Times New Roman"/>
              <a:ea typeface="Times New Roman"/>
              <a:cs typeface="Times New Roman"/>
              <a:sym typeface="Times New Roman"/>
            </a:endParaRPr>
          </a:p>
        </p:txBody>
      </p:sp>
      <p:pic>
        <p:nvPicPr>
          <p:cNvPr id="183" name="Google Shape;183;p18" title="[0,0,0,&quot;https://www.codecogs.com/eqnedit.php?latex=w_1x_1%2Bw_2x_2%2Bb%20%3D%20a#0&quot;]"/>
          <p:cNvPicPr preferRelativeResize="0"/>
          <p:nvPr/>
        </p:nvPicPr>
        <p:blipFill>
          <a:blip r:embed="rId11">
            <a:alphaModFix/>
          </a:blip>
          <a:stretch>
            <a:fillRect/>
          </a:stretch>
        </p:blipFill>
        <p:spPr>
          <a:xfrm>
            <a:off x="3139825" y="2267287"/>
            <a:ext cx="1902989" cy="184500"/>
          </a:xfrm>
          <a:prstGeom prst="rect">
            <a:avLst/>
          </a:prstGeom>
          <a:noFill/>
          <a:ln>
            <a:noFill/>
          </a:ln>
        </p:spPr>
      </p:pic>
      <p:sp>
        <p:nvSpPr>
          <p:cNvPr id="184" name="Google Shape;184;p18"/>
          <p:cNvSpPr txBox="1"/>
          <p:nvPr/>
        </p:nvSpPr>
        <p:spPr>
          <a:xfrm>
            <a:off x="7061150" y="2009400"/>
            <a:ext cx="51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rPr>
              <a:t>: y=1</a:t>
            </a:r>
            <a:endParaRPr sz="1000">
              <a:solidFill>
                <a:schemeClr val="dk1"/>
              </a:solidFill>
            </a:endParaRPr>
          </a:p>
        </p:txBody>
      </p:sp>
      <p:sp>
        <p:nvSpPr>
          <p:cNvPr id="185" name="Google Shape;185;p18"/>
          <p:cNvSpPr txBox="1"/>
          <p:nvPr/>
        </p:nvSpPr>
        <p:spPr>
          <a:xfrm>
            <a:off x="7061150" y="2377550"/>
            <a:ext cx="666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 y=0 </a:t>
            </a:r>
            <a:endParaRPr/>
          </a:p>
        </p:txBody>
      </p:sp>
      <p:sp>
        <p:nvSpPr>
          <p:cNvPr id="186" name="Google Shape;186;p18"/>
          <p:cNvSpPr/>
          <p:nvPr/>
        </p:nvSpPr>
        <p:spPr>
          <a:xfrm>
            <a:off x="7228848" y="1524225"/>
            <a:ext cx="330600" cy="400200"/>
          </a:xfrm>
          <a:prstGeom prst="bracePair">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br>
              <a:rPr lang="en" sz="500">
                <a:latin typeface="Times New Roman"/>
                <a:ea typeface="Times New Roman"/>
                <a:cs typeface="Times New Roman"/>
                <a:sym typeface="Times New Roman"/>
              </a:rPr>
            </a:br>
            <a:endParaRPr sz="500">
              <a:latin typeface="Times New Roman"/>
              <a:ea typeface="Times New Roman"/>
              <a:cs typeface="Times New Roman"/>
              <a:sym typeface="Times New Roman"/>
            </a:endParaRPr>
          </a:p>
          <a:p>
            <a:pPr indent="0" lvl="0" marL="0" rtl="0" algn="l">
              <a:spcBef>
                <a:spcPts val="0"/>
              </a:spcBef>
              <a:spcAft>
                <a:spcPts val="0"/>
              </a:spcAft>
              <a:buNone/>
            </a:pPr>
            <a:r>
              <a:t/>
            </a:r>
            <a:endParaRPr sz="500">
              <a:latin typeface="Times New Roman"/>
              <a:ea typeface="Times New Roman"/>
              <a:cs typeface="Times New Roman"/>
              <a:sym typeface="Times New Roman"/>
            </a:endParaRPr>
          </a:p>
        </p:txBody>
      </p:sp>
      <p:pic>
        <p:nvPicPr>
          <p:cNvPr id="187" name="Google Shape;187;p18"/>
          <p:cNvPicPr preferRelativeResize="0"/>
          <p:nvPr/>
        </p:nvPicPr>
        <p:blipFill>
          <a:blip r:embed="rId12">
            <a:alphaModFix/>
          </a:blip>
          <a:stretch>
            <a:fillRect/>
          </a:stretch>
        </p:blipFill>
        <p:spPr>
          <a:xfrm>
            <a:off x="7307442" y="1538806"/>
            <a:ext cx="173400" cy="162332"/>
          </a:xfrm>
          <a:prstGeom prst="rect">
            <a:avLst/>
          </a:prstGeom>
          <a:noFill/>
          <a:ln>
            <a:noFill/>
          </a:ln>
        </p:spPr>
      </p:pic>
      <p:pic>
        <p:nvPicPr>
          <p:cNvPr id="188" name="Google Shape;188;p18"/>
          <p:cNvPicPr preferRelativeResize="0"/>
          <p:nvPr/>
        </p:nvPicPr>
        <p:blipFill>
          <a:blip r:embed="rId13">
            <a:alphaModFix/>
          </a:blip>
          <a:stretch>
            <a:fillRect/>
          </a:stretch>
        </p:blipFill>
        <p:spPr>
          <a:xfrm>
            <a:off x="7307442" y="1754863"/>
            <a:ext cx="173400" cy="190400"/>
          </a:xfrm>
          <a:prstGeom prst="rect">
            <a:avLst/>
          </a:prstGeom>
          <a:noFill/>
          <a:ln>
            <a:noFill/>
          </a:ln>
        </p:spPr>
      </p:pic>
      <p:sp>
        <p:nvSpPr>
          <p:cNvPr id="189" name="Google Shape;189;p18"/>
          <p:cNvSpPr txBox="1"/>
          <p:nvPr/>
        </p:nvSpPr>
        <p:spPr>
          <a:xfrm flipH="1">
            <a:off x="412325" y="2126588"/>
            <a:ext cx="284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0</a:t>
            </a:r>
            <a:endParaRPr/>
          </a:p>
        </p:txBody>
      </p:sp>
      <p:sp>
        <p:nvSpPr>
          <p:cNvPr id="190" name="Google Shape;190;p18"/>
          <p:cNvSpPr txBox="1"/>
          <p:nvPr/>
        </p:nvSpPr>
        <p:spPr>
          <a:xfrm>
            <a:off x="1129950" y="2126588"/>
            <a:ext cx="33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1</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gtEl>
                                        <p:attrNameLst>
                                          <p:attrName>style.visibility</p:attrName>
                                        </p:attrNameLst>
                                      </p:cBhvr>
                                      <p:to>
                                        <p:strVal val="visible"/>
                                      </p:to>
                                    </p:set>
                                    <p:animEffect filter="fade" transition="in">
                                      <p:cBhvr>
                                        <p:cTn dur="1000"/>
                                        <p:tgtEl>
                                          <p:spTgt spid="181"/>
                                        </p:tgtEl>
                                      </p:cBhvr>
                                    </p:animEffect>
                                  </p:childTnLst>
                                </p:cTn>
                              </p:par>
                              <p:par>
                                <p:cTn fill="hold" nodeType="withEffect" presetClass="entr" presetID="10" presetSubtype="0">
                                  <p:stCondLst>
                                    <p:cond delay="0"/>
                                  </p:stCondLst>
                                  <p:childTnLst>
                                    <p:set>
                                      <p:cBhvr>
                                        <p:cTn dur="1" fill="hold">
                                          <p:stCondLst>
                                            <p:cond delay="0"/>
                                          </p:stCondLst>
                                        </p:cTn>
                                        <p:tgtEl>
                                          <p:spTgt spid="180"/>
                                        </p:tgtEl>
                                        <p:attrNameLst>
                                          <p:attrName>style.visibility</p:attrName>
                                        </p:attrNameLst>
                                      </p:cBhvr>
                                      <p:to>
                                        <p:strVal val="visible"/>
                                      </p:to>
                                    </p:set>
                                    <p:animEffect filter="fade" transition="in">
                                      <p:cBhvr>
                                        <p:cTn dur="1000"/>
                                        <p:tgtEl>
                                          <p:spTgt spid="180"/>
                                        </p:tgtEl>
                                      </p:cBhvr>
                                    </p:animEffect>
                                  </p:childTnLst>
                                </p:cTn>
                              </p:par>
                              <p:par>
                                <p:cTn fill="hold" nodeType="with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1000"/>
                                        <p:tgtEl>
                                          <p:spTgt spid="1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1000"/>
                                        <p:tgtEl>
                                          <p:spTgt spid="169"/>
                                        </p:tgtEl>
                                      </p:cBhvr>
                                    </p:animEffect>
                                  </p:childTnLst>
                                </p:cTn>
                              </p:par>
                              <p:par>
                                <p:cTn fill="hold" nodeType="with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1000"/>
                                        <p:tgtEl>
                                          <p:spTgt spid="186"/>
                                        </p:tgtEl>
                                      </p:cBhvr>
                                    </p:animEffect>
                                  </p:childTnLst>
                                </p:cTn>
                              </p:par>
                              <p:par>
                                <p:cTn fill="hold" nodeType="withEffect" presetClass="entr" presetID="10" presetSubtype="0">
                                  <p:stCondLst>
                                    <p:cond delay="0"/>
                                  </p:stCondLst>
                                  <p:childTnLst>
                                    <p:set>
                                      <p:cBhvr>
                                        <p:cTn dur="1" fill="hold">
                                          <p:stCondLst>
                                            <p:cond delay="0"/>
                                          </p:stCondLst>
                                        </p:cTn>
                                        <p:tgtEl>
                                          <p:spTgt spid="187"/>
                                        </p:tgtEl>
                                        <p:attrNameLst>
                                          <p:attrName>style.visibility</p:attrName>
                                        </p:attrNameLst>
                                      </p:cBhvr>
                                      <p:to>
                                        <p:strVal val="visible"/>
                                      </p:to>
                                    </p:set>
                                    <p:animEffect filter="fade" transition="in">
                                      <p:cBhvr>
                                        <p:cTn dur="1000"/>
                                        <p:tgtEl>
                                          <p:spTgt spid="187"/>
                                        </p:tgtEl>
                                      </p:cBhvr>
                                    </p:animEffect>
                                  </p:childTnLst>
                                </p:cTn>
                              </p:par>
                              <p:par>
                                <p:cTn fill="hold" nodeType="with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1000"/>
                                        <p:tgtEl>
                                          <p:spTgt spid="188"/>
                                        </p:tgtEl>
                                      </p:cBhvr>
                                    </p:animEffect>
                                  </p:childTnLst>
                                </p:cTn>
                              </p:par>
                              <p:par>
                                <p:cTn fill="hold" nodeType="with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1000"/>
                                        <p:tgtEl>
                                          <p:spTgt spid="170"/>
                                        </p:tgtEl>
                                      </p:cBhvr>
                                    </p:animEffect>
                                  </p:childTnLst>
                                </p:cTn>
                              </p:par>
                              <p:par>
                                <p:cTn fill="hold" nodeType="with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1000"/>
                                        <p:tgtEl>
                                          <p:spTgt spid="171"/>
                                        </p:tgtEl>
                                      </p:cBhvr>
                                    </p:animEffect>
                                  </p:childTnLst>
                                </p:cTn>
                              </p:par>
                              <p:par>
                                <p:cTn fill="hold" nodeType="withEffect" presetClass="entr" presetID="10" presetSubtype="0">
                                  <p:stCondLst>
                                    <p:cond delay="0"/>
                                  </p:stCondLst>
                                  <p:childTnLst>
                                    <p:set>
                                      <p:cBhvr>
                                        <p:cTn dur="1" fill="hold">
                                          <p:stCondLst>
                                            <p:cond delay="0"/>
                                          </p:stCondLst>
                                        </p:cTn>
                                        <p:tgtEl>
                                          <p:spTgt spid="172"/>
                                        </p:tgtEl>
                                        <p:attrNameLst>
                                          <p:attrName>style.visibility</p:attrName>
                                        </p:attrNameLst>
                                      </p:cBhvr>
                                      <p:to>
                                        <p:strVal val="visible"/>
                                      </p:to>
                                    </p:set>
                                    <p:animEffect filter="fade" transition="in">
                                      <p:cBhvr>
                                        <p:cTn dur="1000"/>
                                        <p:tgtEl>
                                          <p:spTgt spid="172"/>
                                        </p:tgtEl>
                                      </p:cBhvr>
                                    </p:animEffect>
                                  </p:childTnLst>
                                </p:cTn>
                              </p:par>
                              <p:par>
                                <p:cTn fill="hold" nodeType="with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1000"/>
                                        <p:tgtEl>
                                          <p:spTgt spid="173"/>
                                        </p:tgtEl>
                                      </p:cBhvr>
                                    </p:animEffect>
                                  </p:childTnLst>
                                </p:cTn>
                              </p:par>
                              <p:par>
                                <p:cTn fill="hold" nodeType="withEffect" presetClass="entr" presetID="10" presetSubtype="0">
                                  <p:stCondLst>
                                    <p:cond delay="0"/>
                                  </p:stCondLst>
                                  <p:childTnLst>
                                    <p:set>
                                      <p:cBhvr>
                                        <p:cTn dur="1" fill="hold">
                                          <p:stCondLst>
                                            <p:cond delay="0"/>
                                          </p:stCondLst>
                                        </p:cTn>
                                        <p:tgtEl>
                                          <p:spTgt spid="174"/>
                                        </p:tgtEl>
                                        <p:attrNameLst>
                                          <p:attrName>style.visibility</p:attrName>
                                        </p:attrNameLst>
                                      </p:cBhvr>
                                      <p:to>
                                        <p:strVal val="visible"/>
                                      </p:to>
                                    </p:set>
                                    <p:animEffect filter="fade" transition="in">
                                      <p:cBhvr>
                                        <p:cTn dur="1000"/>
                                        <p:tgtEl>
                                          <p:spTgt spid="174"/>
                                        </p:tgtEl>
                                      </p:cBhvr>
                                    </p:animEffect>
                                  </p:childTnLst>
                                </p:cTn>
                              </p:par>
                              <p:par>
                                <p:cTn fill="hold" nodeType="with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1000"/>
                                        <p:tgtEl>
                                          <p:spTgt spid="176"/>
                                        </p:tgtEl>
                                      </p:cBhvr>
                                    </p:animEffect>
                                  </p:childTnLst>
                                </p:cTn>
                              </p:par>
                              <p:par>
                                <p:cTn fill="hold" nodeType="with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1000"/>
                                        <p:tgtEl>
                                          <p:spTgt spid="183"/>
                                        </p:tgtEl>
                                      </p:cBhvr>
                                    </p:animEffect>
                                  </p:childTnLst>
                                </p:cTn>
                              </p:par>
                              <p:par>
                                <p:cTn fill="hold" nodeType="with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1000"/>
                                        <p:tgtEl>
                                          <p:spTgt spid="168"/>
                                        </p:tgtEl>
                                      </p:cBhvr>
                                    </p:animEffect>
                                  </p:childTnLst>
                                </p:cTn>
                              </p:par>
                              <p:par>
                                <p:cTn fill="hold" nodeType="with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1000"/>
                                        <p:tgtEl>
                                          <p:spTgt spid="166"/>
                                        </p:tgtEl>
                                      </p:cBhvr>
                                    </p:animEffect>
                                  </p:childTnLst>
                                </p:cTn>
                              </p:par>
                              <p:par>
                                <p:cTn fill="hold" nodeType="withEffect" presetClass="entr" presetID="10" presetSubtype="0">
                                  <p:stCondLst>
                                    <p:cond delay="0"/>
                                  </p:stCondLst>
                                  <p:childTnLst>
                                    <p:set>
                                      <p:cBhvr>
                                        <p:cTn dur="1" fill="hold">
                                          <p:stCondLst>
                                            <p:cond delay="0"/>
                                          </p:stCondLst>
                                        </p:cTn>
                                        <p:tgtEl>
                                          <p:spTgt spid="182"/>
                                        </p:tgtEl>
                                        <p:attrNameLst>
                                          <p:attrName>style.visibility</p:attrName>
                                        </p:attrNameLst>
                                      </p:cBhvr>
                                      <p:to>
                                        <p:strVal val="visible"/>
                                      </p:to>
                                    </p:set>
                                    <p:animEffect filter="fade" transition="in">
                                      <p:cBhvr>
                                        <p:cTn dur="1000"/>
                                        <p:tgtEl>
                                          <p:spTgt spid="1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1000"/>
                                        <p:tgtEl>
                                          <p:spTgt spid="177"/>
                                        </p:tgtEl>
                                      </p:cBhvr>
                                    </p:animEffect>
                                  </p:childTnLst>
                                </p:cTn>
                              </p:par>
                              <p:par>
                                <p:cTn fill="hold" nodeType="with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1000"/>
                                        <p:tgtEl>
                                          <p:spTgt spid="184"/>
                                        </p:tgtEl>
                                      </p:cBhvr>
                                    </p:animEffect>
                                  </p:childTnLst>
                                </p:cTn>
                              </p:par>
                              <p:par>
                                <p:cTn fill="hold" nodeType="with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1000"/>
                                        <p:tgtEl>
                                          <p:spTgt spid="1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1000"/>
                                        <p:tgtEl>
                                          <p:spTgt spid="155"/>
                                        </p:tgtEl>
                                      </p:cBhvr>
                                    </p:animEffect>
                                  </p:childTnLst>
                                </p:cTn>
                              </p:par>
                              <p:par>
                                <p:cTn fill="hold" nodeType="withEffect" presetClass="entr" presetID="10" presetSubtype="0">
                                  <p:stCondLst>
                                    <p:cond delay="0"/>
                                  </p:stCondLst>
                                  <p:childTnLst>
                                    <p:set>
                                      <p:cBhvr>
                                        <p:cTn dur="1" fill="hold">
                                          <p:stCondLst>
                                            <p:cond delay="0"/>
                                          </p:stCondLst>
                                        </p:cTn>
                                        <p:tgtEl>
                                          <p:spTgt spid="175"/>
                                        </p:tgtEl>
                                        <p:attrNameLst>
                                          <p:attrName>style.visibility</p:attrName>
                                        </p:attrNameLst>
                                      </p:cBhvr>
                                      <p:to>
                                        <p:strVal val="visible"/>
                                      </p:to>
                                    </p:set>
                                    <p:animEffect filter="fade" transition="in">
                                      <p:cBhvr>
                                        <p:cTn dur="1000"/>
                                        <p:tgtEl>
                                          <p:spTgt spid="175"/>
                                        </p:tgtEl>
                                      </p:cBhvr>
                                    </p:animEffect>
                                  </p:childTnLst>
                                </p:cTn>
                              </p:par>
                              <p:par>
                                <p:cTn fill="hold" nodeType="with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1000"/>
                                        <p:tgtEl>
                                          <p:spTgt spid="178"/>
                                        </p:tgtEl>
                                      </p:cBhvr>
                                    </p:animEffect>
                                  </p:childTnLst>
                                </p:cTn>
                              </p:par>
                              <p:par>
                                <p:cTn fill="hold" nodeType="with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1000"/>
                                        <p:tgtEl>
                                          <p:spTgt spid="1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4" name="Shape 194"/>
        <p:cNvGrpSpPr/>
        <p:nvPr/>
      </p:nvGrpSpPr>
      <p:grpSpPr>
        <a:xfrm>
          <a:off x="0" y="0"/>
          <a:ext cx="0" cy="0"/>
          <a:chOff x="0" y="0"/>
          <a:chExt cx="0" cy="0"/>
        </a:xfrm>
      </p:grpSpPr>
      <p:sp>
        <p:nvSpPr>
          <p:cNvPr id="195" name="Google Shape;195;p19"/>
          <p:cNvSpPr txBox="1"/>
          <p:nvPr/>
        </p:nvSpPr>
        <p:spPr>
          <a:xfrm>
            <a:off x="152400" y="266700"/>
            <a:ext cx="9144000" cy="534600"/>
          </a:xfrm>
          <a:prstGeom prst="rect">
            <a:avLst/>
          </a:prstGeom>
          <a:solidFill>
            <a:srgbClr val="054B3E"/>
          </a:solid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sz="2600">
                <a:solidFill>
                  <a:srgbClr val="FFFF00"/>
                </a:solidFill>
                <a:latin typeface="Oswald"/>
                <a:ea typeface="Oswald"/>
                <a:cs typeface="Oswald"/>
                <a:sym typeface="Oswald"/>
              </a:rPr>
              <a:t>One -Layer Neural network</a:t>
            </a:r>
            <a:endParaRPr sz="2600">
              <a:solidFill>
                <a:srgbClr val="FFFF00"/>
              </a:solidFill>
              <a:latin typeface="Oswald"/>
              <a:ea typeface="Oswald"/>
              <a:cs typeface="Oswald"/>
              <a:sym typeface="Oswald"/>
            </a:endParaRPr>
          </a:p>
        </p:txBody>
      </p:sp>
      <p:sp>
        <p:nvSpPr>
          <p:cNvPr id="196" name="Google Shape;196;p19"/>
          <p:cNvSpPr/>
          <p:nvPr/>
        </p:nvSpPr>
        <p:spPr>
          <a:xfrm>
            <a:off x="152400" y="152400"/>
            <a:ext cx="9144000" cy="1143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400">
              <a:solidFill>
                <a:srgbClr val="FFFFFF"/>
              </a:solidFill>
              <a:latin typeface="Oswald"/>
              <a:ea typeface="Oswald"/>
              <a:cs typeface="Oswald"/>
              <a:sym typeface="Oswald"/>
            </a:endParaRPr>
          </a:p>
        </p:txBody>
      </p:sp>
      <p:sp>
        <p:nvSpPr>
          <p:cNvPr id="197" name="Google Shape;197;p19"/>
          <p:cNvSpPr/>
          <p:nvPr/>
        </p:nvSpPr>
        <p:spPr>
          <a:xfrm>
            <a:off x="0" y="4971900"/>
            <a:ext cx="9144000" cy="171600"/>
          </a:xfrm>
          <a:prstGeom prst="rect">
            <a:avLst/>
          </a:prstGeom>
          <a:solidFill>
            <a:srgbClr val="054B3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198" name="Google Shape;198;p19"/>
          <p:cNvSpPr txBox="1"/>
          <p:nvPr/>
        </p:nvSpPr>
        <p:spPr>
          <a:xfrm>
            <a:off x="8624858" y="4349295"/>
            <a:ext cx="548700" cy="3543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pic>
        <p:nvPicPr>
          <p:cNvPr id="199" name="Google Shape;199;p19"/>
          <p:cNvPicPr preferRelativeResize="0"/>
          <p:nvPr/>
        </p:nvPicPr>
        <p:blipFill rotWithShape="1">
          <a:blip r:embed="rId3">
            <a:alphaModFix/>
          </a:blip>
          <a:srcRect b="23482" l="0" r="0" t="8374"/>
          <a:stretch/>
        </p:blipFill>
        <p:spPr>
          <a:xfrm>
            <a:off x="210375" y="1711542"/>
            <a:ext cx="687989" cy="490963"/>
          </a:xfrm>
          <a:prstGeom prst="rect">
            <a:avLst/>
          </a:prstGeom>
          <a:noFill/>
          <a:ln>
            <a:noFill/>
          </a:ln>
        </p:spPr>
      </p:pic>
      <p:pic>
        <p:nvPicPr>
          <p:cNvPr id="200" name="Google Shape;200;p19"/>
          <p:cNvPicPr preferRelativeResize="0"/>
          <p:nvPr/>
        </p:nvPicPr>
        <p:blipFill rotWithShape="1">
          <a:blip r:embed="rId4">
            <a:alphaModFix/>
          </a:blip>
          <a:srcRect b="23971" l="29913" r="25419" t="0"/>
          <a:stretch/>
        </p:blipFill>
        <p:spPr>
          <a:xfrm>
            <a:off x="1015128" y="1701460"/>
            <a:ext cx="560373" cy="541214"/>
          </a:xfrm>
          <a:prstGeom prst="rect">
            <a:avLst/>
          </a:prstGeom>
          <a:noFill/>
          <a:ln>
            <a:noFill/>
          </a:ln>
        </p:spPr>
      </p:pic>
      <p:pic>
        <p:nvPicPr>
          <p:cNvPr id="201" name="Google Shape;201;p19"/>
          <p:cNvPicPr preferRelativeResize="0"/>
          <p:nvPr/>
        </p:nvPicPr>
        <p:blipFill>
          <a:blip r:embed="rId5">
            <a:alphaModFix/>
          </a:blip>
          <a:stretch>
            <a:fillRect/>
          </a:stretch>
        </p:blipFill>
        <p:spPr>
          <a:xfrm>
            <a:off x="472376" y="881175"/>
            <a:ext cx="846419" cy="513917"/>
          </a:xfrm>
          <a:prstGeom prst="rect">
            <a:avLst/>
          </a:prstGeom>
          <a:noFill/>
          <a:ln>
            <a:noFill/>
          </a:ln>
        </p:spPr>
      </p:pic>
      <p:cxnSp>
        <p:nvCxnSpPr>
          <p:cNvPr id="202" name="Google Shape;202;p19"/>
          <p:cNvCxnSpPr/>
          <p:nvPr/>
        </p:nvCxnSpPr>
        <p:spPr>
          <a:xfrm flipH="1">
            <a:off x="890812" y="1363767"/>
            <a:ext cx="1800" cy="147900"/>
          </a:xfrm>
          <a:prstGeom prst="straightConnector1">
            <a:avLst/>
          </a:prstGeom>
          <a:noFill/>
          <a:ln cap="flat" cmpd="sng" w="9525">
            <a:solidFill>
              <a:schemeClr val="dk2"/>
            </a:solidFill>
            <a:prstDash val="solid"/>
            <a:round/>
            <a:headEnd len="med" w="med" type="none"/>
            <a:tailEnd len="med" w="med" type="none"/>
          </a:ln>
        </p:spPr>
      </p:cxnSp>
      <p:cxnSp>
        <p:nvCxnSpPr>
          <p:cNvPr id="203" name="Google Shape;203;p19"/>
          <p:cNvCxnSpPr/>
          <p:nvPr/>
        </p:nvCxnSpPr>
        <p:spPr>
          <a:xfrm>
            <a:off x="532793" y="1510548"/>
            <a:ext cx="780000" cy="0"/>
          </a:xfrm>
          <a:prstGeom prst="straightConnector1">
            <a:avLst/>
          </a:prstGeom>
          <a:noFill/>
          <a:ln cap="flat" cmpd="sng" w="9525">
            <a:solidFill>
              <a:schemeClr val="dk2"/>
            </a:solidFill>
            <a:prstDash val="solid"/>
            <a:round/>
            <a:headEnd len="med" w="med" type="none"/>
            <a:tailEnd len="med" w="med" type="none"/>
          </a:ln>
        </p:spPr>
      </p:cxnSp>
      <p:cxnSp>
        <p:nvCxnSpPr>
          <p:cNvPr id="204" name="Google Shape;204;p19"/>
          <p:cNvCxnSpPr/>
          <p:nvPr/>
        </p:nvCxnSpPr>
        <p:spPr>
          <a:xfrm flipH="1">
            <a:off x="532650" y="1516892"/>
            <a:ext cx="6600" cy="184500"/>
          </a:xfrm>
          <a:prstGeom prst="straightConnector1">
            <a:avLst/>
          </a:prstGeom>
          <a:noFill/>
          <a:ln cap="flat" cmpd="sng" w="9525">
            <a:solidFill>
              <a:schemeClr val="dk2"/>
            </a:solidFill>
            <a:prstDash val="solid"/>
            <a:round/>
            <a:headEnd len="med" w="med" type="none"/>
            <a:tailEnd len="med" w="med" type="triangle"/>
          </a:ln>
        </p:spPr>
      </p:cxnSp>
      <p:cxnSp>
        <p:nvCxnSpPr>
          <p:cNvPr id="205" name="Google Shape;205;p19"/>
          <p:cNvCxnSpPr/>
          <p:nvPr/>
        </p:nvCxnSpPr>
        <p:spPr>
          <a:xfrm flipH="1">
            <a:off x="1292401" y="1518787"/>
            <a:ext cx="5700" cy="180900"/>
          </a:xfrm>
          <a:prstGeom prst="straightConnector1">
            <a:avLst/>
          </a:prstGeom>
          <a:noFill/>
          <a:ln cap="flat" cmpd="sng" w="9525">
            <a:solidFill>
              <a:schemeClr val="dk2"/>
            </a:solidFill>
            <a:prstDash val="solid"/>
            <a:round/>
            <a:headEnd len="med" w="med" type="none"/>
            <a:tailEnd len="med" w="med" type="triangle"/>
          </a:ln>
        </p:spPr>
      </p:cxnSp>
      <p:sp>
        <p:nvSpPr>
          <p:cNvPr id="206" name="Google Shape;206;p19"/>
          <p:cNvSpPr txBox="1"/>
          <p:nvPr/>
        </p:nvSpPr>
        <p:spPr>
          <a:xfrm>
            <a:off x="152400" y="2433575"/>
            <a:ext cx="2127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Times New Roman"/>
                <a:ea typeface="Times New Roman"/>
                <a:cs typeface="Times New Roman"/>
                <a:sym typeface="Times New Roman"/>
              </a:rPr>
              <a:t>Target: Categorized two types of data</a:t>
            </a:r>
            <a:endParaRPr>
              <a:latin typeface="Times New Roman"/>
              <a:ea typeface="Times New Roman"/>
              <a:cs typeface="Times New Roman"/>
              <a:sym typeface="Times New Roman"/>
            </a:endParaRPr>
          </a:p>
        </p:txBody>
      </p:sp>
      <p:pic>
        <p:nvPicPr>
          <p:cNvPr id="207" name="Google Shape;207;p19"/>
          <p:cNvPicPr preferRelativeResize="0"/>
          <p:nvPr/>
        </p:nvPicPr>
        <p:blipFill rotWithShape="1">
          <a:blip r:embed="rId6">
            <a:alphaModFix/>
          </a:blip>
          <a:srcRect b="5334" l="5047" r="7776" t="10518"/>
          <a:stretch/>
        </p:blipFill>
        <p:spPr>
          <a:xfrm>
            <a:off x="270150" y="3142825"/>
            <a:ext cx="2050202" cy="1484326"/>
          </a:xfrm>
          <a:prstGeom prst="rect">
            <a:avLst/>
          </a:prstGeom>
          <a:noFill/>
          <a:ln>
            <a:noFill/>
          </a:ln>
        </p:spPr>
      </p:pic>
      <p:cxnSp>
        <p:nvCxnSpPr>
          <p:cNvPr id="208" name="Google Shape;208;p19"/>
          <p:cNvCxnSpPr/>
          <p:nvPr/>
        </p:nvCxnSpPr>
        <p:spPr>
          <a:xfrm>
            <a:off x="529400" y="3224475"/>
            <a:ext cx="1588200" cy="1241700"/>
          </a:xfrm>
          <a:prstGeom prst="straightConnector1">
            <a:avLst/>
          </a:prstGeom>
          <a:noFill/>
          <a:ln cap="flat" cmpd="sng" w="28575">
            <a:solidFill>
              <a:srgbClr val="FF0000"/>
            </a:solidFill>
            <a:prstDash val="solid"/>
            <a:round/>
            <a:headEnd len="med" w="med" type="none"/>
            <a:tailEnd len="med" w="med" type="none"/>
          </a:ln>
        </p:spPr>
      </p:cxnSp>
      <p:sp>
        <p:nvSpPr>
          <p:cNvPr id="209" name="Google Shape;209;p19"/>
          <p:cNvSpPr txBox="1"/>
          <p:nvPr/>
        </p:nvSpPr>
        <p:spPr>
          <a:xfrm>
            <a:off x="587150" y="4235125"/>
            <a:ext cx="51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t>
            </a:r>
            <a:r>
              <a:rPr b="1" lang="en">
                <a:solidFill>
                  <a:schemeClr val="dk1"/>
                </a:solidFill>
              </a:rPr>
              <a:t>-</a:t>
            </a:r>
            <a:r>
              <a:rPr lang="en">
                <a:solidFill>
                  <a:schemeClr val="dk1"/>
                </a:solidFill>
              </a:rPr>
              <a:t>)</a:t>
            </a:r>
            <a:endParaRPr>
              <a:solidFill>
                <a:schemeClr val="dk1"/>
              </a:solidFill>
            </a:endParaRPr>
          </a:p>
        </p:txBody>
      </p:sp>
      <p:sp>
        <p:nvSpPr>
          <p:cNvPr id="210" name="Google Shape;210;p19"/>
          <p:cNvSpPr txBox="1"/>
          <p:nvPr/>
        </p:nvSpPr>
        <p:spPr>
          <a:xfrm>
            <a:off x="1819175" y="3224475"/>
            <a:ext cx="173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11" name="Google Shape;211;p19"/>
          <p:cNvSpPr txBox="1"/>
          <p:nvPr/>
        </p:nvSpPr>
        <p:spPr>
          <a:xfrm>
            <a:off x="1731000" y="3224475"/>
            <a:ext cx="54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t>
            </a:r>
            <a:r>
              <a:rPr b="1" lang="en"/>
              <a:t>+</a:t>
            </a:r>
            <a:r>
              <a:rPr lang="en"/>
              <a:t>)</a:t>
            </a:r>
            <a:endParaRPr/>
          </a:p>
        </p:txBody>
      </p:sp>
      <p:sp>
        <p:nvSpPr>
          <p:cNvPr id="212" name="Google Shape;212;p19"/>
          <p:cNvSpPr txBox="1"/>
          <p:nvPr/>
        </p:nvSpPr>
        <p:spPr>
          <a:xfrm>
            <a:off x="3043400" y="1534650"/>
            <a:ext cx="4725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Times New Roman"/>
                <a:ea typeface="Times New Roman"/>
                <a:cs typeface="Times New Roman"/>
                <a:sym typeface="Times New Roman"/>
              </a:rPr>
              <a:t>The decision rule for classification where input is     x =</a:t>
            </a:r>
            <a:endParaRPr>
              <a:latin typeface="Times New Roman"/>
              <a:ea typeface="Times New Roman"/>
              <a:cs typeface="Times New Roman"/>
              <a:sym typeface="Times New Roman"/>
            </a:endParaRPr>
          </a:p>
        </p:txBody>
      </p:sp>
      <p:cxnSp>
        <p:nvCxnSpPr>
          <p:cNvPr id="213" name="Google Shape;213;p19"/>
          <p:cNvCxnSpPr/>
          <p:nvPr/>
        </p:nvCxnSpPr>
        <p:spPr>
          <a:xfrm>
            <a:off x="5975375" y="2160150"/>
            <a:ext cx="4800" cy="403200"/>
          </a:xfrm>
          <a:prstGeom prst="straightConnector1">
            <a:avLst/>
          </a:prstGeom>
          <a:noFill/>
          <a:ln cap="flat" cmpd="sng" w="9525">
            <a:solidFill>
              <a:schemeClr val="dk2"/>
            </a:solidFill>
            <a:prstDash val="solid"/>
            <a:round/>
            <a:headEnd len="med" w="med" type="none"/>
            <a:tailEnd len="med" w="med" type="none"/>
          </a:ln>
        </p:spPr>
      </p:cxnSp>
      <p:cxnSp>
        <p:nvCxnSpPr>
          <p:cNvPr id="214" name="Google Shape;214;p19"/>
          <p:cNvCxnSpPr/>
          <p:nvPr/>
        </p:nvCxnSpPr>
        <p:spPr>
          <a:xfrm>
            <a:off x="5965625" y="2160150"/>
            <a:ext cx="404400" cy="0"/>
          </a:xfrm>
          <a:prstGeom prst="straightConnector1">
            <a:avLst/>
          </a:prstGeom>
          <a:noFill/>
          <a:ln cap="flat" cmpd="sng" w="9525">
            <a:solidFill>
              <a:schemeClr val="dk2"/>
            </a:solidFill>
            <a:prstDash val="solid"/>
            <a:round/>
            <a:headEnd len="med" w="med" type="none"/>
            <a:tailEnd len="med" w="med" type="none"/>
          </a:ln>
        </p:spPr>
      </p:cxnSp>
      <p:cxnSp>
        <p:nvCxnSpPr>
          <p:cNvPr id="215" name="Google Shape;215;p19"/>
          <p:cNvCxnSpPr/>
          <p:nvPr/>
        </p:nvCxnSpPr>
        <p:spPr>
          <a:xfrm flipH="1" rot="10800000">
            <a:off x="5975375" y="2557650"/>
            <a:ext cx="384900" cy="9600"/>
          </a:xfrm>
          <a:prstGeom prst="straightConnector1">
            <a:avLst/>
          </a:prstGeom>
          <a:noFill/>
          <a:ln cap="flat" cmpd="sng" w="9525">
            <a:solidFill>
              <a:schemeClr val="dk2"/>
            </a:solidFill>
            <a:prstDash val="solid"/>
            <a:round/>
            <a:headEnd len="med" w="med" type="none"/>
            <a:tailEnd len="med" w="med" type="none"/>
          </a:ln>
        </p:spPr>
      </p:cxnSp>
      <p:sp>
        <p:nvSpPr>
          <p:cNvPr id="216" name="Google Shape;216;p19"/>
          <p:cNvSpPr txBox="1"/>
          <p:nvPr/>
        </p:nvSpPr>
        <p:spPr>
          <a:xfrm>
            <a:off x="6389125" y="1990800"/>
            <a:ext cx="51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a&gt;=0 </a:t>
            </a:r>
            <a:endParaRPr sz="1000"/>
          </a:p>
        </p:txBody>
      </p:sp>
      <p:sp>
        <p:nvSpPr>
          <p:cNvPr id="217" name="Google Shape;217;p19"/>
          <p:cNvSpPr txBox="1"/>
          <p:nvPr/>
        </p:nvSpPr>
        <p:spPr>
          <a:xfrm>
            <a:off x="6418000" y="2385450"/>
            <a:ext cx="51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a&lt;0 </a:t>
            </a:r>
            <a:endParaRPr sz="1100"/>
          </a:p>
        </p:txBody>
      </p:sp>
      <p:pic>
        <p:nvPicPr>
          <p:cNvPr descr="What is Perceptron: A Beginners Guide for Perceptron [Updated]" id="218" name="Google Shape;218;p19"/>
          <p:cNvPicPr preferRelativeResize="0"/>
          <p:nvPr/>
        </p:nvPicPr>
        <p:blipFill>
          <a:blip r:embed="rId7">
            <a:alphaModFix/>
          </a:blip>
          <a:stretch>
            <a:fillRect/>
          </a:stretch>
        </p:blipFill>
        <p:spPr>
          <a:xfrm>
            <a:off x="3264775" y="3321401"/>
            <a:ext cx="3488525" cy="1607675"/>
          </a:xfrm>
          <a:prstGeom prst="rect">
            <a:avLst/>
          </a:prstGeom>
          <a:noFill/>
          <a:ln>
            <a:noFill/>
          </a:ln>
        </p:spPr>
      </p:pic>
      <p:sp>
        <p:nvSpPr>
          <p:cNvPr id="219" name="Google Shape;219;p19"/>
          <p:cNvSpPr/>
          <p:nvPr/>
        </p:nvSpPr>
        <p:spPr>
          <a:xfrm>
            <a:off x="5254100" y="2281525"/>
            <a:ext cx="687900" cy="184500"/>
          </a:xfrm>
          <a:prstGeom prst="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9"/>
          <p:cNvSpPr txBox="1"/>
          <p:nvPr/>
        </p:nvSpPr>
        <p:spPr>
          <a:xfrm>
            <a:off x="6488450" y="2795400"/>
            <a:ext cx="1280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latin typeface="Times New Roman"/>
                <a:ea typeface="Times New Roman"/>
                <a:cs typeface="Times New Roman"/>
                <a:sym typeface="Times New Roman"/>
              </a:rPr>
              <a:t>ReLU activation</a:t>
            </a:r>
            <a:endParaRPr i="1" sz="1200">
              <a:latin typeface="Times New Roman"/>
              <a:ea typeface="Times New Roman"/>
              <a:cs typeface="Times New Roman"/>
              <a:sym typeface="Times New Roman"/>
            </a:endParaRPr>
          </a:p>
        </p:txBody>
      </p:sp>
      <p:sp>
        <p:nvSpPr>
          <p:cNvPr id="221" name="Google Shape;221;p19"/>
          <p:cNvSpPr txBox="1"/>
          <p:nvPr/>
        </p:nvSpPr>
        <p:spPr>
          <a:xfrm>
            <a:off x="4510050" y="4577000"/>
            <a:ext cx="28011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The Simplest Neural network: Perceptron</a:t>
            </a:r>
            <a:endParaRPr sz="900"/>
          </a:p>
        </p:txBody>
      </p:sp>
      <p:pic>
        <p:nvPicPr>
          <p:cNvPr id="222" name="Google Shape;222;p19" title="[0,0,0,&quot;https://www.codecogs.com/eqnedit.php?latex=y%20%3D%20%5Csigma%20(W%5ETX%20%2Bb)#0&quot;]"/>
          <p:cNvPicPr preferRelativeResize="0"/>
          <p:nvPr/>
        </p:nvPicPr>
        <p:blipFill>
          <a:blip r:embed="rId8">
            <a:alphaModFix/>
          </a:blip>
          <a:stretch>
            <a:fillRect/>
          </a:stretch>
        </p:blipFill>
        <p:spPr>
          <a:xfrm>
            <a:off x="6965450" y="4307800"/>
            <a:ext cx="1722900" cy="269191"/>
          </a:xfrm>
          <a:prstGeom prst="rect">
            <a:avLst/>
          </a:prstGeom>
          <a:noFill/>
          <a:ln>
            <a:noFill/>
          </a:ln>
        </p:spPr>
      </p:pic>
      <p:pic>
        <p:nvPicPr>
          <p:cNvPr id="223" name="Google Shape;223;p19" title="[255,0,0,&quot;https://www.codecogs.com/eqnedit.php?latex=w_1x_1%2Bw_2x_2%2Bb%3D0#0&quot;]"/>
          <p:cNvPicPr preferRelativeResize="0"/>
          <p:nvPr/>
        </p:nvPicPr>
        <p:blipFill>
          <a:blip r:embed="rId9">
            <a:alphaModFix/>
          </a:blip>
          <a:stretch>
            <a:fillRect/>
          </a:stretch>
        </p:blipFill>
        <p:spPr>
          <a:xfrm>
            <a:off x="1859125" y="4084797"/>
            <a:ext cx="1280701" cy="150323"/>
          </a:xfrm>
          <a:prstGeom prst="rect">
            <a:avLst/>
          </a:prstGeom>
          <a:noFill/>
          <a:ln>
            <a:noFill/>
          </a:ln>
        </p:spPr>
      </p:pic>
      <p:pic>
        <p:nvPicPr>
          <p:cNvPr id="224" name="Google Shape;224;p19" title="[0,0,0,&quot;https://www.codecogs.com/eqnedit.php?latex=w_1x_1%20%2B%20w_2x_2%2Bb%20%3D0%20%5Ctext%7B%20represents%20a%20line%20in%202D%7D#0&quot;]"/>
          <p:cNvPicPr preferRelativeResize="0"/>
          <p:nvPr/>
        </p:nvPicPr>
        <p:blipFill>
          <a:blip r:embed="rId10">
            <a:alphaModFix/>
          </a:blip>
          <a:stretch>
            <a:fillRect/>
          </a:stretch>
        </p:blipFill>
        <p:spPr>
          <a:xfrm>
            <a:off x="3115722" y="1156912"/>
            <a:ext cx="3783405" cy="180900"/>
          </a:xfrm>
          <a:prstGeom prst="rect">
            <a:avLst/>
          </a:prstGeom>
          <a:noFill/>
          <a:ln>
            <a:noFill/>
          </a:ln>
        </p:spPr>
      </p:pic>
      <p:sp>
        <p:nvSpPr>
          <p:cNvPr id="225" name="Google Shape;225;p19"/>
          <p:cNvSpPr txBox="1"/>
          <p:nvPr/>
        </p:nvSpPr>
        <p:spPr>
          <a:xfrm>
            <a:off x="4436150" y="2784225"/>
            <a:ext cx="1280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latin typeface="Times New Roman"/>
                <a:ea typeface="Times New Roman"/>
                <a:cs typeface="Times New Roman"/>
                <a:sym typeface="Times New Roman"/>
              </a:rPr>
              <a:t>Linear output</a:t>
            </a:r>
            <a:endParaRPr i="1" sz="1200">
              <a:latin typeface="Times New Roman"/>
              <a:ea typeface="Times New Roman"/>
              <a:cs typeface="Times New Roman"/>
              <a:sym typeface="Times New Roman"/>
            </a:endParaRPr>
          </a:p>
        </p:txBody>
      </p:sp>
      <p:pic>
        <p:nvPicPr>
          <p:cNvPr id="226" name="Google Shape;226;p19" title="[0,0,0,&quot;https://www.codecogs.com/eqnedit.php?latex=w_1x_1%2Bw_2x_2%2Bb%20%3D%20a#0&quot;]"/>
          <p:cNvPicPr preferRelativeResize="0"/>
          <p:nvPr/>
        </p:nvPicPr>
        <p:blipFill>
          <a:blip r:embed="rId11">
            <a:alphaModFix/>
          </a:blip>
          <a:stretch>
            <a:fillRect/>
          </a:stretch>
        </p:blipFill>
        <p:spPr>
          <a:xfrm>
            <a:off x="3139825" y="2267287"/>
            <a:ext cx="1902989" cy="184500"/>
          </a:xfrm>
          <a:prstGeom prst="rect">
            <a:avLst/>
          </a:prstGeom>
          <a:noFill/>
          <a:ln>
            <a:noFill/>
          </a:ln>
        </p:spPr>
      </p:pic>
      <p:sp>
        <p:nvSpPr>
          <p:cNvPr id="227" name="Google Shape;227;p19"/>
          <p:cNvSpPr txBox="1"/>
          <p:nvPr/>
        </p:nvSpPr>
        <p:spPr>
          <a:xfrm>
            <a:off x="7061150" y="2009400"/>
            <a:ext cx="51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rPr>
              <a:t>: y=1</a:t>
            </a:r>
            <a:endParaRPr sz="1000">
              <a:solidFill>
                <a:schemeClr val="dk1"/>
              </a:solidFill>
            </a:endParaRPr>
          </a:p>
        </p:txBody>
      </p:sp>
      <p:sp>
        <p:nvSpPr>
          <p:cNvPr id="228" name="Google Shape;228;p19"/>
          <p:cNvSpPr txBox="1"/>
          <p:nvPr/>
        </p:nvSpPr>
        <p:spPr>
          <a:xfrm>
            <a:off x="7061150" y="2377550"/>
            <a:ext cx="666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 y=0 </a:t>
            </a:r>
            <a:endParaRPr/>
          </a:p>
        </p:txBody>
      </p:sp>
      <p:sp>
        <p:nvSpPr>
          <p:cNvPr id="229" name="Google Shape;229;p19"/>
          <p:cNvSpPr/>
          <p:nvPr/>
        </p:nvSpPr>
        <p:spPr>
          <a:xfrm>
            <a:off x="7228848" y="1524225"/>
            <a:ext cx="330600" cy="400200"/>
          </a:xfrm>
          <a:prstGeom prst="bracePair">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br>
              <a:rPr lang="en" sz="500">
                <a:latin typeface="Times New Roman"/>
                <a:ea typeface="Times New Roman"/>
                <a:cs typeface="Times New Roman"/>
                <a:sym typeface="Times New Roman"/>
              </a:rPr>
            </a:br>
            <a:endParaRPr sz="500">
              <a:latin typeface="Times New Roman"/>
              <a:ea typeface="Times New Roman"/>
              <a:cs typeface="Times New Roman"/>
              <a:sym typeface="Times New Roman"/>
            </a:endParaRPr>
          </a:p>
          <a:p>
            <a:pPr indent="0" lvl="0" marL="0" rtl="0" algn="l">
              <a:spcBef>
                <a:spcPts val="0"/>
              </a:spcBef>
              <a:spcAft>
                <a:spcPts val="0"/>
              </a:spcAft>
              <a:buNone/>
            </a:pPr>
            <a:r>
              <a:t/>
            </a:r>
            <a:endParaRPr sz="500">
              <a:latin typeface="Times New Roman"/>
              <a:ea typeface="Times New Roman"/>
              <a:cs typeface="Times New Roman"/>
              <a:sym typeface="Times New Roman"/>
            </a:endParaRPr>
          </a:p>
        </p:txBody>
      </p:sp>
      <p:pic>
        <p:nvPicPr>
          <p:cNvPr id="230" name="Google Shape;230;p19"/>
          <p:cNvPicPr preferRelativeResize="0"/>
          <p:nvPr/>
        </p:nvPicPr>
        <p:blipFill>
          <a:blip r:embed="rId12">
            <a:alphaModFix/>
          </a:blip>
          <a:stretch>
            <a:fillRect/>
          </a:stretch>
        </p:blipFill>
        <p:spPr>
          <a:xfrm>
            <a:off x="7307442" y="1538806"/>
            <a:ext cx="173400" cy="162332"/>
          </a:xfrm>
          <a:prstGeom prst="rect">
            <a:avLst/>
          </a:prstGeom>
          <a:noFill/>
          <a:ln>
            <a:noFill/>
          </a:ln>
        </p:spPr>
      </p:pic>
      <p:pic>
        <p:nvPicPr>
          <p:cNvPr id="231" name="Google Shape;231;p19"/>
          <p:cNvPicPr preferRelativeResize="0"/>
          <p:nvPr/>
        </p:nvPicPr>
        <p:blipFill>
          <a:blip r:embed="rId13">
            <a:alphaModFix/>
          </a:blip>
          <a:stretch>
            <a:fillRect/>
          </a:stretch>
        </p:blipFill>
        <p:spPr>
          <a:xfrm>
            <a:off x="7307442" y="1754863"/>
            <a:ext cx="173400" cy="190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1000"/>
                                        <p:tgtEl>
                                          <p:spTgt spid="224"/>
                                        </p:tgtEl>
                                      </p:cBhvr>
                                    </p:animEffect>
                                  </p:childTnLst>
                                </p:cTn>
                              </p:par>
                              <p:par>
                                <p:cTn fill="hold" nodeType="with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1000"/>
                                        <p:tgtEl>
                                          <p:spTgt spid="223"/>
                                        </p:tgtEl>
                                      </p:cBhvr>
                                    </p:animEffect>
                                  </p:childTnLst>
                                </p:cTn>
                              </p:par>
                              <p:par>
                                <p:cTn fill="hold" nodeType="with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1000"/>
                                        <p:tgtEl>
                                          <p:spTgt spid="2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1000"/>
                                        <p:tgtEl>
                                          <p:spTgt spid="212"/>
                                        </p:tgtEl>
                                      </p:cBhvr>
                                    </p:animEffect>
                                  </p:childTnLst>
                                </p:cTn>
                              </p:par>
                              <p:par>
                                <p:cTn fill="hold" nodeType="with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1000"/>
                                        <p:tgtEl>
                                          <p:spTgt spid="229"/>
                                        </p:tgtEl>
                                      </p:cBhvr>
                                    </p:animEffect>
                                  </p:childTnLst>
                                </p:cTn>
                              </p:par>
                              <p:par>
                                <p:cTn fill="hold" nodeType="with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1000"/>
                                        <p:tgtEl>
                                          <p:spTgt spid="230"/>
                                        </p:tgtEl>
                                      </p:cBhvr>
                                    </p:animEffect>
                                  </p:childTnLst>
                                </p:cTn>
                              </p:par>
                              <p:par>
                                <p:cTn fill="hold" nodeType="with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1000"/>
                                        <p:tgtEl>
                                          <p:spTgt spid="231"/>
                                        </p:tgtEl>
                                      </p:cBhvr>
                                    </p:animEffect>
                                  </p:childTnLst>
                                </p:cTn>
                              </p:par>
                              <p:par>
                                <p:cTn fill="hold" nodeType="with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1000"/>
                                        <p:tgtEl>
                                          <p:spTgt spid="213"/>
                                        </p:tgtEl>
                                      </p:cBhvr>
                                    </p:animEffect>
                                  </p:childTnLst>
                                </p:cTn>
                              </p:par>
                              <p:par>
                                <p:cTn fill="hold" nodeType="with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1000"/>
                                        <p:tgtEl>
                                          <p:spTgt spid="214"/>
                                        </p:tgtEl>
                                      </p:cBhvr>
                                    </p:animEffect>
                                  </p:childTnLst>
                                </p:cTn>
                              </p:par>
                              <p:par>
                                <p:cTn fill="hold" nodeType="with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1000"/>
                                        <p:tgtEl>
                                          <p:spTgt spid="215"/>
                                        </p:tgtEl>
                                      </p:cBhvr>
                                    </p:animEffect>
                                  </p:childTnLst>
                                </p:cTn>
                              </p:par>
                              <p:par>
                                <p:cTn fill="hold" nodeType="with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1000"/>
                                        <p:tgtEl>
                                          <p:spTgt spid="216"/>
                                        </p:tgtEl>
                                      </p:cBhvr>
                                    </p:animEffect>
                                  </p:childTnLst>
                                </p:cTn>
                              </p:par>
                              <p:par>
                                <p:cTn fill="hold" nodeType="withEffect" presetClass="entr" presetID="10" presetSubtype="0">
                                  <p:stCondLst>
                                    <p:cond delay="0"/>
                                  </p:stCondLst>
                                  <p:childTnLst>
                                    <p:set>
                                      <p:cBhvr>
                                        <p:cTn dur="1" fill="hold">
                                          <p:stCondLst>
                                            <p:cond delay="0"/>
                                          </p:stCondLst>
                                        </p:cTn>
                                        <p:tgtEl>
                                          <p:spTgt spid="217"/>
                                        </p:tgtEl>
                                        <p:attrNameLst>
                                          <p:attrName>style.visibility</p:attrName>
                                        </p:attrNameLst>
                                      </p:cBhvr>
                                      <p:to>
                                        <p:strVal val="visible"/>
                                      </p:to>
                                    </p:set>
                                    <p:animEffect filter="fade" transition="in">
                                      <p:cBhvr>
                                        <p:cTn dur="1000"/>
                                        <p:tgtEl>
                                          <p:spTgt spid="217"/>
                                        </p:tgtEl>
                                      </p:cBhvr>
                                    </p:animEffect>
                                  </p:childTnLst>
                                </p:cTn>
                              </p:par>
                              <p:par>
                                <p:cTn fill="hold" nodeType="with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1000"/>
                                        <p:tgtEl>
                                          <p:spTgt spid="219"/>
                                        </p:tgtEl>
                                      </p:cBhvr>
                                    </p:animEffect>
                                  </p:childTnLst>
                                </p:cTn>
                              </p:par>
                              <p:par>
                                <p:cTn fill="hold" nodeType="withEffect" presetClass="entr" presetID="10" presetSubtype="0">
                                  <p:stCondLst>
                                    <p:cond delay="0"/>
                                  </p:stCondLst>
                                  <p:childTnLst>
                                    <p:set>
                                      <p:cBhvr>
                                        <p:cTn dur="1" fill="hold">
                                          <p:stCondLst>
                                            <p:cond delay="0"/>
                                          </p:stCondLst>
                                        </p:cTn>
                                        <p:tgtEl>
                                          <p:spTgt spid="226"/>
                                        </p:tgtEl>
                                        <p:attrNameLst>
                                          <p:attrName>style.visibility</p:attrName>
                                        </p:attrNameLst>
                                      </p:cBhvr>
                                      <p:to>
                                        <p:strVal val="visible"/>
                                      </p:to>
                                    </p:set>
                                    <p:animEffect filter="fade" transition="in">
                                      <p:cBhvr>
                                        <p:cTn dur="1000"/>
                                        <p:tgtEl>
                                          <p:spTgt spid="226"/>
                                        </p:tgtEl>
                                      </p:cBhvr>
                                    </p:animEffect>
                                  </p:childTnLst>
                                </p:cTn>
                              </p:par>
                              <p:par>
                                <p:cTn fill="hold" nodeType="with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1000"/>
                                        <p:tgtEl>
                                          <p:spTgt spid="211"/>
                                        </p:tgtEl>
                                      </p:cBhvr>
                                    </p:animEffect>
                                  </p:childTnLst>
                                </p:cTn>
                              </p:par>
                              <p:par>
                                <p:cTn fill="hold" nodeType="with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1000"/>
                                        <p:tgtEl>
                                          <p:spTgt spid="209"/>
                                        </p:tgtEl>
                                      </p:cBhvr>
                                    </p:animEffect>
                                  </p:childTnLst>
                                </p:cTn>
                              </p:par>
                              <p:par>
                                <p:cTn fill="hold" nodeType="with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1000"/>
                                        <p:tgtEl>
                                          <p:spTgt spid="2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1000"/>
                                        <p:tgtEl>
                                          <p:spTgt spid="220"/>
                                        </p:tgtEl>
                                      </p:cBhvr>
                                    </p:animEffect>
                                  </p:childTnLst>
                                </p:cTn>
                              </p:par>
                              <p:par>
                                <p:cTn fill="hold" nodeType="withEffect" presetClass="entr" presetID="10" presetSubtype="0">
                                  <p:stCondLst>
                                    <p:cond delay="0"/>
                                  </p:stCondLst>
                                  <p:childTnLst>
                                    <p:set>
                                      <p:cBhvr>
                                        <p:cTn dur="1" fill="hold">
                                          <p:stCondLst>
                                            <p:cond delay="0"/>
                                          </p:stCondLst>
                                        </p:cTn>
                                        <p:tgtEl>
                                          <p:spTgt spid="227"/>
                                        </p:tgtEl>
                                        <p:attrNameLst>
                                          <p:attrName>style.visibility</p:attrName>
                                        </p:attrNameLst>
                                      </p:cBhvr>
                                      <p:to>
                                        <p:strVal val="visible"/>
                                      </p:to>
                                    </p:set>
                                    <p:animEffect filter="fade" transition="in">
                                      <p:cBhvr>
                                        <p:cTn dur="1000"/>
                                        <p:tgtEl>
                                          <p:spTgt spid="227"/>
                                        </p:tgtEl>
                                      </p:cBhvr>
                                    </p:animEffect>
                                  </p:childTnLst>
                                </p:cTn>
                              </p:par>
                              <p:par>
                                <p:cTn fill="hold" nodeType="withEffect" presetClass="entr" presetID="10" presetSubtype="0">
                                  <p:stCondLst>
                                    <p:cond delay="0"/>
                                  </p:stCondLst>
                                  <p:childTnLst>
                                    <p:set>
                                      <p:cBhvr>
                                        <p:cTn dur="1" fill="hold">
                                          <p:stCondLst>
                                            <p:cond delay="0"/>
                                          </p:stCondLst>
                                        </p:cTn>
                                        <p:tgtEl>
                                          <p:spTgt spid="228"/>
                                        </p:tgtEl>
                                        <p:attrNameLst>
                                          <p:attrName>style.visibility</p:attrName>
                                        </p:attrNameLst>
                                      </p:cBhvr>
                                      <p:to>
                                        <p:strVal val="visible"/>
                                      </p:to>
                                    </p:set>
                                    <p:animEffect filter="fade" transition="in">
                                      <p:cBhvr>
                                        <p:cTn dur="1000"/>
                                        <p:tgtEl>
                                          <p:spTgt spid="2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1000"/>
                                        <p:tgtEl>
                                          <p:spTgt spid="198"/>
                                        </p:tgtEl>
                                      </p:cBhvr>
                                    </p:animEffect>
                                  </p:childTnLst>
                                </p:cTn>
                              </p:par>
                              <p:par>
                                <p:cTn fill="hold" nodeType="with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1000"/>
                                        <p:tgtEl>
                                          <p:spTgt spid="218"/>
                                        </p:tgtEl>
                                      </p:cBhvr>
                                    </p:animEffect>
                                  </p:childTnLst>
                                </p:cTn>
                              </p:par>
                              <p:par>
                                <p:cTn fill="hold" nodeType="with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1000"/>
                                        <p:tgtEl>
                                          <p:spTgt spid="221"/>
                                        </p:tgtEl>
                                      </p:cBhvr>
                                    </p:animEffect>
                                  </p:childTnLst>
                                </p:cTn>
                              </p:par>
                              <p:par>
                                <p:cTn fill="hold" nodeType="with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1000"/>
                                        <p:tgtEl>
                                          <p:spTgt spid="2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5" name="Shape 235"/>
        <p:cNvGrpSpPr/>
        <p:nvPr/>
      </p:nvGrpSpPr>
      <p:grpSpPr>
        <a:xfrm>
          <a:off x="0" y="0"/>
          <a:ext cx="0" cy="0"/>
          <a:chOff x="0" y="0"/>
          <a:chExt cx="0" cy="0"/>
        </a:xfrm>
      </p:grpSpPr>
      <p:sp>
        <p:nvSpPr>
          <p:cNvPr id="236" name="Google Shape;236;p20"/>
          <p:cNvSpPr txBox="1"/>
          <p:nvPr/>
        </p:nvSpPr>
        <p:spPr>
          <a:xfrm>
            <a:off x="152400" y="266700"/>
            <a:ext cx="9144000" cy="534600"/>
          </a:xfrm>
          <a:prstGeom prst="rect">
            <a:avLst/>
          </a:prstGeom>
          <a:solidFill>
            <a:srgbClr val="054B3E"/>
          </a:solid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sz="2600">
                <a:solidFill>
                  <a:srgbClr val="FFFF00"/>
                </a:solidFill>
                <a:latin typeface="Oswald"/>
                <a:ea typeface="Oswald"/>
                <a:cs typeface="Oswald"/>
                <a:sym typeface="Oswald"/>
              </a:rPr>
              <a:t>Neural Network: Train</a:t>
            </a:r>
            <a:endParaRPr sz="2600">
              <a:solidFill>
                <a:srgbClr val="FFFF00"/>
              </a:solidFill>
              <a:latin typeface="Oswald"/>
              <a:ea typeface="Oswald"/>
              <a:cs typeface="Oswald"/>
              <a:sym typeface="Oswald"/>
            </a:endParaRPr>
          </a:p>
        </p:txBody>
      </p:sp>
      <p:sp>
        <p:nvSpPr>
          <p:cNvPr id="237" name="Google Shape;237;p20"/>
          <p:cNvSpPr/>
          <p:nvPr/>
        </p:nvSpPr>
        <p:spPr>
          <a:xfrm>
            <a:off x="152400" y="152400"/>
            <a:ext cx="9144000" cy="1143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400">
              <a:solidFill>
                <a:srgbClr val="FFFFFF"/>
              </a:solidFill>
              <a:latin typeface="Oswald"/>
              <a:ea typeface="Oswald"/>
              <a:cs typeface="Oswald"/>
              <a:sym typeface="Oswald"/>
            </a:endParaRPr>
          </a:p>
        </p:txBody>
      </p:sp>
      <p:sp>
        <p:nvSpPr>
          <p:cNvPr id="238" name="Google Shape;238;p20"/>
          <p:cNvSpPr/>
          <p:nvPr/>
        </p:nvSpPr>
        <p:spPr>
          <a:xfrm>
            <a:off x="152400" y="5067300"/>
            <a:ext cx="9144000" cy="570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239" name="Google Shape;239;p20"/>
          <p:cNvSpPr/>
          <p:nvPr/>
        </p:nvSpPr>
        <p:spPr>
          <a:xfrm>
            <a:off x="152400" y="5124450"/>
            <a:ext cx="9144000" cy="171600"/>
          </a:xfrm>
          <a:prstGeom prst="rect">
            <a:avLst/>
          </a:prstGeom>
          <a:solidFill>
            <a:srgbClr val="054B3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240" name="Google Shape;240;p20"/>
          <p:cNvSpPr txBox="1"/>
          <p:nvPr/>
        </p:nvSpPr>
        <p:spPr>
          <a:xfrm>
            <a:off x="8624858" y="4349295"/>
            <a:ext cx="548700" cy="3543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pic>
        <p:nvPicPr>
          <p:cNvPr id="241" name="Google Shape;241;p20"/>
          <p:cNvPicPr preferRelativeResize="0"/>
          <p:nvPr/>
        </p:nvPicPr>
        <p:blipFill>
          <a:blip r:embed="rId3">
            <a:alphaModFix/>
          </a:blip>
          <a:stretch>
            <a:fillRect/>
          </a:stretch>
        </p:blipFill>
        <p:spPr>
          <a:xfrm>
            <a:off x="160625" y="824025"/>
            <a:ext cx="3625875" cy="2423152"/>
          </a:xfrm>
          <a:prstGeom prst="rect">
            <a:avLst/>
          </a:prstGeom>
          <a:noFill/>
          <a:ln>
            <a:noFill/>
          </a:ln>
        </p:spPr>
      </p:pic>
      <p:pic>
        <p:nvPicPr>
          <p:cNvPr id="242" name="Google Shape;242;p20"/>
          <p:cNvPicPr preferRelativeResize="0"/>
          <p:nvPr/>
        </p:nvPicPr>
        <p:blipFill>
          <a:blip r:embed="rId4">
            <a:alphaModFix/>
          </a:blip>
          <a:stretch>
            <a:fillRect/>
          </a:stretch>
        </p:blipFill>
        <p:spPr>
          <a:xfrm>
            <a:off x="152400" y="3399563"/>
            <a:ext cx="2498433" cy="1515337"/>
          </a:xfrm>
          <a:prstGeom prst="rect">
            <a:avLst/>
          </a:prstGeom>
          <a:noFill/>
          <a:ln>
            <a:noFill/>
          </a:ln>
        </p:spPr>
      </p:pic>
      <p:sp>
        <p:nvSpPr>
          <p:cNvPr id="243" name="Google Shape;243;p20"/>
          <p:cNvSpPr/>
          <p:nvPr/>
        </p:nvSpPr>
        <p:spPr>
          <a:xfrm>
            <a:off x="6185300" y="1469200"/>
            <a:ext cx="1615200" cy="355800"/>
          </a:xfrm>
          <a:prstGeom prst="rect">
            <a:avLst/>
          </a:prstGeom>
          <a:no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Layer 1</a:t>
            </a:r>
            <a:br>
              <a:rPr lang="en" sz="1100"/>
            </a:br>
            <a:r>
              <a:rPr lang="en" sz="1100"/>
              <a:t>(Data Transformation)</a:t>
            </a:r>
            <a:endParaRPr sz="1100"/>
          </a:p>
        </p:txBody>
      </p:sp>
      <p:sp>
        <p:nvSpPr>
          <p:cNvPr id="244" name="Google Shape;244;p20"/>
          <p:cNvSpPr/>
          <p:nvPr/>
        </p:nvSpPr>
        <p:spPr>
          <a:xfrm>
            <a:off x="6185300" y="2145224"/>
            <a:ext cx="1615200" cy="354000"/>
          </a:xfrm>
          <a:prstGeom prst="rect">
            <a:avLst/>
          </a:prstGeom>
          <a:noFill/>
          <a:ln cap="flat" cmpd="sng" w="952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Layer 2</a:t>
            </a:r>
            <a:endParaRPr sz="1100"/>
          </a:p>
          <a:p>
            <a:pPr indent="0" lvl="0" marL="0" rtl="0" algn="ctr">
              <a:spcBef>
                <a:spcPts val="0"/>
              </a:spcBef>
              <a:spcAft>
                <a:spcPts val="0"/>
              </a:spcAft>
              <a:buNone/>
            </a:pPr>
            <a:r>
              <a:rPr lang="en" sz="1100">
                <a:solidFill>
                  <a:schemeClr val="dk1"/>
                </a:solidFill>
              </a:rPr>
              <a:t>(Data Transformation)</a:t>
            </a:r>
            <a:endParaRPr sz="1100"/>
          </a:p>
        </p:txBody>
      </p:sp>
      <p:sp>
        <p:nvSpPr>
          <p:cNvPr id="245" name="Google Shape;245;p20"/>
          <p:cNvSpPr/>
          <p:nvPr/>
        </p:nvSpPr>
        <p:spPr>
          <a:xfrm>
            <a:off x="6185300" y="2759250"/>
            <a:ext cx="1615200" cy="354000"/>
          </a:xfrm>
          <a:prstGeom prst="rect">
            <a:avLst/>
          </a:prstGeom>
          <a:no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Layer 3</a:t>
            </a:r>
            <a:endParaRPr sz="1100"/>
          </a:p>
          <a:p>
            <a:pPr indent="0" lvl="0" marL="0" rtl="0" algn="ctr">
              <a:spcBef>
                <a:spcPts val="0"/>
              </a:spcBef>
              <a:spcAft>
                <a:spcPts val="0"/>
              </a:spcAft>
              <a:buNone/>
            </a:pPr>
            <a:r>
              <a:rPr lang="en" sz="1100">
                <a:solidFill>
                  <a:schemeClr val="dk1"/>
                </a:solidFill>
              </a:rPr>
              <a:t>(Data Transformation)</a:t>
            </a:r>
            <a:endParaRPr sz="1100"/>
          </a:p>
        </p:txBody>
      </p:sp>
      <p:sp>
        <p:nvSpPr>
          <p:cNvPr id="246" name="Google Shape;246;p20"/>
          <p:cNvSpPr txBox="1"/>
          <p:nvPr/>
        </p:nvSpPr>
        <p:spPr>
          <a:xfrm>
            <a:off x="6550700" y="889825"/>
            <a:ext cx="8844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t>Input X</a:t>
            </a:r>
            <a:endParaRPr sz="1100"/>
          </a:p>
        </p:txBody>
      </p:sp>
      <p:sp>
        <p:nvSpPr>
          <p:cNvPr id="247" name="Google Shape;247;p20"/>
          <p:cNvSpPr/>
          <p:nvPr/>
        </p:nvSpPr>
        <p:spPr>
          <a:xfrm>
            <a:off x="6574700" y="3402463"/>
            <a:ext cx="836400" cy="355800"/>
          </a:xfrm>
          <a:prstGeom prst="flowChartAlternateProcess">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Prediction</a:t>
            </a:r>
            <a:br>
              <a:rPr lang="en" sz="1000"/>
            </a:br>
            <a:r>
              <a:rPr lang="en" sz="1000"/>
              <a:t>Y’</a:t>
            </a:r>
            <a:endParaRPr sz="1000"/>
          </a:p>
        </p:txBody>
      </p:sp>
      <p:sp>
        <p:nvSpPr>
          <p:cNvPr id="248" name="Google Shape;248;p20"/>
          <p:cNvSpPr/>
          <p:nvPr/>
        </p:nvSpPr>
        <p:spPr>
          <a:xfrm>
            <a:off x="8193550" y="3434550"/>
            <a:ext cx="836400" cy="355800"/>
          </a:xfrm>
          <a:prstGeom prst="flowChartAlternateProcess">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True Target</a:t>
            </a:r>
            <a:br>
              <a:rPr lang="en" sz="900"/>
            </a:br>
            <a:r>
              <a:rPr lang="en" sz="900"/>
              <a:t>Y</a:t>
            </a:r>
            <a:endParaRPr sz="900"/>
          </a:p>
        </p:txBody>
      </p:sp>
      <p:sp>
        <p:nvSpPr>
          <p:cNvPr id="249" name="Google Shape;249;p20"/>
          <p:cNvSpPr/>
          <p:nvPr/>
        </p:nvSpPr>
        <p:spPr>
          <a:xfrm>
            <a:off x="7385850" y="4608063"/>
            <a:ext cx="972300" cy="242400"/>
          </a:xfrm>
          <a:prstGeom prst="flowChartAlternateProcess">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t>Loss score</a:t>
            </a:r>
            <a:endParaRPr sz="1100"/>
          </a:p>
        </p:txBody>
      </p:sp>
      <p:sp>
        <p:nvSpPr>
          <p:cNvPr id="250" name="Google Shape;250;p20"/>
          <p:cNvSpPr/>
          <p:nvPr/>
        </p:nvSpPr>
        <p:spPr>
          <a:xfrm>
            <a:off x="4523850" y="1525900"/>
            <a:ext cx="884400" cy="242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Weights</a:t>
            </a:r>
            <a:endParaRPr sz="1100"/>
          </a:p>
        </p:txBody>
      </p:sp>
      <p:sp>
        <p:nvSpPr>
          <p:cNvPr id="251" name="Google Shape;251;p20"/>
          <p:cNvSpPr/>
          <p:nvPr/>
        </p:nvSpPr>
        <p:spPr>
          <a:xfrm>
            <a:off x="4128600" y="3227825"/>
            <a:ext cx="1674900" cy="437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Optimizer</a:t>
            </a:r>
            <a:endParaRPr sz="1100"/>
          </a:p>
        </p:txBody>
      </p:sp>
      <p:sp>
        <p:nvSpPr>
          <p:cNvPr id="252" name="Google Shape;252;p20"/>
          <p:cNvSpPr/>
          <p:nvPr/>
        </p:nvSpPr>
        <p:spPr>
          <a:xfrm>
            <a:off x="4523850" y="2201025"/>
            <a:ext cx="884400" cy="242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Weights</a:t>
            </a:r>
            <a:endParaRPr sz="1100"/>
          </a:p>
        </p:txBody>
      </p:sp>
      <p:sp>
        <p:nvSpPr>
          <p:cNvPr id="253" name="Google Shape;253;p20"/>
          <p:cNvSpPr/>
          <p:nvPr/>
        </p:nvSpPr>
        <p:spPr>
          <a:xfrm>
            <a:off x="7034550" y="3954125"/>
            <a:ext cx="1674900" cy="437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t>Loss Function</a:t>
            </a:r>
            <a:endParaRPr sz="1100"/>
          </a:p>
        </p:txBody>
      </p:sp>
      <p:cxnSp>
        <p:nvCxnSpPr>
          <p:cNvPr id="254" name="Google Shape;254;p20"/>
          <p:cNvCxnSpPr>
            <a:stCxn id="246" idx="2"/>
            <a:endCxn id="243" idx="0"/>
          </p:cNvCxnSpPr>
          <p:nvPr/>
        </p:nvCxnSpPr>
        <p:spPr>
          <a:xfrm>
            <a:off x="6992900" y="1243825"/>
            <a:ext cx="0" cy="225300"/>
          </a:xfrm>
          <a:prstGeom prst="straightConnector1">
            <a:avLst/>
          </a:prstGeom>
          <a:noFill/>
          <a:ln cap="flat" cmpd="sng" w="9525">
            <a:solidFill>
              <a:schemeClr val="dk2"/>
            </a:solidFill>
            <a:prstDash val="solid"/>
            <a:round/>
            <a:headEnd len="med" w="med" type="none"/>
            <a:tailEnd len="med" w="med" type="triangle"/>
          </a:ln>
        </p:spPr>
      </p:cxnSp>
      <p:cxnSp>
        <p:nvCxnSpPr>
          <p:cNvPr id="255" name="Google Shape;255;p20"/>
          <p:cNvCxnSpPr>
            <a:stCxn id="243" idx="2"/>
            <a:endCxn id="244" idx="0"/>
          </p:cNvCxnSpPr>
          <p:nvPr/>
        </p:nvCxnSpPr>
        <p:spPr>
          <a:xfrm>
            <a:off x="6992900" y="1825000"/>
            <a:ext cx="0" cy="320100"/>
          </a:xfrm>
          <a:prstGeom prst="straightConnector1">
            <a:avLst/>
          </a:prstGeom>
          <a:noFill/>
          <a:ln cap="flat" cmpd="sng" w="9525">
            <a:solidFill>
              <a:schemeClr val="dk2"/>
            </a:solidFill>
            <a:prstDash val="solid"/>
            <a:round/>
            <a:headEnd len="med" w="med" type="none"/>
            <a:tailEnd len="med" w="med" type="triangle"/>
          </a:ln>
        </p:spPr>
      </p:cxnSp>
      <p:cxnSp>
        <p:nvCxnSpPr>
          <p:cNvPr id="256" name="Google Shape;256;p20"/>
          <p:cNvCxnSpPr>
            <a:stCxn id="244" idx="2"/>
            <a:endCxn id="245" idx="0"/>
          </p:cNvCxnSpPr>
          <p:nvPr/>
        </p:nvCxnSpPr>
        <p:spPr>
          <a:xfrm>
            <a:off x="6992900" y="2499224"/>
            <a:ext cx="0" cy="260100"/>
          </a:xfrm>
          <a:prstGeom prst="straightConnector1">
            <a:avLst/>
          </a:prstGeom>
          <a:noFill/>
          <a:ln cap="flat" cmpd="sng" w="9525">
            <a:solidFill>
              <a:schemeClr val="dk2"/>
            </a:solidFill>
            <a:prstDash val="solid"/>
            <a:round/>
            <a:headEnd len="med" w="med" type="none"/>
            <a:tailEnd len="med" w="med" type="triangle"/>
          </a:ln>
        </p:spPr>
      </p:cxnSp>
      <p:cxnSp>
        <p:nvCxnSpPr>
          <p:cNvPr id="257" name="Google Shape;257;p20"/>
          <p:cNvCxnSpPr>
            <a:stCxn id="245" idx="2"/>
            <a:endCxn id="247" idx="0"/>
          </p:cNvCxnSpPr>
          <p:nvPr/>
        </p:nvCxnSpPr>
        <p:spPr>
          <a:xfrm>
            <a:off x="6992900" y="3113250"/>
            <a:ext cx="0" cy="289200"/>
          </a:xfrm>
          <a:prstGeom prst="straightConnector1">
            <a:avLst/>
          </a:prstGeom>
          <a:noFill/>
          <a:ln cap="flat" cmpd="sng" w="9525">
            <a:solidFill>
              <a:schemeClr val="dk2"/>
            </a:solidFill>
            <a:prstDash val="solid"/>
            <a:round/>
            <a:headEnd len="med" w="med" type="none"/>
            <a:tailEnd len="med" w="med" type="triangle"/>
          </a:ln>
        </p:spPr>
      </p:cxnSp>
      <p:cxnSp>
        <p:nvCxnSpPr>
          <p:cNvPr id="258" name="Google Shape;258;p20"/>
          <p:cNvCxnSpPr>
            <a:stCxn id="247" idx="2"/>
            <a:endCxn id="253" idx="1"/>
          </p:cNvCxnSpPr>
          <p:nvPr/>
        </p:nvCxnSpPr>
        <p:spPr>
          <a:xfrm>
            <a:off x="6992900" y="3758263"/>
            <a:ext cx="286800" cy="259800"/>
          </a:xfrm>
          <a:prstGeom prst="straightConnector1">
            <a:avLst/>
          </a:prstGeom>
          <a:noFill/>
          <a:ln cap="flat" cmpd="sng" w="9525">
            <a:solidFill>
              <a:schemeClr val="dk2"/>
            </a:solidFill>
            <a:prstDash val="solid"/>
            <a:round/>
            <a:headEnd len="med" w="med" type="none"/>
            <a:tailEnd len="med" w="med" type="triangle"/>
          </a:ln>
        </p:spPr>
      </p:cxnSp>
      <p:cxnSp>
        <p:nvCxnSpPr>
          <p:cNvPr id="259" name="Google Shape;259;p20"/>
          <p:cNvCxnSpPr>
            <a:stCxn id="248" idx="2"/>
            <a:endCxn id="253" idx="7"/>
          </p:cNvCxnSpPr>
          <p:nvPr/>
        </p:nvCxnSpPr>
        <p:spPr>
          <a:xfrm flipH="1">
            <a:off x="8464150" y="3790350"/>
            <a:ext cx="147600" cy="227700"/>
          </a:xfrm>
          <a:prstGeom prst="straightConnector1">
            <a:avLst/>
          </a:prstGeom>
          <a:noFill/>
          <a:ln cap="flat" cmpd="sng" w="9525">
            <a:solidFill>
              <a:schemeClr val="dk2"/>
            </a:solidFill>
            <a:prstDash val="solid"/>
            <a:round/>
            <a:headEnd len="med" w="med" type="none"/>
            <a:tailEnd len="med" w="med" type="triangle"/>
          </a:ln>
        </p:spPr>
      </p:cxnSp>
      <p:cxnSp>
        <p:nvCxnSpPr>
          <p:cNvPr id="260" name="Google Shape;260;p20"/>
          <p:cNvCxnSpPr>
            <a:stCxn id="253" idx="4"/>
            <a:endCxn id="249" idx="0"/>
          </p:cNvCxnSpPr>
          <p:nvPr/>
        </p:nvCxnSpPr>
        <p:spPr>
          <a:xfrm>
            <a:off x="7872000" y="4391225"/>
            <a:ext cx="0" cy="216900"/>
          </a:xfrm>
          <a:prstGeom prst="straightConnector1">
            <a:avLst/>
          </a:prstGeom>
          <a:noFill/>
          <a:ln cap="flat" cmpd="sng" w="9525">
            <a:solidFill>
              <a:schemeClr val="dk2"/>
            </a:solidFill>
            <a:prstDash val="solid"/>
            <a:round/>
            <a:headEnd len="med" w="med" type="none"/>
            <a:tailEnd len="med" w="med" type="triangle"/>
          </a:ln>
        </p:spPr>
      </p:cxnSp>
      <p:cxnSp>
        <p:nvCxnSpPr>
          <p:cNvPr id="261" name="Google Shape;261;p20"/>
          <p:cNvCxnSpPr>
            <a:stCxn id="249" idx="1"/>
            <a:endCxn id="251" idx="5"/>
          </p:cNvCxnSpPr>
          <p:nvPr/>
        </p:nvCxnSpPr>
        <p:spPr>
          <a:xfrm rot="10800000">
            <a:off x="5558250" y="3600963"/>
            <a:ext cx="1827600" cy="1128300"/>
          </a:xfrm>
          <a:prstGeom prst="straightConnector1">
            <a:avLst/>
          </a:prstGeom>
          <a:noFill/>
          <a:ln cap="flat" cmpd="sng" w="9525">
            <a:solidFill>
              <a:schemeClr val="dk2"/>
            </a:solidFill>
            <a:prstDash val="solid"/>
            <a:round/>
            <a:headEnd len="med" w="med" type="none"/>
            <a:tailEnd len="med" w="med" type="triangle"/>
          </a:ln>
        </p:spPr>
      </p:cxnSp>
      <p:cxnSp>
        <p:nvCxnSpPr>
          <p:cNvPr id="262" name="Google Shape;262;p20"/>
          <p:cNvCxnSpPr>
            <a:stCxn id="252" idx="3"/>
            <a:endCxn id="244" idx="1"/>
          </p:cNvCxnSpPr>
          <p:nvPr/>
        </p:nvCxnSpPr>
        <p:spPr>
          <a:xfrm>
            <a:off x="5408250" y="2322225"/>
            <a:ext cx="777000" cy="0"/>
          </a:xfrm>
          <a:prstGeom prst="straightConnector1">
            <a:avLst/>
          </a:prstGeom>
          <a:noFill/>
          <a:ln cap="flat" cmpd="sng" w="9525">
            <a:solidFill>
              <a:schemeClr val="dk2"/>
            </a:solidFill>
            <a:prstDash val="solid"/>
            <a:round/>
            <a:headEnd len="med" w="med" type="none"/>
            <a:tailEnd len="med" w="med" type="triangle"/>
          </a:ln>
        </p:spPr>
      </p:cxnSp>
      <p:cxnSp>
        <p:nvCxnSpPr>
          <p:cNvPr id="263" name="Google Shape;263;p20"/>
          <p:cNvCxnSpPr/>
          <p:nvPr/>
        </p:nvCxnSpPr>
        <p:spPr>
          <a:xfrm flipH="1" rot="10800000">
            <a:off x="4359475" y="2319375"/>
            <a:ext cx="164400" cy="5700"/>
          </a:xfrm>
          <a:prstGeom prst="straightConnector1">
            <a:avLst/>
          </a:prstGeom>
          <a:noFill/>
          <a:ln cap="flat" cmpd="sng" w="9525">
            <a:solidFill>
              <a:schemeClr val="dk2"/>
            </a:solidFill>
            <a:prstDash val="solid"/>
            <a:round/>
            <a:headEnd len="med" w="med" type="none"/>
            <a:tailEnd len="med" w="med" type="triangle"/>
          </a:ln>
        </p:spPr>
      </p:cxnSp>
      <p:cxnSp>
        <p:nvCxnSpPr>
          <p:cNvPr id="264" name="Google Shape;264;p20"/>
          <p:cNvCxnSpPr>
            <a:stCxn id="250" idx="3"/>
            <a:endCxn id="243" idx="1"/>
          </p:cNvCxnSpPr>
          <p:nvPr/>
        </p:nvCxnSpPr>
        <p:spPr>
          <a:xfrm>
            <a:off x="5408250" y="1647100"/>
            <a:ext cx="777000" cy="0"/>
          </a:xfrm>
          <a:prstGeom prst="straightConnector1">
            <a:avLst/>
          </a:prstGeom>
          <a:noFill/>
          <a:ln cap="flat" cmpd="sng" w="9525">
            <a:solidFill>
              <a:schemeClr val="dk2"/>
            </a:solidFill>
            <a:prstDash val="solid"/>
            <a:round/>
            <a:headEnd len="med" w="med" type="none"/>
            <a:tailEnd len="med" w="med" type="triangle"/>
          </a:ln>
        </p:spPr>
      </p:cxnSp>
      <p:sp>
        <p:nvSpPr>
          <p:cNvPr id="265" name="Google Shape;265;p20"/>
          <p:cNvSpPr/>
          <p:nvPr/>
        </p:nvSpPr>
        <p:spPr>
          <a:xfrm>
            <a:off x="243775" y="1605288"/>
            <a:ext cx="548700" cy="9903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0"/>
          <p:cNvSpPr/>
          <p:nvPr/>
        </p:nvSpPr>
        <p:spPr>
          <a:xfrm>
            <a:off x="6640525" y="924425"/>
            <a:ext cx="836400" cy="2892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0"/>
          <p:cNvSpPr/>
          <p:nvPr/>
        </p:nvSpPr>
        <p:spPr>
          <a:xfrm>
            <a:off x="936175" y="1006450"/>
            <a:ext cx="548700" cy="2058300"/>
          </a:xfrm>
          <a:prstGeom prst="rect">
            <a:avLst/>
          </a:prstGeom>
          <a:no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0"/>
          <p:cNvSpPr/>
          <p:nvPr/>
        </p:nvSpPr>
        <p:spPr>
          <a:xfrm>
            <a:off x="1628563" y="1011238"/>
            <a:ext cx="589500" cy="2048700"/>
          </a:xfrm>
          <a:prstGeom prst="rect">
            <a:avLst/>
          </a:prstGeom>
          <a:noFill/>
          <a:ln cap="flat" cmpd="sng" w="952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0"/>
          <p:cNvSpPr/>
          <p:nvPr/>
        </p:nvSpPr>
        <p:spPr>
          <a:xfrm>
            <a:off x="2440800" y="1006450"/>
            <a:ext cx="651900" cy="2058300"/>
          </a:xfrm>
          <a:prstGeom prst="rect">
            <a:avLst/>
          </a:prstGeom>
          <a:no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0"/>
          <p:cNvSpPr/>
          <p:nvPr/>
        </p:nvSpPr>
        <p:spPr>
          <a:xfrm>
            <a:off x="3250113" y="1318150"/>
            <a:ext cx="548700" cy="1333800"/>
          </a:xfrm>
          <a:prstGeom prst="rect">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0"/>
          <p:cNvSpPr txBox="1"/>
          <p:nvPr/>
        </p:nvSpPr>
        <p:spPr>
          <a:xfrm>
            <a:off x="4830850" y="1293100"/>
            <a:ext cx="836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595959"/>
                </a:solidFill>
              </a:rPr>
              <a:t>adjusted</a:t>
            </a:r>
            <a:endParaRPr sz="1100">
              <a:solidFill>
                <a:srgbClr val="595959"/>
              </a:solidFill>
            </a:endParaRPr>
          </a:p>
        </p:txBody>
      </p:sp>
      <p:sp>
        <p:nvSpPr>
          <p:cNvPr id="272" name="Google Shape;272;p20"/>
          <p:cNvSpPr txBox="1"/>
          <p:nvPr/>
        </p:nvSpPr>
        <p:spPr>
          <a:xfrm>
            <a:off x="4830850" y="1932800"/>
            <a:ext cx="836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666666"/>
                </a:solidFill>
              </a:rPr>
              <a:t>adjusted</a:t>
            </a:r>
            <a:endParaRPr sz="1100">
              <a:solidFill>
                <a:srgbClr val="666666"/>
              </a:solidFill>
            </a:endParaRPr>
          </a:p>
        </p:txBody>
      </p:sp>
      <p:sp>
        <p:nvSpPr>
          <p:cNvPr id="273" name="Google Shape;273;p20"/>
          <p:cNvSpPr txBox="1"/>
          <p:nvPr/>
        </p:nvSpPr>
        <p:spPr>
          <a:xfrm>
            <a:off x="4863788" y="2572525"/>
            <a:ext cx="836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666666"/>
                </a:solidFill>
              </a:rPr>
              <a:t>adjusted</a:t>
            </a:r>
            <a:endParaRPr sz="1100">
              <a:solidFill>
                <a:srgbClr val="666666"/>
              </a:solidFill>
            </a:endParaRPr>
          </a:p>
        </p:txBody>
      </p:sp>
      <p:sp>
        <p:nvSpPr>
          <p:cNvPr id="274" name="Google Shape;274;p20"/>
          <p:cNvSpPr/>
          <p:nvPr/>
        </p:nvSpPr>
        <p:spPr>
          <a:xfrm>
            <a:off x="4523850" y="2813100"/>
            <a:ext cx="884400" cy="242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Weights</a:t>
            </a:r>
            <a:endParaRPr sz="1100"/>
          </a:p>
        </p:txBody>
      </p:sp>
      <p:cxnSp>
        <p:nvCxnSpPr>
          <p:cNvPr id="275" name="Google Shape;275;p20"/>
          <p:cNvCxnSpPr>
            <a:stCxn id="251" idx="0"/>
            <a:endCxn id="274" idx="2"/>
          </p:cNvCxnSpPr>
          <p:nvPr/>
        </p:nvCxnSpPr>
        <p:spPr>
          <a:xfrm rot="10800000">
            <a:off x="4966050" y="3055625"/>
            <a:ext cx="0" cy="172200"/>
          </a:xfrm>
          <a:prstGeom prst="straightConnector1">
            <a:avLst/>
          </a:prstGeom>
          <a:noFill/>
          <a:ln cap="flat" cmpd="sng" w="9525">
            <a:solidFill>
              <a:schemeClr val="dk2"/>
            </a:solidFill>
            <a:prstDash val="solid"/>
            <a:round/>
            <a:headEnd len="med" w="med" type="none"/>
            <a:tailEnd len="med" w="med" type="triangle"/>
          </a:ln>
        </p:spPr>
      </p:cxnSp>
      <p:cxnSp>
        <p:nvCxnSpPr>
          <p:cNvPr id="276" name="Google Shape;276;p20"/>
          <p:cNvCxnSpPr>
            <a:stCxn id="274" idx="3"/>
            <a:endCxn id="245" idx="1"/>
          </p:cNvCxnSpPr>
          <p:nvPr/>
        </p:nvCxnSpPr>
        <p:spPr>
          <a:xfrm>
            <a:off x="5408250" y="2934300"/>
            <a:ext cx="777000" cy="2100"/>
          </a:xfrm>
          <a:prstGeom prst="straightConnector1">
            <a:avLst/>
          </a:prstGeom>
          <a:noFill/>
          <a:ln cap="flat" cmpd="sng" w="9525">
            <a:solidFill>
              <a:schemeClr val="dk2"/>
            </a:solidFill>
            <a:prstDash val="solid"/>
            <a:round/>
            <a:headEnd len="med" w="med" type="none"/>
            <a:tailEnd len="med" w="med" type="triangle"/>
          </a:ln>
        </p:spPr>
      </p:cxnSp>
      <p:cxnSp>
        <p:nvCxnSpPr>
          <p:cNvPr id="277" name="Google Shape;277;p20"/>
          <p:cNvCxnSpPr>
            <a:stCxn id="251" idx="2"/>
          </p:cNvCxnSpPr>
          <p:nvPr/>
        </p:nvCxnSpPr>
        <p:spPr>
          <a:xfrm flipH="1" rot="10800000">
            <a:off x="4128600" y="1643075"/>
            <a:ext cx="8400" cy="1803300"/>
          </a:xfrm>
          <a:prstGeom prst="straightConnector1">
            <a:avLst/>
          </a:prstGeom>
          <a:noFill/>
          <a:ln cap="flat" cmpd="sng" w="9525">
            <a:solidFill>
              <a:schemeClr val="dk2"/>
            </a:solidFill>
            <a:prstDash val="solid"/>
            <a:round/>
            <a:headEnd len="med" w="med" type="none"/>
            <a:tailEnd len="med" w="med" type="none"/>
          </a:ln>
        </p:spPr>
      </p:cxnSp>
      <p:cxnSp>
        <p:nvCxnSpPr>
          <p:cNvPr id="278" name="Google Shape;278;p20"/>
          <p:cNvCxnSpPr>
            <a:stCxn id="251" idx="1"/>
          </p:cNvCxnSpPr>
          <p:nvPr/>
        </p:nvCxnSpPr>
        <p:spPr>
          <a:xfrm flipH="1" rot="10800000">
            <a:off x="4373883" y="2329437"/>
            <a:ext cx="4800" cy="962400"/>
          </a:xfrm>
          <a:prstGeom prst="straightConnector1">
            <a:avLst/>
          </a:prstGeom>
          <a:noFill/>
          <a:ln cap="flat" cmpd="sng" w="9525">
            <a:solidFill>
              <a:schemeClr val="dk2"/>
            </a:solidFill>
            <a:prstDash val="solid"/>
            <a:round/>
            <a:headEnd len="med" w="med" type="none"/>
            <a:tailEnd len="med" w="med" type="none"/>
          </a:ln>
        </p:spPr>
      </p:cxnSp>
      <p:cxnSp>
        <p:nvCxnSpPr>
          <p:cNvPr id="279" name="Google Shape;279;p20"/>
          <p:cNvCxnSpPr>
            <a:endCxn id="250" idx="1"/>
          </p:cNvCxnSpPr>
          <p:nvPr/>
        </p:nvCxnSpPr>
        <p:spPr>
          <a:xfrm flipH="1" rot="10800000">
            <a:off x="4146750" y="1647100"/>
            <a:ext cx="377100" cy="15600"/>
          </a:xfrm>
          <a:prstGeom prst="straightConnector1">
            <a:avLst/>
          </a:prstGeom>
          <a:noFill/>
          <a:ln cap="flat" cmpd="sng" w="9525">
            <a:solidFill>
              <a:schemeClr val="dk2"/>
            </a:solidFill>
            <a:prstDash val="solid"/>
            <a:round/>
            <a:headEnd len="med" w="med" type="none"/>
            <a:tailEnd len="med" w="med" type="triangle"/>
          </a:ln>
        </p:spPr>
      </p:cxnSp>
      <p:sp>
        <p:nvSpPr>
          <p:cNvPr id="280" name="Google Shape;280;p20"/>
          <p:cNvSpPr/>
          <p:nvPr/>
        </p:nvSpPr>
        <p:spPr>
          <a:xfrm>
            <a:off x="7913875" y="1216275"/>
            <a:ext cx="651900" cy="2011500"/>
          </a:xfrm>
          <a:prstGeom prst="downArrow">
            <a:avLst>
              <a:gd fmla="val 50000" name="adj1"/>
              <a:gd fmla="val 50000" name="adj2"/>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600"/>
          </a:p>
        </p:txBody>
      </p:sp>
      <p:sp>
        <p:nvSpPr>
          <p:cNvPr id="281" name="Google Shape;281;p20"/>
          <p:cNvSpPr/>
          <p:nvPr/>
        </p:nvSpPr>
        <p:spPr>
          <a:xfrm rot="-3422183">
            <a:off x="4697052" y="3286280"/>
            <a:ext cx="538130" cy="2042438"/>
          </a:xfrm>
          <a:prstGeom prst="upArrow">
            <a:avLst>
              <a:gd fmla="val 50000" name="adj1"/>
              <a:gd fmla="val 50000" name="adj2"/>
            </a:avLst>
          </a:prstGeom>
          <a:solidFill>
            <a:srgbClr val="EA9999"/>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b="1" sz="900">
              <a:latin typeface="Times New Roman"/>
              <a:ea typeface="Times New Roman"/>
              <a:cs typeface="Times New Roman"/>
              <a:sym typeface="Times New Roman"/>
            </a:endParaRPr>
          </a:p>
        </p:txBody>
      </p:sp>
      <p:sp>
        <p:nvSpPr>
          <p:cNvPr id="282" name="Google Shape;282;p20"/>
          <p:cNvSpPr txBox="1"/>
          <p:nvPr/>
        </p:nvSpPr>
        <p:spPr>
          <a:xfrm rot="2042017">
            <a:off x="4081630" y="4135175"/>
            <a:ext cx="1873395" cy="631203"/>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a:solidFill>
                  <a:schemeClr val="dk1"/>
                </a:solidFill>
                <a:latin typeface="Times New Roman"/>
                <a:ea typeface="Times New Roman"/>
                <a:cs typeface="Times New Roman"/>
                <a:sym typeface="Times New Roman"/>
              </a:rPr>
              <a:t>Back propagation</a:t>
            </a:r>
            <a:endParaRPr b="1">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500"/>
          </a:p>
        </p:txBody>
      </p:sp>
      <p:sp>
        <p:nvSpPr>
          <p:cNvPr id="283" name="Google Shape;283;p20"/>
          <p:cNvSpPr txBox="1"/>
          <p:nvPr/>
        </p:nvSpPr>
        <p:spPr>
          <a:xfrm rot="-5400000">
            <a:off x="7182900" y="1627650"/>
            <a:ext cx="2268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a:solidFill>
                  <a:schemeClr val="dk1"/>
                </a:solidFill>
                <a:latin typeface="Times New Roman"/>
                <a:ea typeface="Times New Roman"/>
                <a:cs typeface="Times New Roman"/>
                <a:sym typeface="Times New Roman"/>
              </a:rPr>
              <a:t>Forward propagation</a:t>
            </a:r>
            <a:endParaRPr b="1">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1000"/>
                                        <p:tgtEl>
                                          <p:spTgt spid="265"/>
                                        </p:tgtEl>
                                      </p:cBhvr>
                                    </p:animEffect>
                                  </p:childTnLst>
                                </p:cTn>
                              </p:par>
                              <p:par>
                                <p:cTn fill="hold" nodeType="with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1000"/>
                                        <p:tgtEl>
                                          <p:spTgt spid="2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1000"/>
                                        <p:tgtEl>
                                          <p:spTgt spid="267"/>
                                        </p:tgtEl>
                                      </p:cBhvr>
                                    </p:animEffect>
                                  </p:childTnLst>
                                </p:cTn>
                              </p:par>
                              <p:par>
                                <p:cTn fill="hold" nodeType="with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1000"/>
                                        <p:tgtEl>
                                          <p:spTgt spid="2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1000"/>
                                        <p:tgtEl>
                                          <p:spTgt spid="268"/>
                                        </p:tgtEl>
                                      </p:cBhvr>
                                    </p:animEffect>
                                  </p:childTnLst>
                                </p:cTn>
                              </p:par>
                              <p:par>
                                <p:cTn fill="hold" nodeType="with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1000"/>
                                        <p:tgtEl>
                                          <p:spTgt spid="2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1000"/>
                                        <p:tgtEl>
                                          <p:spTgt spid="269"/>
                                        </p:tgtEl>
                                      </p:cBhvr>
                                    </p:animEffect>
                                  </p:childTnLst>
                                </p:cTn>
                              </p:par>
                              <p:par>
                                <p:cTn fill="hold" nodeType="with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1000"/>
                                        <p:tgtEl>
                                          <p:spTgt spid="2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1000"/>
                                        <p:tgtEl>
                                          <p:spTgt spid="270"/>
                                        </p:tgtEl>
                                      </p:cBhvr>
                                    </p:animEffect>
                                  </p:childTnLst>
                                </p:cTn>
                              </p:par>
                              <p:par>
                                <p:cTn fill="hold" nodeType="with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1000"/>
                                        <p:tgtEl>
                                          <p:spTgt spid="2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gtEl>
                                        <p:attrNameLst>
                                          <p:attrName>style.visibility</p:attrName>
                                        </p:attrNameLst>
                                      </p:cBhvr>
                                      <p:to>
                                        <p:strVal val="visible"/>
                                      </p:to>
                                    </p:set>
                                    <p:animEffect filter="fade" transition="in">
                                      <p:cBhvr>
                                        <p:cTn dur="1000"/>
                                        <p:tgtEl>
                                          <p:spTgt spid="272"/>
                                        </p:tgtEl>
                                      </p:cBhvr>
                                    </p:animEffect>
                                  </p:childTnLst>
                                </p:cTn>
                              </p:par>
                              <p:par>
                                <p:cTn fill="hold" nodeType="with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1000"/>
                                        <p:tgtEl>
                                          <p:spTgt spid="273"/>
                                        </p:tgtEl>
                                      </p:cBhvr>
                                    </p:animEffect>
                                  </p:childTnLst>
                                </p:cTn>
                              </p:par>
                              <p:par>
                                <p:cTn fill="hold" nodeType="with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1000"/>
                                        <p:tgtEl>
                                          <p:spTgt spid="2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1000"/>
                                        <p:tgtEl>
                                          <p:spTgt spid="282"/>
                                        </p:tgtEl>
                                      </p:cBhvr>
                                    </p:animEffect>
                                  </p:childTnLst>
                                </p:cTn>
                              </p:par>
                              <p:par>
                                <p:cTn fill="hold" nodeType="with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1000"/>
                                        <p:tgtEl>
                                          <p:spTgt spid="2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1000"/>
                                        <p:tgtEl>
                                          <p:spTgt spid="283"/>
                                        </p:tgtEl>
                                      </p:cBhvr>
                                    </p:animEffect>
                                  </p:childTnLst>
                                </p:cTn>
                              </p:par>
                              <p:par>
                                <p:cTn fill="hold" nodeType="with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1000"/>
                                        <p:tgtEl>
                                          <p:spTgt spid="2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7" name="Shape 287"/>
        <p:cNvGrpSpPr/>
        <p:nvPr/>
      </p:nvGrpSpPr>
      <p:grpSpPr>
        <a:xfrm>
          <a:off x="0" y="0"/>
          <a:ext cx="0" cy="0"/>
          <a:chOff x="0" y="0"/>
          <a:chExt cx="0" cy="0"/>
        </a:xfrm>
      </p:grpSpPr>
      <p:sp>
        <p:nvSpPr>
          <p:cNvPr id="288" name="Google Shape;288;p21"/>
          <p:cNvSpPr txBox="1"/>
          <p:nvPr/>
        </p:nvSpPr>
        <p:spPr>
          <a:xfrm>
            <a:off x="152400" y="266700"/>
            <a:ext cx="9144000" cy="534600"/>
          </a:xfrm>
          <a:prstGeom prst="rect">
            <a:avLst/>
          </a:prstGeom>
          <a:solidFill>
            <a:srgbClr val="054B3E"/>
          </a:solid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sz="2600">
                <a:solidFill>
                  <a:srgbClr val="FFFF00"/>
                </a:solidFill>
                <a:latin typeface="Oswald"/>
                <a:ea typeface="Oswald"/>
                <a:cs typeface="Oswald"/>
                <a:sym typeface="Oswald"/>
              </a:rPr>
              <a:t>Neural Network: Train</a:t>
            </a:r>
            <a:endParaRPr sz="2600">
              <a:solidFill>
                <a:srgbClr val="FFFF00"/>
              </a:solidFill>
              <a:latin typeface="Oswald"/>
              <a:ea typeface="Oswald"/>
              <a:cs typeface="Oswald"/>
              <a:sym typeface="Oswald"/>
            </a:endParaRPr>
          </a:p>
        </p:txBody>
      </p:sp>
      <p:sp>
        <p:nvSpPr>
          <p:cNvPr id="289" name="Google Shape;289;p21"/>
          <p:cNvSpPr/>
          <p:nvPr/>
        </p:nvSpPr>
        <p:spPr>
          <a:xfrm>
            <a:off x="152400" y="152400"/>
            <a:ext cx="9144000" cy="1143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400">
              <a:solidFill>
                <a:srgbClr val="FFFFFF"/>
              </a:solidFill>
              <a:latin typeface="Oswald"/>
              <a:ea typeface="Oswald"/>
              <a:cs typeface="Oswald"/>
              <a:sym typeface="Oswald"/>
            </a:endParaRPr>
          </a:p>
        </p:txBody>
      </p:sp>
      <p:sp>
        <p:nvSpPr>
          <p:cNvPr id="290" name="Google Shape;290;p21"/>
          <p:cNvSpPr/>
          <p:nvPr/>
        </p:nvSpPr>
        <p:spPr>
          <a:xfrm>
            <a:off x="152400" y="5067300"/>
            <a:ext cx="9144000" cy="570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291" name="Google Shape;291;p21"/>
          <p:cNvSpPr/>
          <p:nvPr/>
        </p:nvSpPr>
        <p:spPr>
          <a:xfrm>
            <a:off x="152400" y="5124450"/>
            <a:ext cx="9144000" cy="171600"/>
          </a:xfrm>
          <a:prstGeom prst="rect">
            <a:avLst/>
          </a:prstGeom>
          <a:solidFill>
            <a:srgbClr val="054B3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292" name="Google Shape;292;p21"/>
          <p:cNvSpPr txBox="1"/>
          <p:nvPr/>
        </p:nvSpPr>
        <p:spPr>
          <a:xfrm>
            <a:off x="8624858" y="4349295"/>
            <a:ext cx="548700" cy="3543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pic>
        <p:nvPicPr>
          <p:cNvPr id="293" name="Google Shape;293;p21"/>
          <p:cNvPicPr preferRelativeResize="0"/>
          <p:nvPr/>
        </p:nvPicPr>
        <p:blipFill>
          <a:blip r:embed="rId3">
            <a:alphaModFix/>
          </a:blip>
          <a:stretch>
            <a:fillRect/>
          </a:stretch>
        </p:blipFill>
        <p:spPr>
          <a:xfrm>
            <a:off x="160625" y="824025"/>
            <a:ext cx="3625875" cy="2423152"/>
          </a:xfrm>
          <a:prstGeom prst="rect">
            <a:avLst/>
          </a:prstGeom>
          <a:noFill/>
          <a:ln>
            <a:noFill/>
          </a:ln>
        </p:spPr>
      </p:pic>
      <p:pic>
        <p:nvPicPr>
          <p:cNvPr id="294" name="Google Shape;294;p21"/>
          <p:cNvPicPr preferRelativeResize="0"/>
          <p:nvPr/>
        </p:nvPicPr>
        <p:blipFill>
          <a:blip r:embed="rId4">
            <a:alphaModFix/>
          </a:blip>
          <a:stretch>
            <a:fillRect/>
          </a:stretch>
        </p:blipFill>
        <p:spPr>
          <a:xfrm>
            <a:off x="152400" y="3399563"/>
            <a:ext cx="2498433" cy="1515337"/>
          </a:xfrm>
          <a:prstGeom prst="rect">
            <a:avLst/>
          </a:prstGeom>
          <a:noFill/>
          <a:ln>
            <a:noFill/>
          </a:ln>
        </p:spPr>
      </p:pic>
      <p:sp>
        <p:nvSpPr>
          <p:cNvPr id="295" name="Google Shape;295;p21"/>
          <p:cNvSpPr/>
          <p:nvPr/>
        </p:nvSpPr>
        <p:spPr>
          <a:xfrm>
            <a:off x="6185300" y="1469200"/>
            <a:ext cx="1615200" cy="355800"/>
          </a:xfrm>
          <a:prstGeom prst="rect">
            <a:avLst/>
          </a:prstGeom>
          <a:no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Layer 1</a:t>
            </a:r>
            <a:br>
              <a:rPr lang="en" sz="1100"/>
            </a:br>
            <a:r>
              <a:rPr lang="en" sz="1100"/>
              <a:t>(Data Transformation)</a:t>
            </a:r>
            <a:endParaRPr sz="1100"/>
          </a:p>
        </p:txBody>
      </p:sp>
      <p:sp>
        <p:nvSpPr>
          <p:cNvPr id="296" name="Google Shape;296;p21"/>
          <p:cNvSpPr/>
          <p:nvPr/>
        </p:nvSpPr>
        <p:spPr>
          <a:xfrm>
            <a:off x="6185300" y="2145224"/>
            <a:ext cx="1615200" cy="354000"/>
          </a:xfrm>
          <a:prstGeom prst="rect">
            <a:avLst/>
          </a:prstGeom>
          <a:noFill/>
          <a:ln cap="flat" cmpd="sng" w="952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Layer 2</a:t>
            </a:r>
            <a:endParaRPr sz="1100"/>
          </a:p>
          <a:p>
            <a:pPr indent="0" lvl="0" marL="0" rtl="0" algn="ctr">
              <a:spcBef>
                <a:spcPts val="0"/>
              </a:spcBef>
              <a:spcAft>
                <a:spcPts val="0"/>
              </a:spcAft>
              <a:buNone/>
            </a:pPr>
            <a:r>
              <a:rPr lang="en" sz="1100">
                <a:solidFill>
                  <a:schemeClr val="dk1"/>
                </a:solidFill>
              </a:rPr>
              <a:t>(Data Transformation)</a:t>
            </a:r>
            <a:endParaRPr sz="1100"/>
          </a:p>
        </p:txBody>
      </p:sp>
      <p:sp>
        <p:nvSpPr>
          <p:cNvPr id="297" name="Google Shape;297;p21"/>
          <p:cNvSpPr/>
          <p:nvPr/>
        </p:nvSpPr>
        <p:spPr>
          <a:xfrm>
            <a:off x="6185300" y="2759250"/>
            <a:ext cx="1615200" cy="354000"/>
          </a:xfrm>
          <a:prstGeom prst="rect">
            <a:avLst/>
          </a:prstGeom>
          <a:no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Layer 3</a:t>
            </a:r>
            <a:endParaRPr sz="1100"/>
          </a:p>
          <a:p>
            <a:pPr indent="0" lvl="0" marL="0" rtl="0" algn="ctr">
              <a:spcBef>
                <a:spcPts val="0"/>
              </a:spcBef>
              <a:spcAft>
                <a:spcPts val="0"/>
              </a:spcAft>
              <a:buNone/>
            </a:pPr>
            <a:r>
              <a:rPr lang="en" sz="1100">
                <a:solidFill>
                  <a:schemeClr val="dk1"/>
                </a:solidFill>
              </a:rPr>
              <a:t>(Data Transformation)</a:t>
            </a:r>
            <a:endParaRPr sz="1100"/>
          </a:p>
        </p:txBody>
      </p:sp>
      <p:sp>
        <p:nvSpPr>
          <p:cNvPr id="298" name="Google Shape;298;p21"/>
          <p:cNvSpPr txBox="1"/>
          <p:nvPr/>
        </p:nvSpPr>
        <p:spPr>
          <a:xfrm>
            <a:off x="6550700" y="889825"/>
            <a:ext cx="8844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t>Input X</a:t>
            </a:r>
            <a:endParaRPr sz="1100"/>
          </a:p>
        </p:txBody>
      </p:sp>
      <p:sp>
        <p:nvSpPr>
          <p:cNvPr id="299" name="Google Shape;299;p21"/>
          <p:cNvSpPr/>
          <p:nvPr/>
        </p:nvSpPr>
        <p:spPr>
          <a:xfrm>
            <a:off x="6574700" y="3402463"/>
            <a:ext cx="836400" cy="355800"/>
          </a:xfrm>
          <a:prstGeom prst="flowChartAlternateProcess">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Prediction</a:t>
            </a:r>
            <a:br>
              <a:rPr lang="en" sz="1000"/>
            </a:br>
            <a:r>
              <a:rPr lang="en" sz="1000"/>
              <a:t>Y’</a:t>
            </a:r>
            <a:endParaRPr sz="1000"/>
          </a:p>
        </p:txBody>
      </p:sp>
      <p:sp>
        <p:nvSpPr>
          <p:cNvPr id="300" name="Google Shape;300;p21"/>
          <p:cNvSpPr/>
          <p:nvPr/>
        </p:nvSpPr>
        <p:spPr>
          <a:xfrm>
            <a:off x="8193550" y="3434550"/>
            <a:ext cx="836400" cy="355800"/>
          </a:xfrm>
          <a:prstGeom prst="flowChartAlternateProcess">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900"/>
              <a:t>True Target</a:t>
            </a:r>
            <a:br>
              <a:rPr lang="en" sz="900"/>
            </a:br>
            <a:r>
              <a:rPr lang="en" sz="900"/>
              <a:t>Y</a:t>
            </a:r>
            <a:endParaRPr sz="900"/>
          </a:p>
        </p:txBody>
      </p:sp>
      <p:sp>
        <p:nvSpPr>
          <p:cNvPr id="301" name="Google Shape;301;p21"/>
          <p:cNvSpPr/>
          <p:nvPr/>
        </p:nvSpPr>
        <p:spPr>
          <a:xfrm>
            <a:off x="7385850" y="4608063"/>
            <a:ext cx="972300" cy="242400"/>
          </a:xfrm>
          <a:prstGeom prst="flowChartAlternateProcess">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t>Loss score</a:t>
            </a:r>
            <a:endParaRPr sz="1100"/>
          </a:p>
        </p:txBody>
      </p:sp>
      <p:sp>
        <p:nvSpPr>
          <p:cNvPr id="302" name="Google Shape;302;p21"/>
          <p:cNvSpPr/>
          <p:nvPr/>
        </p:nvSpPr>
        <p:spPr>
          <a:xfrm>
            <a:off x="4523850" y="1525900"/>
            <a:ext cx="884400" cy="242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Weights</a:t>
            </a:r>
            <a:endParaRPr sz="1100"/>
          </a:p>
        </p:txBody>
      </p:sp>
      <p:sp>
        <p:nvSpPr>
          <p:cNvPr id="303" name="Google Shape;303;p21"/>
          <p:cNvSpPr/>
          <p:nvPr/>
        </p:nvSpPr>
        <p:spPr>
          <a:xfrm>
            <a:off x="4128600" y="3227825"/>
            <a:ext cx="1674900" cy="437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Optimizer</a:t>
            </a:r>
            <a:endParaRPr sz="1100"/>
          </a:p>
        </p:txBody>
      </p:sp>
      <p:sp>
        <p:nvSpPr>
          <p:cNvPr id="304" name="Google Shape;304;p21"/>
          <p:cNvSpPr/>
          <p:nvPr/>
        </p:nvSpPr>
        <p:spPr>
          <a:xfrm>
            <a:off x="4523850" y="2201025"/>
            <a:ext cx="884400" cy="242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Weights</a:t>
            </a:r>
            <a:endParaRPr sz="1100"/>
          </a:p>
        </p:txBody>
      </p:sp>
      <p:sp>
        <p:nvSpPr>
          <p:cNvPr id="305" name="Google Shape;305;p21"/>
          <p:cNvSpPr/>
          <p:nvPr/>
        </p:nvSpPr>
        <p:spPr>
          <a:xfrm>
            <a:off x="7034550" y="3954125"/>
            <a:ext cx="1674900" cy="437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t>Loss Function</a:t>
            </a:r>
            <a:endParaRPr sz="1100"/>
          </a:p>
        </p:txBody>
      </p:sp>
      <p:cxnSp>
        <p:nvCxnSpPr>
          <p:cNvPr id="306" name="Google Shape;306;p21"/>
          <p:cNvCxnSpPr>
            <a:stCxn id="298" idx="2"/>
            <a:endCxn id="295" idx="0"/>
          </p:cNvCxnSpPr>
          <p:nvPr/>
        </p:nvCxnSpPr>
        <p:spPr>
          <a:xfrm>
            <a:off x="6992900" y="1243825"/>
            <a:ext cx="0" cy="225300"/>
          </a:xfrm>
          <a:prstGeom prst="straightConnector1">
            <a:avLst/>
          </a:prstGeom>
          <a:noFill/>
          <a:ln cap="flat" cmpd="sng" w="9525">
            <a:solidFill>
              <a:schemeClr val="dk2"/>
            </a:solidFill>
            <a:prstDash val="solid"/>
            <a:round/>
            <a:headEnd len="med" w="med" type="none"/>
            <a:tailEnd len="med" w="med" type="triangle"/>
          </a:ln>
        </p:spPr>
      </p:cxnSp>
      <p:cxnSp>
        <p:nvCxnSpPr>
          <p:cNvPr id="307" name="Google Shape;307;p21"/>
          <p:cNvCxnSpPr>
            <a:stCxn id="295" idx="2"/>
            <a:endCxn id="296" idx="0"/>
          </p:cNvCxnSpPr>
          <p:nvPr/>
        </p:nvCxnSpPr>
        <p:spPr>
          <a:xfrm>
            <a:off x="6992900" y="1825000"/>
            <a:ext cx="0" cy="320100"/>
          </a:xfrm>
          <a:prstGeom prst="straightConnector1">
            <a:avLst/>
          </a:prstGeom>
          <a:noFill/>
          <a:ln cap="flat" cmpd="sng" w="9525">
            <a:solidFill>
              <a:schemeClr val="dk2"/>
            </a:solidFill>
            <a:prstDash val="solid"/>
            <a:round/>
            <a:headEnd len="med" w="med" type="none"/>
            <a:tailEnd len="med" w="med" type="triangle"/>
          </a:ln>
        </p:spPr>
      </p:cxnSp>
      <p:cxnSp>
        <p:nvCxnSpPr>
          <p:cNvPr id="308" name="Google Shape;308;p21"/>
          <p:cNvCxnSpPr>
            <a:stCxn id="296" idx="2"/>
            <a:endCxn id="297" idx="0"/>
          </p:cNvCxnSpPr>
          <p:nvPr/>
        </p:nvCxnSpPr>
        <p:spPr>
          <a:xfrm>
            <a:off x="6992900" y="2499224"/>
            <a:ext cx="0" cy="260100"/>
          </a:xfrm>
          <a:prstGeom prst="straightConnector1">
            <a:avLst/>
          </a:prstGeom>
          <a:noFill/>
          <a:ln cap="flat" cmpd="sng" w="9525">
            <a:solidFill>
              <a:schemeClr val="dk2"/>
            </a:solidFill>
            <a:prstDash val="solid"/>
            <a:round/>
            <a:headEnd len="med" w="med" type="none"/>
            <a:tailEnd len="med" w="med" type="triangle"/>
          </a:ln>
        </p:spPr>
      </p:cxnSp>
      <p:cxnSp>
        <p:nvCxnSpPr>
          <p:cNvPr id="309" name="Google Shape;309;p21"/>
          <p:cNvCxnSpPr>
            <a:stCxn id="297" idx="2"/>
            <a:endCxn id="299" idx="0"/>
          </p:cNvCxnSpPr>
          <p:nvPr/>
        </p:nvCxnSpPr>
        <p:spPr>
          <a:xfrm>
            <a:off x="6992900" y="3113250"/>
            <a:ext cx="0" cy="289200"/>
          </a:xfrm>
          <a:prstGeom prst="straightConnector1">
            <a:avLst/>
          </a:prstGeom>
          <a:noFill/>
          <a:ln cap="flat" cmpd="sng" w="9525">
            <a:solidFill>
              <a:schemeClr val="dk2"/>
            </a:solidFill>
            <a:prstDash val="solid"/>
            <a:round/>
            <a:headEnd len="med" w="med" type="none"/>
            <a:tailEnd len="med" w="med" type="triangle"/>
          </a:ln>
        </p:spPr>
      </p:cxnSp>
      <p:cxnSp>
        <p:nvCxnSpPr>
          <p:cNvPr id="310" name="Google Shape;310;p21"/>
          <p:cNvCxnSpPr>
            <a:stCxn id="299" idx="2"/>
            <a:endCxn id="305" idx="1"/>
          </p:cNvCxnSpPr>
          <p:nvPr/>
        </p:nvCxnSpPr>
        <p:spPr>
          <a:xfrm>
            <a:off x="6992900" y="3758263"/>
            <a:ext cx="286800" cy="259800"/>
          </a:xfrm>
          <a:prstGeom prst="straightConnector1">
            <a:avLst/>
          </a:prstGeom>
          <a:noFill/>
          <a:ln cap="flat" cmpd="sng" w="9525">
            <a:solidFill>
              <a:schemeClr val="dk2"/>
            </a:solidFill>
            <a:prstDash val="solid"/>
            <a:round/>
            <a:headEnd len="med" w="med" type="none"/>
            <a:tailEnd len="med" w="med" type="triangle"/>
          </a:ln>
        </p:spPr>
      </p:cxnSp>
      <p:cxnSp>
        <p:nvCxnSpPr>
          <p:cNvPr id="311" name="Google Shape;311;p21"/>
          <p:cNvCxnSpPr>
            <a:stCxn id="300" idx="2"/>
            <a:endCxn id="305" idx="7"/>
          </p:cNvCxnSpPr>
          <p:nvPr/>
        </p:nvCxnSpPr>
        <p:spPr>
          <a:xfrm flipH="1">
            <a:off x="8464150" y="3790350"/>
            <a:ext cx="147600" cy="227700"/>
          </a:xfrm>
          <a:prstGeom prst="straightConnector1">
            <a:avLst/>
          </a:prstGeom>
          <a:noFill/>
          <a:ln cap="flat" cmpd="sng" w="9525">
            <a:solidFill>
              <a:schemeClr val="dk2"/>
            </a:solidFill>
            <a:prstDash val="solid"/>
            <a:round/>
            <a:headEnd len="med" w="med" type="none"/>
            <a:tailEnd len="med" w="med" type="triangle"/>
          </a:ln>
        </p:spPr>
      </p:cxnSp>
      <p:cxnSp>
        <p:nvCxnSpPr>
          <p:cNvPr id="312" name="Google Shape;312;p21"/>
          <p:cNvCxnSpPr>
            <a:stCxn id="305" idx="4"/>
            <a:endCxn id="301" idx="0"/>
          </p:cNvCxnSpPr>
          <p:nvPr/>
        </p:nvCxnSpPr>
        <p:spPr>
          <a:xfrm>
            <a:off x="7872000" y="4391225"/>
            <a:ext cx="0" cy="216900"/>
          </a:xfrm>
          <a:prstGeom prst="straightConnector1">
            <a:avLst/>
          </a:prstGeom>
          <a:noFill/>
          <a:ln cap="flat" cmpd="sng" w="9525">
            <a:solidFill>
              <a:schemeClr val="dk2"/>
            </a:solidFill>
            <a:prstDash val="solid"/>
            <a:round/>
            <a:headEnd len="med" w="med" type="none"/>
            <a:tailEnd len="med" w="med" type="triangle"/>
          </a:ln>
        </p:spPr>
      </p:cxnSp>
      <p:cxnSp>
        <p:nvCxnSpPr>
          <p:cNvPr id="313" name="Google Shape;313;p21"/>
          <p:cNvCxnSpPr>
            <a:stCxn id="301" idx="1"/>
            <a:endCxn id="303" idx="5"/>
          </p:cNvCxnSpPr>
          <p:nvPr/>
        </p:nvCxnSpPr>
        <p:spPr>
          <a:xfrm rot="10800000">
            <a:off x="5558250" y="3600963"/>
            <a:ext cx="1827600" cy="1128300"/>
          </a:xfrm>
          <a:prstGeom prst="straightConnector1">
            <a:avLst/>
          </a:prstGeom>
          <a:noFill/>
          <a:ln cap="flat" cmpd="sng" w="9525">
            <a:solidFill>
              <a:schemeClr val="dk2"/>
            </a:solidFill>
            <a:prstDash val="solid"/>
            <a:round/>
            <a:headEnd len="med" w="med" type="none"/>
            <a:tailEnd len="med" w="med" type="triangle"/>
          </a:ln>
        </p:spPr>
      </p:cxnSp>
      <p:cxnSp>
        <p:nvCxnSpPr>
          <p:cNvPr id="314" name="Google Shape;314;p21"/>
          <p:cNvCxnSpPr>
            <a:stCxn id="304" idx="3"/>
            <a:endCxn id="296" idx="1"/>
          </p:cNvCxnSpPr>
          <p:nvPr/>
        </p:nvCxnSpPr>
        <p:spPr>
          <a:xfrm>
            <a:off x="5408250" y="2322225"/>
            <a:ext cx="777000" cy="0"/>
          </a:xfrm>
          <a:prstGeom prst="straightConnector1">
            <a:avLst/>
          </a:prstGeom>
          <a:noFill/>
          <a:ln cap="flat" cmpd="sng" w="9525">
            <a:solidFill>
              <a:schemeClr val="dk2"/>
            </a:solidFill>
            <a:prstDash val="solid"/>
            <a:round/>
            <a:headEnd len="med" w="med" type="none"/>
            <a:tailEnd len="med" w="med" type="triangle"/>
          </a:ln>
        </p:spPr>
      </p:cxnSp>
      <p:cxnSp>
        <p:nvCxnSpPr>
          <p:cNvPr id="315" name="Google Shape;315;p21"/>
          <p:cNvCxnSpPr/>
          <p:nvPr/>
        </p:nvCxnSpPr>
        <p:spPr>
          <a:xfrm flipH="1" rot="10800000">
            <a:off x="4359475" y="2319375"/>
            <a:ext cx="164400" cy="5700"/>
          </a:xfrm>
          <a:prstGeom prst="straightConnector1">
            <a:avLst/>
          </a:prstGeom>
          <a:noFill/>
          <a:ln cap="flat" cmpd="sng" w="9525">
            <a:solidFill>
              <a:schemeClr val="dk2"/>
            </a:solidFill>
            <a:prstDash val="solid"/>
            <a:round/>
            <a:headEnd len="med" w="med" type="none"/>
            <a:tailEnd len="med" w="med" type="triangle"/>
          </a:ln>
        </p:spPr>
      </p:cxnSp>
      <p:cxnSp>
        <p:nvCxnSpPr>
          <p:cNvPr id="316" name="Google Shape;316;p21"/>
          <p:cNvCxnSpPr>
            <a:stCxn id="302" idx="3"/>
            <a:endCxn id="295" idx="1"/>
          </p:cNvCxnSpPr>
          <p:nvPr/>
        </p:nvCxnSpPr>
        <p:spPr>
          <a:xfrm>
            <a:off x="5408250" y="1647100"/>
            <a:ext cx="777000" cy="0"/>
          </a:xfrm>
          <a:prstGeom prst="straightConnector1">
            <a:avLst/>
          </a:prstGeom>
          <a:noFill/>
          <a:ln cap="flat" cmpd="sng" w="9525">
            <a:solidFill>
              <a:schemeClr val="dk2"/>
            </a:solidFill>
            <a:prstDash val="solid"/>
            <a:round/>
            <a:headEnd len="med" w="med" type="none"/>
            <a:tailEnd len="med" w="med" type="triangle"/>
          </a:ln>
        </p:spPr>
      </p:cxnSp>
      <p:sp>
        <p:nvSpPr>
          <p:cNvPr id="317" name="Google Shape;317;p21"/>
          <p:cNvSpPr/>
          <p:nvPr/>
        </p:nvSpPr>
        <p:spPr>
          <a:xfrm>
            <a:off x="243775" y="1605288"/>
            <a:ext cx="548700" cy="9903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1"/>
          <p:cNvSpPr/>
          <p:nvPr/>
        </p:nvSpPr>
        <p:spPr>
          <a:xfrm>
            <a:off x="6640525" y="924425"/>
            <a:ext cx="836400" cy="2892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1"/>
          <p:cNvSpPr/>
          <p:nvPr/>
        </p:nvSpPr>
        <p:spPr>
          <a:xfrm>
            <a:off x="936175" y="1006450"/>
            <a:ext cx="548700" cy="2058300"/>
          </a:xfrm>
          <a:prstGeom prst="rect">
            <a:avLst/>
          </a:prstGeom>
          <a:no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1"/>
          <p:cNvSpPr/>
          <p:nvPr/>
        </p:nvSpPr>
        <p:spPr>
          <a:xfrm>
            <a:off x="1628563" y="1011238"/>
            <a:ext cx="589500" cy="2048700"/>
          </a:xfrm>
          <a:prstGeom prst="rect">
            <a:avLst/>
          </a:prstGeom>
          <a:noFill/>
          <a:ln cap="flat" cmpd="sng" w="952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1"/>
          <p:cNvSpPr/>
          <p:nvPr/>
        </p:nvSpPr>
        <p:spPr>
          <a:xfrm>
            <a:off x="2440800" y="1006450"/>
            <a:ext cx="651900" cy="2058300"/>
          </a:xfrm>
          <a:prstGeom prst="rect">
            <a:avLst/>
          </a:prstGeom>
          <a:no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1"/>
          <p:cNvSpPr/>
          <p:nvPr/>
        </p:nvSpPr>
        <p:spPr>
          <a:xfrm>
            <a:off x="3250113" y="1318150"/>
            <a:ext cx="548700" cy="1333800"/>
          </a:xfrm>
          <a:prstGeom prst="rect">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1"/>
          <p:cNvSpPr txBox="1"/>
          <p:nvPr/>
        </p:nvSpPr>
        <p:spPr>
          <a:xfrm>
            <a:off x="4830850" y="1293100"/>
            <a:ext cx="836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595959"/>
                </a:solidFill>
              </a:rPr>
              <a:t>adjusted</a:t>
            </a:r>
            <a:endParaRPr sz="1100">
              <a:solidFill>
                <a:srgbClr val="595959"/>
              </a:solidFill>
            </a:endParaRPr>
          </a:p>
        </p:txBody>
      </p:sp>
      <p:sp>
        <p:nvSpPr>
          <p:cNvPr id="324" name="Google Shape;324;p21"/>
          <p:cNvSpPr txBox="1"/>
          <p:nvPr/>
        </p:nvSpPr>
        <p:spPr>
          <a:xfrm>
            <a:off x="4830850" y="1932800"/>
            <a:ext cx="836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666666"/>
                </a:solidFill>
              </a:rPr>
              <a:t>adjusted</a:t>
            </a:r>
            <a:endParaRPr sz="1100">
              <a:solidFill>
                <a:srgbClr val="666666"/>
              </a:solidFill>
            </a:endParaRPr>
          </a:p>
        </p:txBody>
      </p:sp>
      <p:sp>
        <p:nvSpPr>
          <p:cNvPr id="325" name="Google Shape;325;p21"/>
          <p:cNvSpPr txBox="1"/>
          <p:nvPr/>
        </p:nvSpPr>
        <p:spPr>
          <a:xfrm>
            <a:off x="4863788" y="2572525"/>
            <a:ext cx="836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666666"/>
                </a:solidFill>
              </a:rPr>
              <a:t>adjusted</a:t>
            </a:r>
            <a:endParaRPr sz="1100">
              <a:solidFill>
                <a:srgbClr val="666666"/>
              </a:solidFill>
            </a:endParaRPr>
          </a:p>
        </p:txBody>
      </p:sp>
      <p:sp>
        <p:nvSpPr>
          <p:cNvPr id="326" name="Google Shape;326;p21"/>
          <p:cNvSpPr/>
          <p:nvPr/>
        </p:nvSpPr>
        <p:spPr>
          <a:xfrm>
            <a:off x="4523850" y="2813100"/>
            <a:ext cx="884400" cy="242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Weights</a:t>
            </a:r>
            <a:endParaRPr sz="1100"/>
          </a:p>
        </p:txBody>
      </p:sp>
      <p:cxnSp>
        <p:nvCxnSpPr>
          <p:cNvPr id="327" name="Google Shape;327;p21"/>
          <p:cNvCxnSpPr>
            <a:stCxn id="303" idx="0"/>
            <a:endCxn id="326" idx="2"/>
          </p:cNvCxnSpPr>
          <p:nvPr/>
        </p:nvCxnSpPr>
        <p:spPr>
          <a:xfrm rot="10800000">
            <a:off x="4966050" y="3055625"/>
            <a:ext cx="0" cy="172200"/>
          </a:xfrm>
          <a:prstGeom prst="straightConnector1">
            <a:avLst/>
          </a:prstGeom>
          <a:noFill/>
          <a:ln cap="flat" cmpd="sng" w="9525">
            <a:solidFill>
              <a:schemeClr val="dk2"/>
            </a:solidFill>
            <a:prstDash val="solid"/>
            <a:round/>
            <a:headEnd len="med" w="med" type="none"/>
            <a:tailEnd len="med" w="med" type="triangle"/>
          </a:ln>
        </p:spPr>
      </p:cxnSp>
      <p:cxnSp>
        <p:nvCxnSpPr>
          <p:cNvPr id="328" name="Google Shape;328;p21"/>
          <p:cNvCxnSpPr>
            <a:stCxn id="326" idx="3"/>
            <a:endCxn id="297" idx="1"/>
          </p:cNvCxnSpPr>
          <p:nvPr/>
        </p:nvCxnSpPr>
        <p:spPr>
          <a:xfrm>
            <a:off x="5408250" y="2934300"/>
            <a:ext cx="777000" cy="2100"/>
          </a:xfrm>
          <a:prstGeom prst="straightConnector1">
            <a:avLst/>
          </a:prstGeom>
          <a:noFill/>
          <a:ln cap="flat" cmpd="sng" w="9525">
            <a:solidFill>
              <a:schemeClr val="dk2"/>
            </a:solidFill>
            <a:prstDash val="solid"/>
            <a:round/>
            <a:headEnd len="med" w="med" type="none"/>
            <a:tailEnd len="med" w="med" type="triangle"/>
          </a:ln>
        </p:spPr>
      </p:cxnSp>
      <p:cxnSp>
        <p:nvCxnSpPr>
          <p:cNvPr id="329" name="Google Shape;329;p21"/>
          <p:cNvCxnSpPr>
            <a:stCxn id="303" idx="2"/>
          </p:cNvCxnSpPr>
          <p:nvPr/>
        </p:nvCxnSpPr>
        <p:spPr>
          <a:xfrm flipH="1" rot="10800000">
            <a:off x="4128600" y="1643075"/>
            <a:ext cx="8400" cy="1803300"/>
          </a:xfrm>
          <a:prstGeom prst="straightConnector1">
            <a:avLst/>
          </a:prstGeom>
          <a:noFill/>
          <a:ln cap="flat" cmpd="sng" w="9525">
            <a:solidFill>
              <a:schemeClr val="dk2"/>
            </a:solidFill>
            <a:prstDash val="solid"/>
            <a:round/>
            <a:headEnd len="med" w="med" type="none"/>
            <a:tailEnd len="med" w="med" type="none"/>
          </a:ln>
        </p:spPr>
      </p:cxnSp>
      <p:cxnSp>
        <p:nvCxnSpPr>
          <p:cNvPr id="330" name="Google Shape;330;p21"/>
          <p:cNvCxnSpPr>
            <a:stCxn id="303" idx="1"/>
          </p:cNvCxnSpPr>
          <p:nvPr/>
        </p:nvCxnSpPr>
        <p:spPr>
          <a:xfrm flipH="1" rot="10800000">
            <a:off x="4373883" y="2329437"/>
            <a:ext cx="4800" cy="962400"/>
          </a:xfrm>
          <a:prstGeom prst="straightConnector1">
            <a:avLst/>
          </a:prstGeom>
          <a:noFill/>
          <a:ln cap="flat" cmpd="sng" w="9525">
            <a:solidFill>
              <a:schemeClr val="dk2"/>
            </a:solidFill>
            <a:prstDash val="solid"/>
            <a:round/>
            <a:headEnd len="med" w="med" type="none"/>
            <a:tailEnd len="med" w="med" type="none"/>
          </a:ln>
        </p:spPr>
      </p:cxnSp>
      <p:cxnSp>
        <p:nvCxnSpPr>
          <p:cNvPr id="331" name="Google Shape;331;p21"/>
          <p:cNvCxnSpPr>
            <a:endCxn id="302" idx="1"/>
          </p:cNvCxnSpPr>
          <p:nvPr/>
        </p:nvCxnSpPr>
        <p:spPr>
          <a:xfrm flipH="1" rot="10800000">
            <a:off x="4146750" y="1647100"/>
            <a:ext cx="377100" cy="156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1000"/>
                                        <p:tgtEl>
                                          <p:spTgt spid="317"/>
                                        </p:tgtEl>
                                      </p:cBhvr>
                                    </p:animEffect>
                                  </p:childTnLst>
                                </p:cTn>
                              </p:par>
                              <p:par>
                                <p:cTn fill="hold" nodeType="withEffect" presetClass="entr" presetID="10" presetSubtype="0">
                                  <p:stCondLst>
                                    <p:cond delay="0"/>
                                  </p:stCondLst>
                                  <p:childTnLst>
                                    <p:set>
                                      <p:cBhvr>
                                        <p:cTn dur="1" fill="hold">
                                          <p:stCondLst>
                                            <p:cond delay="0"/>
                                          </p:stCondLst>
                                        </p:cTn>
                                        <p:tgtEl>
                                          <p:spTgt spid="318"/>
                                        </p:tgtEl>
                                        <p:attrNameLst>
                                          <p:attrName>style.visibility</p:attrName>
                                        </p:attrNameLst>
                                      </p:cBhvr>
                                      <p:to>
                                        <p:strVal val="visible"/>
                                      </p:to>
                                    </p:set>
                                    <p:animEffect filter="fade" transition="in">
                                      <p:cBhvr>
                                        <p:cTn dur="1000"/>
                                        <p:tgtEl>
                                          <p:spTgt spid="3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gtEl>
                                        <p:attrNameLst>
                                          <p:attrName>style.visibility</p:attrName>
                                        </p:attrNameLst>
                                      </p:cBhvr>
                                      <p:to>
                                        <p:strVal val="visible"/>
                                      </p:to>
                                    </p:set>
                                    <p:animEffect filter="fade" transition="in">
                                      <p:cBhvr>
                                        <p:cTn dur="1000"/>
                                        <p:tgtEl>
                                          <p:spTgt spid="319"/>
                                        </p:tgtEl>
                                      </p:cBhvr>
                                    </p:animEffect>
                                  </p:childTnLst>
                                </p:cTn>
                              </p:par>
                              <p:par>
                                <p:cTn fill="hold" nodeType="with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1000"/>
                                        <p:tgtEl>
                                          <p:spTgt spid="2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
                                        </p:tgtEl>
                                        <p:attrNameLst>
                                          <p:attrName>style.visibility</p:attrName>
                                        </p:attrNameLst>
                                      </p:cBhvr>
                                      <p:to>
                                        <p:strVal val="visible"/>
                                      </p:to>
                                    </p:set>
                                    <p:animEffect filter="fade" transition="in">
                                      <p:cBhvr>
                                        <p:cTn dur="1000"/>
                                        <p:tgtEl>
                                          <p:spTgt spid="320"/>
                                        </p:tgtEl>
                                      </p:cBhvr>
                                    </p:animEffect>
                                  </p:childTnLst>
                                </p:cTn>
                              </p:par>
                              <p:par>
                                <p:cTn fill="hold" nodeType="with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1000"/>
                                        <p:tgtEl>
                                          <p:spTgt spid="2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gtEl>
                                        <p:attrNameLst>
                                          <p:attrName>style.visibility</p:attrName>
                                        </p:attrNameLst>
                                      </p:cBhvr>
                                      <p:to>
                                        <p:strVal val="visible"/>
                                      </p:to>
                                    </p:set>
                                    <p:animEffect filter="fade" transition="in">
                                      <p:cBhvr>
                                        <p:cTn dur="1000"/>
                                        <p:tgtEl>
                                          <p:spTgt spid="321"/>
                                        </p:tgtEl>
                                      </p:cBhvr>
                                    </p:animEffect>
                                  </p:childTnLst>
                                </p:cTn>
                              </p:par>
                              <p:par>
                                <p:cTn fill="hold" nodeType="with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1000"/>
                                        <p:tgtEl>
                                          <p:spTgt spid="2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1000"/>
                                        <p:tgtEl>
                                          <p:spTgt spid="322"/>
                                        </p:tgtEl>
                                      </p:cBhvr>
                                    </p:animEffect>
                                  </p:childTnLst>
                                </p:cTn>
                              </p:par>
                              <p:par>
                                <p:cTn fill="hold" nodeType="with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1000"/>
                                        <p:tgtEl>
                                          <p:spTgt spid="2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1000"/>
                                        <p:tgtEl>
                                          <p:spTgt spid="324"/>
                                        </p:tgtEl>
                                      </p:cBhvr>
                                    </p:animEffect>
                                  </p:childTnLst>
                                </p:cTn>
                              </p:par>
                              <p:par>
                                <p:cTn fill="hold" nodeType="with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1000"/>
                                        <p:tgtEl>
                                          <p:spTgt spid="325"/>
                                        </p:tgtEl>
                                      </p:cBhvr>
                                    </p:animEffect>
                                  </p:childTnLst>
                                </p:cTn>
                              </p:par>
                              <p:par>
                                <p:cTn fill="hold" nodeType="with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1000"/>
                                        <p:tgtEl>
                                          <p:spTgt spid="3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22"/>
          <p:cNvSpPr txBox="1"/>
          <p:nvPr/>
        </p:nvSpPr>
        <p:spPr>
          <a:xfrm>
            <a:off x="152400" y="266700"/>
            <a:ext cx="9144000" cy="534600"/>
          </a:xfrm>
          <a:prstGeom prst="rect">
            <a:avLst/>
          </a:prstGeom>
          <a:solidFill>
            <a:srgbClr val="054B3E"/>
          </a:solid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sz="2600">
                <a:solidFill>
                  <a:srgbClr val="FFFF00"/>
                </a:solidFill>
                <a:latin typeface="Oswald"/>
                <a:ea typeface="Oswald"/>
                <a:cs typeface="Oswald"/>
                <a:sym typeface="Oswald"/>
              </a:rPr>
              <a:t>Neural Network: Train</a:t>
            </a:r>
            <a:endParaRPr sz="2600">
              <a:solidFill>
                <a:srgbClr val="FFFF00"/>
              </a:solidFill>
              <a:latin typeface="Oswald"/>
              <a:ea typeface="Oswald"/>
              <a:cs typeface="Oswald"/>
              <a:sym typeface="Oswald"/>
            </a:endParaRPr>
          </a:p>
        </p:txBody>
      </p:sp>
      <p:sp>
        <p:nvSpPr>
          <p:cNvPr id="337" name="Google Shape;337;p22"/>
          <p:cNvSpPr/>
          <p:nvPr/>
        </p:nvSpPr>
        <p:spPr>
          <a:xfrm>
            <a:off x="152400" y="152400"/>
            <a:ext cx="9144000" cy="1143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400">
              <a:solidFill>
                <a:srgbClr val="FFFFFF"/>
              </a:solidFill>
              <a:latin typeface="Oswald"/>
              <a:ea typeface="Oswald"/>
              <a:cs typeface="Oswald"/>
              <a:sym typeface="Oswald"/>
            </a:endParaRPr>
          </a:p>
        </p:txBody>
      </p:sp>
      <p:sp>
        <p:nvSpPr>
          <p:cNvPr id="338" name="Google Shape;338;p22"/>
          <p:cNvSpPr/>
          <p:nvPr/>
        </p:nvSpPr>
        <p:spPr>
          <a:xfrm>
            <a:off x="152400" y="5067300"/>
            <a:ext cx="9144000" cy="570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339" name="Google Shape;339;p22"/>
          <p:cNvSpPr/>
          <p:nvPr/>
        </p:nvSpPr>
        <p:spPr>
          <a:xfrm>
            <a:off x="152400" y="5124450"/>
            <a:ext cx="9144000" cy="171600"/>
          </a:xfrm>
          <a:prstGeom prst="rect">
            <a:avLst/>
          </a:prstGeom>
          <a:solidFill>
            <a:srgbClr val="054B3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pic>
        <p:nvPicPr>
          <p:cNvPr id="340" name="Google Shape;340;p22"/>
          <p:cNvPicPr preferRelativeResize="0"/>
          <p:nvPr/>
        </p:nvPicPr>
        <p:blipFill>
          <a:blip r:embed="rId3">
            <a:alphaModFix/>
          </a:blip>
          <a:stretch>
            <a:fillRect/>
          </a:stretch>
        </p:blipFill>
        <p:spPr>
          <a:xfrm>
            <a:off x="5479425" y="991099"/>
            <a:ext cx="3110900" cy="2318863"/>
          </a:xfrm>
          <a:prstGeom prst="rect">
            <a:avLst/>
          </a:prstGeom>
          <a:noFill/>
          <a:ln>
            <a:noFill/>
          </a:ln>
        </p:spPr>
      </p:pic>
      <p:sp>
        <p:nvSpPr>
          <p:cNvPr id="341" name="Google Shape;341;p22"/>
          <p:cNvSpPr txBox="1"/>
          <p:nvPr/>
        </p:nvSpPr>
        <p:spPr>
          <a:xfrm>
            <a:off x="510250" y="3501700"/>
            <a:ext cx="6707700" cy="1405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b="1" lang="en">
                <a:solidFill>
                  <a:schemeClr val="dk1"/>
                </a:solidFill>
                <a:highlight>
                  <a:srgbClr val="FFFFFF"/>
                </a:highlight>
                <a:latin typeface="Times New Roman"/>
                <a:ea typeface="Times New Roman"/>
                <a:cs typeface="Times New Roman"/>
                <a:sym typeface="Times New Roman"/>
              </a:rPr>
              <a:t>Batch size </a:t>
            </a:r>
            <a:r>
              <a:rPr lang="en">
                <a:solidFill>
                  <a:schemeClr val="dk1"/>
                </a:solidFill>
                <a:highlight>
                  <a:srgbClr val="FFFFFF"/>
                </a:highlight>
                <a:latin typeface="Times New Roman"/>
                <a:ea typeface="Times New Roman"/>
                <a:cs typeface="Times New Roman"/>
                <a:sym typeface="Times New Roman"/>
              </a:rPr>
              <a:t>: a number of samples processed before the model is updated.</a:t>
            </a:r>
            <a:endParaRPr>
              <a:solidFill>
                <a:schemeClr val="dk1"/>
              </a:solidFill>
              <a:highlight>
                <a:srgbClr val="FFFFFF"/>
              </a:highlight>
              <a:latin typeface="Times New Roman"/>
              <a:ea typeface="Times New Roman"/>
              <a:cs typeface="Times New Roman"/>
              <a:sym typeface="Times New Roman"/>
            </a:endParaRPr>
          </a:p>
          <a:p>
            <a:pPr indent="0" lvl="0" marL="0" rtl="0" algn="l">
              <a:lnSpc>
                <a:spcPct val="150000"/>
              </a:lnSpc>
              <a:spcBef>
                <a:spcPts val="1400"/>
              </a:spcBef>
              <a:spcAft>
                <a:spcPts val="0"/>
              </a:spcAft>
              <a:buClr>
                <a:schemeClr val="dk1"/>
              </a:buClr>
              <a:buSzPts val="1100"/>
              <a:buFont typeface="Arial"/>
              <a:buNone/>
            </a:pPr>
            <a:r>
              <a:rPr b="1" lang="en">
                <a:solidFill>
                  <a:schemeClr val="dk1"/>
                </a:solidFill>
                <a:highlight>
                  <a:srgbClr val="FFFFFF"/>
                </a:highlight>
                <a:latin typeface="Times New Roman"/>
                <a:ea typeface="Times New Roman"/>
                <a:cs typeface="Times New Roman"/>
                <a:sym typeface="Times New Roman"/>
              </a:rPr>
              <a:t>The number of epochs</a:t>
            </a:r>
            <a:r>
              <a:rPr lang="en">
                <a:solidFill>
                  <a:schemeClr val="dk1"/>
                </a:solidFill>
                <a:highlight>
                  <a:srgbClr val="FFFFFF"/>
                </a:highlight>
                <a:latin typeface="Times New Roman"/>
                <a:ea typeface="Times New Roman"/>
                <a:cs typeface="Times New Roman"/>
                <a:sym typeface="Times New Roman"/>
              </a:rPr>
              <a:t> :  the number of complete passes through the training dataset.</a:t>
            </a:r>
            <a:endParaRPr>
              <a:solidFill>
                <a:schemeClr val="dk1"/>
              </a:solidFill>
              <a:highlight>
                <a:srgbClr val="FFFFFF"/>
              </a:highlight>
              <a:latin typeface="Times New Roman"/>
              <a:ea typeface="Times New Roman"/>
              <a:cs typeface="Times New Roman"/>
              <a:sym typeface="Times New Roman"/>
            </a:endParaRPr>
          </a:p>
          <a:p>
            <a:pPr indent="0" lvl="0" marL="0" rtl="0" algn="l">
              <a:spcBef>
                <a:spcPts val="1400"/>
              </a:spcBef>
              <a:spcAft>
                <a:spcPts val="0"/>
              </a:spcAft>
              <a:buNone/>
            </a:pPr>
            <a:r>
              <a:t/>
            </a:r>
            <a:endParaRPr/>
          </a:p>
        </p:txBody>
      </p:sp>
      <p:sp>
        <p:nvSpPr>
          <p:cNvPr id="342" name="Google Shape;342;p22"/>
          <p:cNvSpPr txBox="1"/>
          <p:nvPr/>
        </p:nvSpPr>
        <p:spPr>
          <a:xfrm>
            <a:off x="510250" y="862525"/>
            <a:ext cx="4500600" cy="285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Times New Roman"/>
                <a:ea typeface="Times New Roman"/>
                <a:cs typeface="Times New Roman"/>
                <a:sym typeface="Times New Roman"/>
              </a:rPr>
              <a:t>Training data :</a:t>
            </a:r>
            <a:r>
              <a:rPr lang="en">
                <a:solidFill>
                  <a:schemeClr val="dk1"/>
                </a:solidFill>
                <a:latin typeface="Times New Roman"/>
                <a:ea typeface="Times New Roman"/>
                <a:cs typeface="Times New Roman"/>
                <a:sym typeface="Times New Roman"/>
              </a:rPr>
              <a:t>The </a:t>
            </a:r>
            <a:r>
              <a:rPr lang="en">
                <a:solidFill>
                  <a:schemeClr val="dk1"/>
                </a:solidFill>
                <a:latin typeface="Times New Roman"/>
                <a:ea typeface="Times New Roman"/>
                <a:cs typeface="Times New Roman"/>
                <a:sym typeface="Times New Roman"/>
              </a:rPr>
              <a:t>data builds up the learning algorithm.</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
                <a:solidFill>
                  <a:schemeClr val="dk1"/>
                </a:solidFill>
                <a:latin typeface="Times New Roman"/>
                <a:ea typeface="Times New Roman"/>
                <a:cs typeface="Times New Roman"/>
                <a:sym typeface="Times New Roman"/>
              </a:rPr>
              <a:t>Validation data:</a:t>
            </a:r>
            <a:r>
              <a:rPr lang="en">
                <a:solidFill>
                  <a:schemeClr val="dk1"/>
                </a:solidFill>
                <a:latin typeface="Times New Roman"/>
                <a:ea typeface="Times New Roman"/>
                <a:cs typeface="Times New Roman"/>
                <a:sym typeface="Times New Roman"/>
              </a:rPr>
              <a:t> </a:t>
            </a:r>
            <a:r>
              <a:rPr lang="en" u="sng">
                <a:solidFill>
                  <a:schemeClr val="dk1"/>
                </a:solidFill>
                <a:latin typeface="Times New Roman"/>
                <a:ea typeface="Times New Roman"/>
                <a:cs typeface="Times New Roman"/>
                <a:sym typeface="Times New Roman"/>
              </a:rPr>
              <a:t>During training</a:t>
            </a:r>
            <a:r>
              <a:rPr lang="en">
                <a:solidFill>
                  <a:schemeClr val="dk1"/>
                </a:solidFill>
                <a:latin typeface="Times New Roman"/>
                <a:ea typeface="Times New Roman"/>
                <a:cs typeface="Times New Roman"/>
                <a:sym typeface="Times New Roman"/>
              </a:rPr>
              <a:t>, validation data infuses new data into the model that it hasn’t evaluated before. Validation data provides the first test against unseen data, allowing to evaluate how well the model makes predictions based on the new data.</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br>
              <a:rPr lang="en">
                <a:solidFill>
                  <a:schemeClr val="dk1"/>
                </a:solidFill>
                <a:latin typeface="Times New Roman"/>
                <a:ea typeface="Times New Roman"/>
                <a:cs typeface="Times New Roman"/>
                <a:sym typeface="Times New Roman"/>
              </a:rPr>
            </a:br>
            <a:r>
              <a:rPr b="1" lang="en">
                <a:solidFill>
                  <a:schemeClr val="dk1"/>
                </a:solidFill>
                <a:latin typeface="Times New Roman"/>
                <a:ea typeface="Times New Roman"/>
                <a:cs typeface="Times New Roman"/>
                <a:sym typeface="Times New Roman"/>
              </a:rPr>
              <a:t>Test data:</a:t>
            </a:r>
            <a:r>
              <a:rPr lang="en">
                <a:solidFill>
                  <a:schemeClr val="dk1"/>
                </a:solidFill>
                <a:latin typeface="Times New Roman"/>
                <a:ea typeface="Times New Roman"/>
                <a:cs typeface="Times New Roman"/>
                <a:sym typeface="Times New Roman"/>
              </a:rPr>
              <a:t> After the model is built, testing data once again validates that it can make accurate predictions.</a:t>
            </a:r>
            <a:endParaRPr>
              <a:solidFill>
                <a:schemeClr val="dk1"/>
              </a:solidFill>
              <a:latin typeface="Times New Roman"/>
              <a:ea typeface="Times New Roman"/>
              <a:cs typeface="Times New Roman"/>
              <a:sym typeface="Times New Roman"/>
            </a:endParaRPr>
          </a:p>
          <a:p>
            <a:pPr indent="0" lvl="0" marL="0" rtl="0" algn="l">
              <a:spcBef>
                <a:spcPts val="1800"/>
              </a:spcBef>
              <a:spcAft>
                <a:spcPts val="0"/>
              </a:spcAft>
              <a:buNone/>
            </a:pPr>
            <a:r>
              <a:t/>
            </a:r>
            <a:endParaRPr sz="1200">
              <a:solidFill>
                <a:srgbClr val="606060"/>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3"/>
          <p:cNvSpPr txBox="1"/>
          <p:nvPr/>
        </p:nvSpPr>
        <p:spPr>
          <a:xfrm>
            <a:off x="152400" y="266700"/>
            <a:ext cx="9144000" cy="534600"/>
          </a:xfrm>
          <a:prstGeom prst="rect">
            <a:avLst/>
          </a:prstGeom>
          <a:solidFill>
            <a:srgbClr val="054B3E"/>
          </a:solid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sz="2600">
                <a:solidFill>
                  <a:srgbClr val="FFFF00"/>
                </a:solidFill>
                <a:latin typeface="Oswald"/>
                <a:ea typeface="Oswald"/>
                <a:cs typeface="Oswald"/>
                <a:sym typeface="Oswald"/>
              </a:rPr>
              <a:t>My Project</a:t>
            </a:r>
            <a:endParaRPr sz="2600">
              <a:solidFill>
                <a:srgbClr val="FFFF00"/>
              </a:solidFill>
              <a:latin typeface="Oswald"/>
              <a:ea typeface="Oswald"/>
              <a:cs typeface="Oswald"/>
              <a:sym typeface="Oswald"/>
            </a:endParaRPr>
          </a:p>
        </p:txBody>
      </p:sp>
      <p:sp>
        <p:nvSpPr>
          <p:cNvPr id="348" name="Google Shape;348;p23"/>
          <p:cNvSpPr/>
          <p:nvPr/>
        </p:nvSpPr>
        <p:spPr>
          <a:xfrm>
            <a:off x="152400" y="152400"/>
            <a:ext cx="9144000" cy="1143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400">
              <a:solidFill>
                <a:srgbClr val="FFFFFF"/>
              </a:solidFill>
              <a:latin typeface="Oswald"/>
              <a:ea typeface="Oswald"/>
              <a:cs typeface="Oswald"/>
              <a:sym typeface="Oswald"/>
            </a:endParaRPr>
          </a:p>
        </p:txBody>
      </p:sp>
      <p:sp>
        <p:nvSpPr>
          <p:cNvPr id="349" name="Google Shape;349;p23"/>
          <p:cNvSpPr/>
          <p:nvPr/>
        </p:nvSpPr>
        <p:spPr>
          <a:xfrm>
            <a:off x="0" y="5067300"/>
            <a:ext cx="9144000" cy="570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350" name="Google Shape;350;p23"/>
          <p:cNvSpPr/>
          <p:nvPr/>
        </p:nvSpPr>
        <p:spPr>
          <a:xfrm>
            <a:off x="0" y="4895700"/>
            <a:ext cx="9144000" cy="171600"/>
          </a:xfrm>
          <a:prstGeom prst="rect">
            <a:avLst/>
          </a:prstGeom>
          <a:solidFill>
            <a:srgbClr val="054B3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351" name="Google Shape;351;p23"/>
          <p:cNvSpPr txBox="1"/>
          <p:nvPr/>
        </p:nvSpPr>
        <p:spPr>
          <a:xfrm>
            <a:off x="8624858" y="4349295"/>
            <a:ext cx="548700" cy="3543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352" name="Google Shape;352;p23"/>
          <p:cNvSpPr txBox="1"/>
          <p:nvPr/>
        </p:nvSpPr>
        <p:spPr>
          <a:xfrm>
            <a:off x="576725" y="1276425"/>
            <a:ext cx="7726200" cy="220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p>
          <a:p>
            <a:pPr indent="0" lvl="0" marL="457200" rtl="0" algn="l">
              <a:spcBef>
                <a:spcPts val="0"/>
              </a:spcBef>
              <a:spcAft>
                <a:spcPts val="0"/>
              </a:spcAft>
              <a:buNone/>
            </a:pPr>
            <a:r>
              <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Build a Neural Network model for a given d</a:t>
            </a:r>
            <a:r>
              <a:rPr lang="en" sz="1800">
                <a:latin typeface="Times New Roman"/>
                <a:ea typeface="Times New Roman"/>
                <a:cs typeface="Times New Roman"/>
                <a:sym typeface="Times New Roman"/>
              </a:rPr>
              <a:t>ynamical</a:t>
            </a:r>
            <a:r>
              <a:rPr lang="en" sz="1800">
                <a:latin typeface="Times New Roman"/>
                <a:ea typeface="Times New Roman"/>
                <a:cs typeface="Times New Roman"/>
                <a:sym typeface="Times New Roman"/>
              </a:rPr>
              <a:t> system .</a:t>
            </a:r>
            <a:endParaRPr sz="1800">
              <a:latin typeface="Times New Roman"/>
              <a:ea typeface="Times New Roman"/>
              <a:cs typeface="Times New Roman"/>
              <a:sym typeface="Times New Roman"/>
            </a:endParaRPr>
          </a:p>
          <a:p>
            <a:pPr indent="0" lvl="0" marL="457200" rtl="0" algn="l">
              <a:spcBef>
                <a:spcPts val="0"/>
              </a:spcBef>
              <a:spcAft>
                <a:spcPts val="0"/>
              </a:spcAft>
              <a:buNone/>
            </a:pPr>
            <a:r>
              <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using Autoencoders and Neural Ordinary Differential Equations. </a:t>
            </a:r>
            <a:endParaRPr sz="1800">
              <a:latin typeface="Times New Roman"/>
              <a:ea typeface="Times New Roman"/>
              <a:cs typeface="Times New Roman"/>
              <a:sym typeface="Times New Roman"/>
            </a:endParaRPr>
          </a:p>
          <a:p>
            <a:pPr indent="0" lvl="0" marL="457200" rtl="0" algn="l">
              <a:spcBef>
                <a:spcPts val="0"/>
              </a:spcBef>
              <a:spcAft>
                <a:spcPts val="0"/>
              </a:spcAft>
              <a:buNone/>
            </a:pPr>
            <a:r>
              <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t/>
            </a:r>
            <a:endParaRPr/>
          </a:p>
        </p:txBody>
      </p:sp>
      <p:sp>
        <p:nvSpPr>
          <p:cNvPr id="353" name="Google Shape;353;p23"/>
          <p:cNvSpPr txBox="1"/>
          <p:nvPr/>
        </p:nvSpPr>
        <p:spPr>
          <a:xfrm>
            <a:off x="576725" y="3872300"/>
            <a:ext cx="7113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222222"/>
                </a:solidFill>
                <a:highlight>
                  <a:srgbClr val="FFFFFF"/>
                </a:highlight>
              </a:rPr>
              <a:t>Linot, Alec J., and Michael D. Graham. "Data-driven reduced-order modeling of spatiotemporal chaos with neural ordinary differential equations." </a:t>
            </a:r>
            <a:r>
              <a:rPr i="1" lang="en">
                <a:solidFill>
                  <a:srgbClr val="222222"/>
                </a:solidFill>
                <a:highlight>
                  <a:srgbClr val="FFFFFF"/>
                </a:highlight>
              </a:rPr>
              <a:t>Chaos: An Interdisciplinary Journal of Nonlinear Science</a:t>
            </a:r>
            <a:r>
              <a:rPr lang="en">
                <a:solidFill>
                  <a:srgbClr val="222222"/>
                </a:solidFill>
                <a:highlight>
                  <a:srgbClr val="FFFFFF"/>
                </a:highlight>
              </a:rPr>
              <a:t> 32.7 (2022): 073110.</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4"/>
          <p:cNvSpPr txBox="1"/>
          <p:nvPr/>
        </p:nvSpPr>
        <p:spPr>
          <a:xfrm>
            <a:off x="152400" y="266700"/>
            <a:ext cx="9144000" cy="534600"/>
          </a:xfrm>
          <a:prstGeom prst="rect">
            <a:avLst/>
          </a:prstGeom>
          <a:solidFill>
            <a:srgbClr val="054B3E"/>
          </a:solid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sz="2600">
                <a:solidFill>
                  <a:srgbClr val="FFFF00"/>
                </a:solidFill>
                <a:latin typeface="Oswald"/>
                <a:ea typeface="Oswald"/>
                <a:cs typeface="Oswald"/>
                <a:sym typeface="Oswald"/>
              </a:rPr>
              <a:t>What I have done so far</a:t>
            </a:r>
            <a:endParaRPr sz="2600">
              <a:solidFill>
                <a:srgbClr val="FFFF00"/>
              </a:solidFill>
              <a:latin typeface="Oswald"/>
              <a:ea typeface="Oswald"/>
              <a:cs typeface="Oswald"/>
              <a:sym typeface="Oswald"/>
            </a:endParaRPr>
          </a:p>
        </p:txBody>
      </p:sp>
      <p:sp>
        <p:nvSpPr>
          <p:cNvPr id="359" name="Google Shape;359;p24"/>
          <p:cNvSpPr/>
          <p:nvPr/>
        </p:nvSpPr>
        <p:spPr>
          <a:xfrm>
            <a:off x="152400" y="152400"/>
            <a:ext cx="9144000" cy="1143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400">
              <a:solidFill>
                <a:srgbClr val="FFFFFF"/>
              </a:solidFill>
              <a:latin typeface="Oswald"/>
              <a:ea typeface="Oswald"/>
              <a:cs typeface="Oswald"/>
              <a:sym typeface="Oswald"/>
            </a:endParaRPr>
          </a:p>
        </p:txBody>
      </p:sp>
      <p:sp>
        <p:nvSpPr>
          <p:cNvPr id="360" name="Google Shape;360;p24"/>
          <p:cNvSpPr/>
          <p:nvPr/>
        </p:nvSpPr>
        <p:spPr>
          <a:xfrm>
            <a:off x="0" y="5067300"/>
            <a:ext cx="9144000" cy="570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361" name="Google Shape;361;p24"/>
          <p:cNvSpPr/>
          <p:nvPr/>
        </p:nvSpPr>
        <p:spPr>
          <a:xfrm>
            <a:off x="0" y="4952700"/>
            <a:ext cx="9144000" cy="171600"/>
          </a:xfrm>
          <a:prstGeom prst="rect">
            <a:avLst/>
          </a:prstGeom>
          <a:solidFill>
            <a:srgbClr val="054B3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362" name="Google Shape;362;p24"/>
          <p:cNvSpPr txBox="1"/>
          <p:nvPr/>
        </p:nvSpPr>
        <p:spPr>
          <a:xfrm>
            <a:off x="8624858" y="4349295"/>
            <a:ext cx="548700" cy="3543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363" name="Google Shape;363;p24"/>
          <p:cNvSpPr txBox="1"/>
          <p:nvPr/>
        </p:nvSpPr>
        <p:spPr>
          <a:xfrm>
            <a:off x="434975" y="937600"/>
            <a:ext cx="385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Times New Roman"/>
                <a:ea typeface="Times New Roman"/>
                <a:cs typeface="Times New Roman"/>
                <a:sym typeface="Times New Roman"/>
              </a:rPr>
              <a:t>Project contains three parts…</a:t>
            </a:r>
            <a:endParaRPr>
              <a:latin typeface="Times New Roman"/>
              <a:ea typeface="Times New Roman"/>
              <a:cs typeface="Times New Roman"/>
              <a:sym typeface="Times New Roman"/>
            </a:endParaRPr>
          </a:p>
        </p:txBody>
      </p:sp>
      <p:sp>
        <p:nvSpPr>
          <p:cNvPr id="364" name="Google Shape;364;p24"/>
          <p:cNvSpPr txBox="1"/>
          <p:nvPr/>
        </p:nvSpPr>
        <p:spPr>
          <a:xfrm>
            <a:off x="2655525" y="1474100"/>
            <a:ext cx="5731800" cy="21549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SzPts val="1600"/>
              <a:buFont typeface="Times New Roman"/>
              <a:buAutoNum type="arabicPeriod"/>
            </a:pPr>
            <a:r>
              <a:rPr lang="en" sz="1600">
                <a:latin typeface="Times New Roman"/>
                <a:ea typeface="Times New Roman"/>
                <a:cs typeface="Times New Roman"/>
                <a:sym typeface="Times New Roman"/>
              </a:rPr>
              <a:t>Neural Network model to obtain reduce dimensional manifold data of the dynamical system</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AutoNum type="arabicPeriod"/>
            </a:pPr>
            <a:r>
              <a:rPr lang="en" sz="1600">
                <a:solidFill>
                  <a:schemeClr val="dk1"/>
                </a:solidFill>
                <a:latin typeface="Times New Roman"/>
                <a:ea typeface="Times New Roman"/>
                <a:cs typeface="Times New Roman"/>
                <a:sym typeface="Times New Roman"/>
              </a:rPr>
              <a:t>Neural Network model that mapped corresponding ODE model  of the dynamical system data</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AutoNum type="arabicPeriod"/>
            </a:pPr>
            <a:r>
              <a:rPr lang="en" sz="1600">
                <a:solidFill>
                  <a:schemeClr val="dk1"/>
                </a:solidFill>
                <a:latin typeface="Times New Roman"/>
                <a:ea typeface="Times New Roman"/>
                <a:cs typeface="Times New Roman"/>
                <a:sym typeface="Times New Roman"/>
              </a:rPr>
              <a:t>By using part 1 and part 2 , predict the future time step values of the given system</a:t>
            </a:r>
            <a:endParaRPr sz="1600">
              <a:solidFill>
                <a:schemeClr val="dk1"/>
              </a:solidFill>
              <a:latin typeface="Times New Roman"/>
              <a:ea typeface="Times New Roman"/>
              <a:cs typeface="Times New Roman"/>
              <a:sym typeface="Times New Roman"/>
            </a:endParaRPr>
          </a:p>
        </p:txBody>
      </p:sp>
      <p:pic>
        <p:nvPicPr>
          <p:cNvPr id="365" name="Google Shape;365;p24"/>
          <p:cNvPicPr preferRelativeResize="0"/>
          <p:nvPr/>
        </p:nvPicPr>
        <p:blipFill rotWithShape="1">
          <a:blip r:embed="rId3">
            <a:alphaModFix/>
          </a:blip>
          <a:srcRect b="11730" l="0" r="0" t="0"/>
          <a:stretch/>
        </p:blipFill>
        <p:spPr>
          <a:xfrm>
            <a:off x="1887939" y="2892412"/>
            <a:ext cx="651448" cy="620275"/>
          </a:xfrm>
          <a:prstGeom prst="rect">
            <a:avLst/>
          </a:prstGeom>
          <a:noFill/>
          <a:ln>
            <a:noFill/>
          </a:ln>
        </p:spPr>
      </p:pic>
      <p:pic>
        <p:nvPicPr>
          <p:cNvPr id="366" name="Google Shape;366;p24"/>
          <p:cNvPicPr preferRelativeResize="0"/>
          <p:nvPr/>
        </p:nvPicPr>
        <p:blipFill>
          <a:blip r:embed="rId4">
            <a:alphaModFix/>
          </a:blip>
          <a:stretch>
            <a:fillRect/>
          </a:stretch>
        </p:blipFill>
        <p:spPr>
          <a:xfrm>
            <a:off x="2048800" y="1578674"/>
            <a:ext cx="548700" cy="548700"/>
          </a:xfrm>
          <a:prstGeom prst="rect">
            <a:avLst/>
          </a:prstGeom>
          <a:noFill/>
          <a:ln>
            <a:noFill/>
          </a:ln>
        </p:spPr>
      </p:pic>
      <p:pic>
        <p:nvPicPr>
          <p:cNvPr id="367" name="Google Shape;367;p24"/>
          <p:cNvPicPr preferRelativeResize="0"/>
          <p:nvPr/>
        </p:nvPicPr>
        <p:blipFill>
          <a:blip r:embed="rId5">
            <a:alphaModFix/>
          </a:blip>
          <a:stretch>
            <a:fillRect/>
          </a:stretch>
        </p:blipFill>
        <p:spPr>
          <a:xfrm>
            <a:off x="1965459" y="2342398"/>
            <a:ext cx="496428" cy="5346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
                                        </p:tgtEl>
                                        <p:attrNameLst>
                                          <p:attrName>style.visibility</p:attrName>
                                        </p:attrNameLst>
                                      </p:cBhvr>
                                      <p:to>
                                        <p:strVal val="visible"/>
                                      </p:to>
                                    </p:set>
                                    <p:animEffect filter="fade" transition="in">
                                      <p:cBhvr>
                                        <p:cTn dur="1000"/>
                                        <p:tgtEl>
                                          <p:spTgt spid="3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gtEl>
                                        <p:attrNameLst>
                                          <p:attrName>style.visibility</p:attrName>
                                        </p:attrNameLst>
                                      </p:cBhvr>
                                      <p:to>
                                        <p:strVal val="visible"/>
                                      </p:to>
                                    </p:set>
                                    <p:animEffect filter="fade" transition="in">
                                      <p:cBhvr>
                                        <p:cTn dur="1000"/>
                                        <p:tgtEl>
                                          <p:spTgt spid="3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1000"/>
                                        <p:tgtEl>
                                          <p:spTgt spid="3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5"/>
          <p:cNvSpPr txBox="1"/>
          <p:nvPr/>
        </p:nvSpPr>
        <p:spPr>
          <a:xfrm>
            <a:off x="152400" y="266700"/>
            <a:ext cx="9144000" cy="534600"/>
          </a:xfrm>
          <a:prstGeom prst="rect">
            <a:avLst/>
          </a:prstGeom>
          <a:solidFill>
            <a:srgbClr val="054B3E"/>
          </a:solid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sz="2600">
                <a:solidFill>
                  <a:srgbClr val="FFFF00"/>
                </a:solidFill>
                <a:latin typeface="Oswald"/>
                <a:ea typeface="Oswald"/>
                <a:cs typeface="Oswald"/>
                <a:sym typeface="Oswald"/>
              </a:rPr>
              <a:t>Part 1: Intro</a:t>
            </a:r>
            <a:endParaRPr sz="2600">
              <a:solidFill>
                <a:srgbClr val="FFFF00"/>
              </a:solidFill>
              <a:latin typeface="Oswald"/>
              <a:ea typeface="Oswald"/>
              <a:cs typeface="Oswald"/>
              <a:sym typeface="Oswald"/>
            </a:endParaRPr>
          </a:p>
        </p:txBody>
      </p:sp>
      <p:sp>
        <p:nvSpPr>
          <p:cNvPr id="373" name="Google Shape;373;p25"/>
          <p:cNvSpPr/>
          <p:nvPr/>
        </p:nvSpPr>
        <p:spPr>
          <a:xfrm>
            <a:off x="152400" y="152400"/>
            <a:ext cx="9144000" cy="1143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400">
              <a:solidFill>
                <a:srgbClr val="FFFFFF"/>
              </a:solidFill>
              <a:latin typeface="Oswald"/>
              <a:ea typeface="Oswald"/>
              <a:cs typeface="Oswald"/>
              <a:sym typeface="Oswald"/>
            </a:endParaRPr>
          </a:p>
        </p:txBody>
      </p:sp>
      <p:sp>
        <p:nvSpPr>
          <p:cNvPr id="374" name="Google Shape;374;p25"/>
          <p:cNvSpPr/>
          <p:nvPr/>
        </p:nvSpPr>
        <p:spPr>
          <a:xfrm>
            <a:off x="152400" y="5067300"/>
            <a:ext cx="6271800" cy="486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375" name="Google Shape;375;p25"/>
          <p:cNvSpPr/>
          <p:nvPr/>
        </p:nvSpPr>
        <p:spPr>
          <a:xfrm>
            <a:off x="0" y="4944325"/>
            <a:ext cx="9144000" cy="171600"/>
          </a:xfrm>
          <a:prstGeom prst="rect">
            <a:avLst/>
          </a:prstGeom>
          <a:solidFill>
            <a:srgbClr val="054B3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376" name="Google Shape;376;p25"/>
          <p:cNvSpPr txBox="1"/>
          <p:nvPr/>
        </p:nvSpPr>
        <p:spPr>
          <a:xfrm>
            <a:off x="8624858" y="4349295"/>
            <a:ext cx="548700" cy="3543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377" name="Google Shape;377;p25"/>
          <p:cNvSpPr txBox="1"/>
          <p:nvPr/>
        </p:nvSpPr>
        <p:spPr>
          <a:xfrm>
            <a:off x="357100" y="1894650"/>
            <a:ext cx="6521400" cy="6771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Font typeface="Times New Roman"/>
              <a:buAutoNum type="arabicPeriod"/>
            </a:pPr>
            <a:r>
              <a:rPr lang="en" sz="1600">
                <a:solidFill>
                  <a:schemeClr val="dk1"/>
                </a:solidFill>
                <a:latin typeface="Times New Roman"/>
                <a:ea typeface="Times New Roman"/>
                <a:cs typeface="Times New Roman"/>
                <a:sym typeface="Times New Roman"/>
              </a:rPr>
              <a:t>Neural Network model to obtain reduce dimensional manifold data of the dynamical system</a:t>
            </a:r>
            <a:endParaRPr/>
          </a:p>
        </p:txBody>
      </p:sp>
      <p:pic>
        <p:nvPicPr>
          <p:cNvPr id="378" name="Google Shape;378;p25"/>
          <p:cNvPicPr preferRelativeResize="0"/>
          <p:nvPr/>
        </p:nvPicPr>
        <p:blipFill rotWithShape="1">
          <a:blip r:embed="rId3">
            <a:alphaModFix/>
          </a:blip>
          <a:srcRect b="-6677" l="0" r="0" t="23100"/>
          <a:stretch/>
        </p:blipFill>
        <p:spPr>
          <a:xfrm>
            <a:off x="-2" y="3832375"/>
            <a:ext cx="5151949" cy="10207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26"/>
          <p:cNvSpPr txBox="1"/>
          <p:nvPr/>
        </p:nvSpPr>
        <p:spPr>
          <a:xfrm>
            <a:off x="152400" y="266700"/>
            <a:ext cx="9144000" cy="534600"/>
          </a:xfrm>
          <a:prstGeom prst="rect">
            <a:avLst/>
          </a:prstGeom>
          <a:solidFill>
            <a:srgbClr val="054B3E"/>
          </a:solid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sz="2600">
                <a:solidFill>
                  <a:srgbClr val="FFFF00"/>
                </a:solidFill>
                <a:latin typeface="Oswald"/>
                <a:ea typeface="Oswald"/>
                <a:cs typeface="Oswald"/>
                <a:sym typeface="Oswald"/>
              </a:rPr>
              <a:t>Part 1:</a:t>
            </a:r>
            <a:r>
              <a:rPr lang="en" sz="2600">
                <a:solidFill>
                  <a:srgbClr val="FFFF00"/>
                </a:solidFill>
                <a:latin typeface="Oswald"/>
                <a:ea typeface="Oswald"/>
                <a:cs typeface="Oswald"/>
                <a:sym typeface="Oswald"/>
              </a:rPr>
              <a:t>Neural network types</a:t>
            </a:r>
            <a:endParaRPr sz="2600">
              <a:solidFill>
                <a:srgbClr val="FFFF00"/>
              </a:solidFill>
              <a:latin typeface="Oswald"/>
              <a:ea typeface="Oswald"/>
              <a:cs typeface="Oswald"/>
              <a:sym typeface="Oswald"/>
            </a:endParaRPr>
          </a:p>
        </p:txBody>
      </p:sp>
      <p:sp>
        <p:nvSpPr>
          <p:cNvPr id="384" name="Google Shape;384;p26"/>
          <p:cNvSpPr/>
          <p:nvPr/>
        </p:nvSpPr>
        <p:spPr>
          <a:xfrm>
            <a:off x="152400" y="152400"/>
            <a:ext cx="9144000" cy="1143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400">
              <a:solidFill>
                <a:srgbClr val="FFFFFF"/>
              </a:solidFill>
              <a:latin typeface="Oswald"/>
              <a:ea typeface="Oswald"/>
              <a:cs typeface="Oswald"/>
              <a:sym typeface="Oswald"/>
            </a:endParaRPr>
          </a:p>
        </p:txBody>
      </p:sp>
      <p:sp>
        <p:nvSpPr>
          <p:cNvPr id="385" name="Google Shape;385;p26"/>
          <p:cNvSpPr/>
          <p:nvPr/>
        </p:nvSpPr>
        <p:spPr>
          <a:xfrm>
            <a:off x="152400" y="5067300"/>
            <a:ext cx="9144000" cy="570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386" name="Google Shape;386;p26"/>
          <p:cNvSpPr/>
          <p:nvPr/>
        </p:nvSpPr>
        <p:spPr>
          <a:xfrm>
            <a:off x="0" y="4971900"/>
            <a:ext cx="9144000" cy="171600"/>
          </a:xfrm>
          <a:prstGeom prst="rect">
            <a:avLst/>
          </a:prstGeom>
          <a:solidFill>
            <a:srgbClr val="054B3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387" name="Google Shape;387;p26"/>
          <p:cNvSpPr txBox="1"/>
          <p:nvPr/>
        </p:nvSpPr>
        <p:spPr>
          <a:xfrm>
            <a:off x="8624858" y="4349295"/>
            <a:ext cx="548700" cy="3543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pic>
        <p:nvPicPr>
          <p:cNvPr id="388" name="Google Shape;388;p26"/>
          <p:cNvPicPr preferRelativeResize="0"/>
          <p:nvPr/>
        </p:nvPicPr>
        <p:blipFill>
          <a:blip r:embed="rId3">
            <a:alphaModFix/>
          </a:blip>
          <a:stretch>
            <a:fillRect/>
          </a:stretch>
        </p:blipFill>
        <p:spPr>
          <a:xfrm>
            <a:off x="203700" y="1126875"/>
            <a:ext cx="4368302" cy="2866675"/>
          </a:xfrm>
          <a:prstGeom prst="rect">
            <a:avLst/>
          </a:prstGeom>
          <a:noFill/>
          <a:ln>
            <a:noFill/>
          </a:ln>
        </p:spPr>
      </p:pic>
      <p:pic>
        <p:nvPicPr>
          <p:cNvPr id="389" name="Google Shape;389;p26"/>
          <p:cNvPicPr preferRelativeResize="0"/>
          <p:nvPr/>
        </p:nvPicPr>
        <p:blipFill>
          <a:blip r:embed="rId4">
            <a:alphaModFix/>
          </a:blip>
          <a:stretch>
            <a:fillRect/>
          </a:stretch>
        </p:blipFill>
        <p:spPr>
          <a:xfrm>
            <a:off x="4470825" y="1232650"/>
            <a:ext cx="4541174" cy="2541751"/>
          </a:xfrm>
          <a:prstGeom prst="rect">
            <a:avLst/>
          </a:prstGeom>
          <a:noFill/>
          <a:ln>
            <a:noFill/>
          </a:ln>
        </p:spPr>
      </p:pic>
      <p:sp>
        <p:nvSpPr>
          <p:cNvPr id="390" name="Google Shape;390;p26"/>
          <p:cNvSpPr/>
          <p:nvPr/>
        </p:nvSpPr>
        <p:spPr>
          <a:xfrm>
            <a:off x="1279375" y="1053025"/>
            <a:ext cx="2556600" cy="12120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27"/>
          <p:cNvSpPr txBox="1"/>
          <p:nvPr/>
        </p:nvSpPr>
        <p:spPr>
          <a:xfrm>
            <a:off x="152400" y="266700"/>
            <a:ext cx="9144000" cy="534600"/>
          </a:xfrm>
          <a:prstGeom prst="rect">
            <a:avLst/>
          </a:prstGeom>
          <a:solidFill>
            <a:srgbClr val="054B3E"/>
          </a:solid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sz="2600">
                <a:solidFill>
                  <a:srgbClr val="FFFF00"/>
                </a:solidFill>
                <a:latin typeface="Oswald"/>
                <a:ea typeface="Oswald"/>
                <a:cs typeface="Oswald"/>
                <a:sym typeface="Oswald"/>
              </a:rPr>
              <a:t>Part 1:</a:t>
            </a:r>
            <a:r>
              <a:rPr lang="en" sz="2600">
                <a:solidFill>
                  <a:srgbClr val="FFFF00"/>
                </a:solidFill>
                <a:latin typeface="Oswald"/>
                <a:ea typeface="Oswald"/>
                <a:cs typeface="Oswald"/>
                <a:sym typeface="Oswald"/>
              </a:rPr>
              <a:t>Autoencoders</a:t>
            </a:r>
            <a:endParaRPr sz="2600">
              <a:solidFill>
                <a:srgbClr val="FFFF00"/>
              </a:solidFill>
              <a:latin typeface="Oswald"/>
              <a:ea typeface="Oswald"/>
              <a:cs typeface="Oswald"/>
              <a:sym typeface="Oswald"/>
            </a:endParaRPr>
          </a:p>
        </p:txBody>
      </p:sp>
      <p:sp>
        <p:nvSpPr>
          <p:cNvPr id="396" name="Google Shape;396;p27"/>
          <p:cNvSpPr/>
          <p:nvPr/>
        </p:nvSpPr>
        <p:spPr>
          <a:xfrm>
            <a:off x="152400" y="152400"/>
            <a:ext cx="9144000" cy="1143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400">
              <a:solidFill>
                <a:srgbClr val="FFFFFF"/>
              </a:solidFill>
              <a:latin typeface="Oswald"/>
              <a:ea typeface="Oswald"/>
              <a:cs typeface="Oswald"/>
              <a:sym typeface="Oswald"/>
            </a:endParaRPr>
          </a:p>
        </p:txBody>
      </p:sp>
      <p:sp>
        <p:nvSpPr>
          <p:cNvPr id="397" name="Google Shape;397;p27"/>
          <p:cNvSpPr/>
          <p:nvPr/>
        </p:nvSpPr>
        <p:spPr>
          <a:xfrm>
            <a:off x="152400" y="5067300"/>
            <a:ext cx="9144000" cy="570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398" name="Google Shape;398;p27"/>
          <p:cNvSpPr/>
          <p:nvPr/>
        </p:nvSpPr>
        <p:spPr>
          <a:xfrm>
            <a:off x="67375" y="4976650"/>
            <a:ext cx="9144000" cy="171600"/>
          </a:xfrm>
          <a:prstGeom prst="rect">
            <a:avLst/>
          </a:prstGeom>
          <a:solidFill>
            <a:srgbClr val="054B3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399" name="Google Shape;399;p27"/>
          <p:cNvSpPr txBox="1"/>
          <p:nvPr/>
        </p:nvSpPr>
        <p:spPr>
          <a:xfrm>
            <a:off x="8624858" y="4349295"/>
            <a:ext cx="548700" cy="3543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00" name="Google Shape;400;p27"/>
          <p:cNvSpPr txBox="1"/>
          <p:nvPr/>
        </p:nvSpPr>
        <p:spPr>
          <a:xfrm>
            <a:off x="488875" y="1130550"/>
            <a:ext cx="8301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Times New Roman"/>
                <a:ea typeface="Times New Roman"/>
                <a:cs typeface="Times New Roman"/>
                <a:sym typeface="Times New Roman"/>
              </a:rPr>
              <a:t>An autoencoder is a neural network that is trained to attempt to copy its input to its output. Internally It has a hidden layer </a:t>
            </a:r>
            <a:r>
              <a:rPr b="1" i="1" lang="en" sz="1600">
                <a:latin typeface="Times New Roman"/>
                <a:ea typeface="Times New Roman"/>
                <a:cs typeface="Times New Roman"/>
                <a:sym typeface="Times New Roman"/>
              </a:rPr>
              <a:t>h </a:t>
            </a:r>
            <a:r>
              <a:rPr lang="en" sz="1600">
                <a:latin typeface="Times New Roman"/>
                <a:ea typeface="Times New Roman"/>
                <a:cs typeface="Times New Roman"/>
                <a:sym typeface="Times New Roman"/>
              </a:rPr>
              <a:t>that describes a code used to represent  the input.</a:t>
            </a:r>
            <a:endParaRPr sz="1600">
              <a:latin typeface="Times New Roman"/>
              <a:ea typeface="Times New Roman"/>
              <a:cs typeface="Times New Roman"/>
              <a:sym typeface="Times New Roman"/>
            </a:endParaRPr>
          </a:p>
        </p:txBody>
      </p:sp>
      <p:sp>
        <p:nvSpPr>
          <p:cNvPr id="401" name="Google Shape;401;p27"/>
          <p:cNvSpPr/>
          <p:nvPr/>
        </p:nvSpPr>
        <p:spPr>
          <a:xfrm>
            <a:off x="566000" y="2001790"/>
            <a:ext cx="1044300" cy="5901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X</a:t>
            </a:r>
            <a:br>
              <a:rPr lang="en">
                <a:latin typeface="Times New Roman"/>
                <a:ea typeface="Times New Roman"/>
                <a:cs typeface="Times New Roman"/>
                <a:sym typeface="Times New Roman"/>
              </a:rPr>
            </a:br>
            <a:r>
              <a:rPr lang="en">
                <a:latin typeface="Times New Roman"/>
                <a:ea typeface="Times New Roman"/>
                <a:cs typeface="Times New Roman"/>
                <a:sym typeface="Times New Roman"/>
              </a:rPr>
              <a:t>Input Layer</a:t>
            </a:r>
            <a:endParaRPr>
              <a:latin typeface="Times New Roman"/>
              <a:ea typeface="Times New Roman"/>
              <a:cs typeface="Times New Roman"/>
              <a:sym typeface="Times New Roman"/>
            </a:endParaRPr>
          </a:p>
        </p:txBody>
      </p:sp>
      <p:sp>
        <p:nvSpPr>
          <p:cNvPr id="402" name="Google Shape;402;p27"/>
          <p:cNvSpPr/>
          <p:nvPr/>
        </p:nvSpPr>
        <p:spPr>
          <a:xfrm>
            <a:off x="3107946" y="2029810"/>
            <a:ext cx="1044300" cy="59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h</a:t>
            </a:r>
            <a:br>
              <a:rPr lang="en">
                <a:latin typeface="Times New Roman"/>
                <a:ea typeface="Times New Roman"/>
                <a:cs typeface="Times New Roman"/>
                <a:sym typeface="Times New Roman"/>
              </a:rPr>
            </a:br>
            <a:r>
              <a:rPr lang="en">
                <a:latin typeface="Times New Roman"/>
                <a:ea typeface="Times New Roman"/>
                <a:cs typeface="Times New Roman"/>
                <a:sym typeface="Times New Roman"/>
              </a:rPr>
              <a:t>Latent Layer</a:t>
            </a:r>
            <a:endParaRPr>
              <a:latin typeface="Times New Roman"/>
              <a:ea typeface="Times New Roman"/>
              <a:cs typeface="Times New Roman"/>
              <a:sym typeface="Times New Roman"/>
            </a:endParaRPr>
          </a:p>
        </p:txBody>
      </p:sp>
      <p:sp>
        <p:nvSpPr>
          <p:cNvPr id="403" name="Google Shape;403;p27"/>
          <p:cNvSpPr/>
          <p:nvPr/>
        </p:nvSpPr>
        <p:spPr>
          <a:xfrm>
            <a:off x="5701895" y="1984116"/>
            <a:ext cx="1183800" cy="5901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X</a:t>
            </a:r>
            <a:br>
              <a:rPr lang="en">
                <a:latin typeface="Times New Roman"/>
                <a:ea typeface="Times New Roman"/>
                <a:cs typeface="Times New Roman"/>
                <a:sym typeface="Times New Roman"/>
              </a:rPr>
            </a:br>
            <a:r>
              <a:rPr lang="en">
                <a:latin typeface="Times New Roman"/>
                <a:ea typeface="Times New Roman"/>
                <a:cs typeface="Times New Roman"/>
                <a:sym typeface="Times New Roman"/>
              </a:rPr>
              <a:t>Output Layer</a:t>
            </a:r>
            <a:endParaRPr>
              <a:latin typeface="Times New Roman"/>
              <a:ea typeface="Times New Roman"/>
              <a:cs typeface="Times New Roman"/>
              <a:sym typeface="Times New Roman"/>
            </a:endParaRPr>
          </a:p>
        </p:txBody>
      </p:sp>
      <p:sp>
        <p:nvSpPr>
          <p:cNvPr id="404" name="Google Shape;404;p27"/>
          <p:cNvSpPr/>
          <p:nvPr/>
        </p:nvSpPr>
        <p:spPr>
          <a:xfrm>
            <a:off x="1753464" y="2162901"/>
            <a:ext cx="1044300" cy="160800"/>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7"/>
          <p:cNvSpPr/>
          <p:nvPr/>
        </p:nvSpPr>
        <p:spPr>
          <a:xfrm>
            <a:off x="4351009" y="2197445"/>
            <a:ext cx="1044300" cy="160800"/>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7"/>
          <p:cNvSpPr txBox="1"/>
          <p:nvPr/>
        </p:nvSpPr>
        <p:spPr>
          <a:xfrm>
            <a:off x="4700750" y="1901247"/>
            <a:ext cx="345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Times New Roman"/>
                <a:ea typeface="Times New Roman"/>
                <a:cs typeface="Times New Roman"/>
                <a:sym typeface="Times New Roman"/>
              </a:rPr>
              <a:t>g</a:t>
            </a:r>
            <a:endParaRPr>
              <a:latin typeface="Times New Roman"/>
              <a:ea typeface="Times New Roman"/>
              <a:cs typeface="Times New Roman"/>
              <a:sym typeface="Times New Roman"/>
            </a:endParaRPr>
          </a:p>
        </p:txBody>
      </p:sp>
      <p:sp>
        <p:nvSpPr>
          <p:cNvPr id="407" name="Google Shape;407;p27"/>
          <p:cNvSpPr txBox="1"/>
          <p:nvPr/>
        </p:nvSpPr>
        <p:spPr>
          <a:xfrm>
            <a:off x="3004839" y="2749054"/>
            <a:ext cx="1226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Times New Roman"/>
                <a:ea typeface="Times New Roman"/>
                <a:cs typeface="Times New Roman"/>
                <a:sym typeface="Times New Roman"/>
              </a:rPr>
              <a:t>h=f(x)</a:t>
            </a:r>
            <a:endParaRPr>
              <a:latin typeface="Times New Roman"/>
              <a:ea typeface="Times New Roman"/>
              <a:cs typeface="Times New Roman"/>
              <a:sym typeface="Times New Roman"/>
            </a:endParaRPr>
          </a:p>
        </p:txBody>
      </p:sp>
      <p:sp>
        <p:nvSpPr>
          <p:cNvPr id="408" name="Google Shape;408;p27"/>
          <p:cNvSpPr txBox="1"/>
          <p:nvPr/>
        </p:nvSpPr>
        <p:spPr>
          <a:xfrm>
            <a:off x="5773863" y="2685213"/>
            <a:ext cx="90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Times New Roman"/>
                <a:ea typeface="Times New Roman"/>
                <a:cs typeface="Times New Roman"/>
                <a:sym typeface="Times New Roman"/>
              </a:rPr>
              <a:t>g(f(x)):=x</a:t>
            </a:r>
            <a:endParaRPr>
              <a:latin typeface="Times New Roman"/>
              <a:ea typeface="Times New Roman"/>
              <a:cs typeface="Times New Roman"/>
              <a:sym typeface="Times New Roman"/>
            </a:endParaRPr>
          </a:p>
        </p:txBody>
      </p:sp>
      <p:sp>
        <p:nvSpPr>
          <p:cNvPr id="409" name="Google Shape;409;p27"/>
          <p:cNvSpPr txBox="1"/>
          <p:nvPr/>
        </p:nvSpPr>
        <p:spPr>
          <a:xfrm>
            <a:off x="2103181" y="1865250"/>
            <a:ext cx="345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Times New Roman"/>
                <a:ea typeface="Times New Roman"/>
                <a:cs typeface="Times New Roman"/>
                <a:sym typeface="Times New Roman"/>
              </a:rPr>
              <a:t>f</a:t>
            </a:r>
            <a:endParaRPr>
              <a:latin typeface="Times New Roman"/>
              <a:ea typeface="Times New Roman"/>
              <a:cs typeface="Times New Roman"/>
              <a:sym typeface="Times New Roman"/>
            </a:endParaRPr>
          </a:p>
        </p:txBody>
      </p:sp>
      <p:sp>
        <p:nvSpPr>
          <p:cNvPr id="410" name="Google Shape;410;p27"/>
          <p:cNvSpPr txBox="1"/>
          <p:nvPr/>
        </p:nvSpPr>
        <p:spPr>
          <a:xfrm>
            <a:off x="566000" y="840925"/>
            <a:ext cx="2377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Autoencoder</a:t>
            </a:r>
            <a:endParaRPr b="1"/>
          </a:p>
        </p:txBody>
      </p:sp>
      <p:sp>
        <p:nvSpPr>
          <p:cNvPr id="411" name="Google Shape;411;p27"/>
          <p:cNvSpPr/>
          <p:nvPr/>
        </p:nvSpPr>
        <p:spPr>
          <a:xfrm>
            <a:off x="1817955" y="2431657"/>
            <a:ext cx="980100" cy="3180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rPr>
              <a:t>encoder</a:t>
            </a:r>
            <a:endParaRPr/>
          </a:p>
        </p:txBody>
      </p:sp>
      <p:sp>
        <p:nvSpPr>
          <p:cNvPr id="412" name="Google Shape;412;p27"/>
          <p:cNvSpPr/>
          <p:nvPr/>
        </p:nvSpPr>
        <p:spPr>
          <a:xfrm>
            <a:off x="4398981" y="2431657"/>
            <a:ext cx="900600" cy="318000"/>
          </a:xfrm>
          <a:prstGeom prst="roundRect">
            <a:avLst>
              <a:gd fmla="val 16667" name="adj"/>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d</a:t>
            </a:r>
            <a:r>
              <a:rPr lang="en">
                <a:solidFill>
                  <a:schemeClr val="dk1"/>
                </a:solidFill>
              </a:rPr>
              <a:t>ecoder</a:t>
            </a:r>
            <a:endParaRPr/>
          </a:p>
        </p:txBody>
      </p:sp>
      <p:pic>
        <p:nvPicPr>
          <p:cNvPr id="413" name="Google Shape;413;p27"/>
          <p:cNvPicPr preferRelativeResize="0"/>
          <p:nvPr/>
        </p:nvPicPr>
        <p:blipFill>
          <a:blip r:embed="rId3">
            <a:alphaModFix/>
          </a:blip>
          <a:stretch>
            <a:fillRect/>
          </a:stretch>
        </p:blipFill>
        <p:spPr>
          <a:xfrm>
            <a:off x="67375" y="3124300"/>
            <a:ext cx="3610576" cy="184059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1000"/>
                                        <p:tgtEl>
                                          <p:spTgt spid="411"/>
                                        </p:tgtEl>
                                      </p:cBhvr>
                                    </p:animEffect>
                                  </p:childTnLst>
                                </p:cTn>
                              </p:par>
                              <p:par>
                                <p:cTn fill="hold" nodeType="with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1000"/>
                                        <p:tgtEl>
                                          <p:spTgt spid="4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28"/>
          <p:cNvSpPr txBox="1"/>
          <p:nvPr/>
        </p:nvSpPr>
        <p:spPr>
          <a:xfrm>
            <a:off x="152400" y="266700"/>
            <a:ext cx="9144000" cy="534600"/>
          </a:xfrm>
          <a:prstGeom prst="rect">
            <a:avLst/>
          </a:prstGeom>
          <a:solidFill>
            <a:srgbClr val="054B3E"/>
          </a:solid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sz="2600">
                <a:solidFill>
                  <a:srgbClr val="FFFF00"/>
                </a:solidFill>
                <a:latin typeface="Oswald"/>
                <a:ea typeface="Oswald"/>
                <a:cs typeface="Oswald"/>
                <a:sym typeface="Oswald"/>
              </a:rPr>
              <a:t>Undercomplete Autoencoder</a:t>
            </a:r>
            <a:endParaRPr sz="2600">
              <a:solidFill>
                <a:srgbClr val="FFFF00"/>
              </a:solidFill>
              <a:latin typeface="Oswald"/>
              <a:ea typeface="Oswald"/>
              <a:cs typeface="Oswald"/>
              <a:sym typeface="Oswald"/>
            </a:endParaRPr>
          </a:p>
        </p:txBody>
      </p:sp>
      <p:sp>
        <p:nvSpPr>
          <p:cNvPr id="419" name="Google Shape;419;p28"/>
          <p:cNvSpPr/>
          <p:nvPr/>
        </p:nvSpPr>
        <p:spPr>
          <a:xfrm>
            <a:off x="152400" y="152400"/>
            <a:ext cx="9144000" cy="1143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400">
              <a:solidFill>
                <a:srgbClr val="FFFFFF"/>
              </a:solidFill>
              <a:latin typeface="Oswald"/>
              <a:ea typeface="Oswald"/>
              <a:cs typeface="Oswald"/>
              <a:sym typeface="Oswald"/>
            </a:endParaRPr>
          </a:p>
        </p:txBody>
      </p:sp>
      <p:sp>
        <p:nvSpPr>
          <p:cNvPr id="420" name="Google Shape;420;p28"/>
          <p:cNvSpPr/>
          <p:nvPr/>
        </p:nvSpPr>
        <p:spPr>
          <a:xfrm>
            <a:off x="152400" y="5067300"/>
            <a:ext cx="9144000" cy="570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421" name="Google Shape;421;p28"/>
          <p:cNvSpPr/>
          <p:nvPr/>
        </p:nvSpPr>
        <p:spPr>
          <a:xfrm>
            <a:off x="0" y="4954750"/>
            <a:ext cx="9144000" cy="171600"/>
          </a:xfrm>
          <a:prstGeom prst="rect">
            <a:avLst/>
          </a:prstGeom>
          <a:solidFill>
            <a:srgbClr val="054B3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422" name="Google Shape;422;p28"/>
          <p:cNvSpPr txBox="1"/>
          <p:nvPr/>
        </p:nvSpPr>
        <p:spPr>
          <a:xfrm>
            <a:off x="8624858" y="4349295"/>
            <a:ext cx="548700" cy="3543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23" name="Google Shape;423;p28"/>
          <p:cNvSpPr txBox="1"/>
          <p:nvPr/>
        </p:nvSpPr>
        <p:spPr>
          <a:xfrm>
            <a:off x="385900" y="874850"/>
            <a:ext cx="298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u="sng">
                <a:latin typeface="Times New Roman"/>
                <a:ea typeface="Times New Roman"/>
                <a:cs typeface="Times New Roman"/>
                <a:sym typeface="Times New Roman"/>
              </a:rPr>
              <a:t>Undercomplete</a:t>
            </a:r>
            <a:r>
              <a:rPr lang="en">
                <a:latin typeface="Times New Roman"/>
                <a:ea typeface="Times New Roman"/>
                <a:cs typeface="Times New Roman"/>
                <a:sym typeface="Times New Roman"/>
              </a:rPr>
              <a:t> Autoencoders</a:t>
            </a:r>
            <a:endParaRPr>
              <a:latin typeface="Times New Roman"/>
              <a:ea typeface="Times New Roman"/>
              <a:cs typeface="Times New Roman"/>
              <a:sym typeface="Times New Roman"/>
            </a:endParaRPr>
          </a:p>
        </p:txBody>
      </p:sp>
      <p:sp>
        <p:nvSpPr>
          <p:cNvPr id="424" name="Google Shape;424;p28"/>
          <p:cNvSpPr txBox="1"/>
          <p:nvPr/>
        </p:nvSpPr>
        <p:spPr>
          <a:xfrm>
            <a:off x="385900" y="1192675"/>
            <a:ext cx="8117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Times New Roman"/>
                <a:ea typeface="Times New Roman"/>
                <a:cs typeface="Times New Roman"/>
                <a:sym typeface="Times New Roman"/>
              </a:rPr>
              <a:t>An autoencoder whose code dimension(latent layer dimension) is less than the input dimension is called the undercomplete autoencoder.</a:t>
            </a:r>
            <a:endParaRPr>
              <a:latin typeface="Times New Roman"/>
              <a:ea typeface="Times New Roman"/>
              <a:cs typeface="Times New Roman"/>
              <a:sym typeface="Times New Roman"/>
            </a:endParaRPr>
          </a:p>
        </p:txBody>
      </p:sp>
      <p:sp>
        <p:nvSpPr>
          <p:cNvPr id="425" name="Google Shape;425;p28"/>
          <p:cNvSpPr txBox="1"/>
          <p:nvPr/>
        </p:nvSpPr>
        <p:spPr>
          <a:xfrm>
            <a:off x="272625" y="1808275"/>
            <a:ext cx="5493900" cy="615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Times New Roman"/>
              <a:buChar char="●"/>
            </a:pPr>
            <a:r>
              <a:rPr lang="en">
                <a:latin typeface="Times New Roman"/>
                <a:ea typeface="Times New Roman"/>
                <a:cs typeface="Times New Roman"/>
                <a:sym typeface="Times New Roman"/>
              </a:rPr>
              <a:t>Constrain h to have lower dimension than U </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
                <a:latin typeface="Times New Roman"/>
                <a:ea typeface="Times New Roman"/>
                <a:cs typeface="Times New Roman"/>
                <a:sym typeface="Times New Roman"/>
              </a:rPr>
              <a:t>Force it to capture most salient features of training data</a:t>
            </a:r>
            <a:endParaRPr>
              <a:latin typeface="Times New Roman"/>
              <a:ea typeface="Times New Roman"/>
              <a:cs typeface="Times New Roman"/>
              <a:sym typeface="Times New Roman"/>
            </a:endParaRPr>
          </a:p>
        </p:txBody>
      </p:sp>
      <p:sp>
        <p:nvSpPr>
          <p:cNvPr id="426" name="Google Shape;426;p28"/>
          <p:cNvSpPr/>
          <p:nvPr/>
        </p:nvSpPr>
        <p:spPr>
          <a:xfrm>
            <a:off x="416968" y="2878951"/>
            <a:ext cx="860400" cy="117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Times New Roman"/>
                <a:ea typeface="Times New Roman"/>
                <a:cs typeface="Times New Roman"/>
                <a:sym typeface="Times New Roman"/>
              </a:rPr>
              <a:t>Input</a:t>
            </a:r>
            <a:br>
              <a:rPr lang="en" sz="1000">
                <a:latin typeface="Times New Roman"/>
                <a:ea typeface="Times New Roman"/>
                <a:cs typeface="Times New Roman"/>
                <a:sym typeface="Times New Roman"/>
              </a:rPr>
            </a:br>
            <a:r>
              <a:rPr lang="en" sz="1000">
                <a:latin typeface="Times New Roman"/>
                <a:ea typeface="Times New Roman"/>
                <a:cs typeface="Times New Roman"/>
                <a:sym typeface="Times New Roman"/>
              </a:rPr>
              <a:t>Dynamical System</a:t>
            </a:r>
            <a:br>
              <a:rPr lang="en" sz="1000"/>
            </a:br>
            <a:r>
              <a:rPr lang="en" sz="1000"/>
              <a:t>U</a:t>
            </a:r>
            <a:endParaRPr sz="1000"/>
          </a:p>
        </p:txBody>
      </p:sp>
      <p:sp>
        <p:nvSpPr>
          <p:cNvPr id="427" name="Google Shape;427;p28"/>
          <p:cNvSpPr/>
          <p:nvPr/>
        </p:nvSpPr>
        <p:spPr>
          <a:xfrm>
            <a:off x="2572933" y="2878951"/>
            <a:ext cx="860400" cy="117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Times New Roman"/>
                <a:ea typeface="Times New Roman"/>
                <a:cs typeface="Times New Roman"/>
                <a:sym typeface="Times New Roman"/>
              </a:rPr>
              <a:t>Reduced </a:t>
            </a:r>
            <a:br>
              <a:rPr lang="en" sz="1000">
                <a:latin typeface="Times New Roman"/>
                <a:ea typeface="Times New Roman"/>
                <a:cs typeface="Times New Roman"/>
                <a:sym typeface="Times New Roman"/>
              </a:rPr>
            </a:br>
            <a:r>
              <a:rPr lang="en" sz="1000">
                <a:latin typeface="Times New Roman"/>
                <a:ea typeface="Times New Roman"/>
                <a:cs typeface="Times New Roman"/>
                <a:sym typeface="Times New Roman"/>
              </a:rPr>
              <a:t>dimensional manifold</a:t>
            </a:r>
            <a:endParaRPr sz="1000">
              <a:latin typeface="Times New Roman"/>
              <a:ea typeface="Times New Roman"/>
              <a:cs typeface="Times New Roman"/>
              <a:sym typeface="Times New Roman"/>
            </a:endParaRPr>
          </a:p>
        </p:txBody>
      </p:sp>
      <p:sp>
        <p:nvSpPr>
          <p:cNvPr id="428" name="Google Shape;428;p28"/>
          <p:cNvSpPr/>
          <p:nvPr/>
        </p:nvSpPr>
        <p:spPr>
          <a:xfrm>
            <a:off x="4820696" y="2878951"/>
            <a:ext cx="860400" cy="117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Times New Roman"/>
                <a:ea typeface="Times New Roman"/>
                <a:cs typeface="Times New Roman"/>
                <a:sym typeface="Times New Roman"/>
              </a:rPr>
              <a:t>Output</a:t>
            </a:r>
            <a:br>
              <a:rPr lang="en" sz="1000">
                <a:latin typeface="Times New Roman"/>
                <a:ea typeface="Times New Roman"/>
                <a:cs typeface="Times New Roman"/>
                <a:sym typeface="Times New Roman"/>
              </a:rPr>
            </a:br>
            <a:r>
              <a:rPr lang="en" sz="1000">
                <a:latin typeface="Times New Roman"/>
                <a:ea typeface="Times New Roman"/>
                <a:cs typeface="Times New Roman"/>
                <a:sym typeface="Times New Roman"/>
              </a:rPr>
              <a:t>Dynamical System</a:t>
            </a:r>
            <a:br>
              <a:rPr lang="en" sz="1000"/>
            </a:br>
            <a:r>
              <a:rPr lang="en" sz="1000"/>
              <a:t>U</a:t>
            </a:r>
            <a:endParaRPr sz="1000"/>
          </a:p>
        </p:txBody>
      </p:sp>
      <p:sp>
        <p:nvSpPr>
          <p:cNvPr id="429" name="Google Shape;429;p28"/>
          <p:cNvSpPr/>
          <p:nvPr/>
        </p:nvSpPr>
        <p:spPr>
          <a:xfrm>
            <a:off x="1341186" y="3431430"/>
            <a:ext cx="1094100" cy="161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8"/>
          <p:cNvSpPr/>
          <p:nvPr/>
        </p:nvSpPr>
        <p:spPr>
          <a:xfrm>
            <a:off x="3571110" y="3431430"/>
            <a:ext cx="1094100" cy="161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1" name="Google Shape;431;p28" title="[0,0,0,&quot;https://latex-staging.easygenerator.com/eqneditor/editor.php?latex=U%20%5Cin%20%5Cmathbb%7BR%7D%5Ed%20#0&quot;]"/>
          <p:cNvPicPr preferRelativeResize="0"/>
          <p:nvPr/>
        </p:nvPicPr>
        <p:blipFill>
          <a:blip r:embed="rId3">
            <a:alphaModFix/>
          </a:blip>
          <a:stretch>
            <a:fillRect/>
          </a:stretch>
        </p:blipFill>
        <p:spPr>
          <a:xfrm>
            <a:off x="572910" y="3842155"/>
            <a:ext cx="423287" cy="104691"/>
          </a:xfrm>
          <a:prstGeom prst="rect">
            <a:avLst/>
          </a:prstGeom>
          <a:noFill/>
          <a:ln>
            <a:noFill/>
          </a:ln>
        </p:spPr>
      </p:pic>
      <p:sp>
        <p:nvSpPr>
          <p:cNvPr id="432" name="Google Shape;432;p28"/>
          <p:cNvSpPr txBox="1"/>
          <p:nvPr/>
        </p:nvSpPr>
        <p:spPr>
          <a:xfrm>
            <a:off x="323575" y="4107185"/>
            <a:ext cx="10176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Ambient space</a:t>
            </a:r>
            <a:endParaRPr sz="900"/>
          </a:p>
        </p:txBody>
      </p:sp>
      <p:pic>
        <p:nvPicPr>
          <p:cNvPr id="433" name="Google Shape;433;p28" title="[0,0,0,&quot;https://latex-staging.easygenerator.com/eqneditor/editor.php?latex=h%20%5Cin%20%20%5Cmathbb%7BR%7D%5E%7Bd_M%7D#0&quot;]"/>
          <p:cNvPicPr preferRelativeResize="0"/>
          <p:nvPr/>
        </p:nvPicPr>
        <p:blipFill>
          <a:blip r:embed="rId4">
            <a:alphaModFix/>
          </a:blip>
          <a:stretch>
            <a:fillRect/>
          </a:stretch>
        </p:blipFill>
        <p:spPr>
          <a:xfrm>
            <a:off x="2747476" y="3878703"/>
            <a:ext cx="603225" cy="115333"/>
          </a:xfrm>
          <a:prstGeom prst="rect">
            <a:avLst/>
          </a:prstGeom>
          <a:noFill/>
          <a:ln>
            <a:noFill/>
          </a:ln>
        </p:spPr>
      </p:pic>
      <p:sp>
        <p:nvSpPr>
          <p:cNvPr id="434" name="Google Shape;434;p28"/>
          <p:cNvSpPr txBox="1"/>
          <p:nvPr/>
        </p:nvSpPr>
        <p:spPr>
          <a:xfrm>
            <a:off x="2467226" y="4103288"/>
            <a:ext cx="13383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Where h is the state representation in manifold coordinates  </a:t>
            </a:r>
            <a:endParaRPr sz="900"/>
          </a:p>
        </p:txBody>
      </p:sp>
      <p:pic>
        <p:nvPicPr>
          <p:cNvPr id="435" name="Google Shape;435;p28" title="[0,0,0,&quot;https://latex-staging.easygenerator.com/eqneditor/editor.php?latex=%20%20X%20%20#0&quot;]"/>
          <p:cNvPicPr preferRelativeResize="0"/>
          <p:nvPr/>
        </p:nvPicPr>
        <p:blipFill>
          <a:blip r:embed="rId5">
            <a:alphaModFix/>
          </a:blip>
          <a:stretch>
            <a:fillRect/>
          </a:stretch>
        </p:blipFill>
        <p:spPr>
          <a:xfrm>
            <a:off x="1643928" y="3668830"/>
            <a:ext cx="238921" cy="161795"/>
          </a:xfrm>
          <a:prstGeom prst="rect">
            <a:avLst/>
          </a:prstGeom>
          <a:noFill/>
          <a:ln>
            <a:noFill/>
          </a:ln>
        </p:spPr>
      </p:pic>
      <p:pic>
        <p:nvPicPr>
          <p:cNvPr id="436" name="Google Shape;436;p28"/>
          <p:cNvPicPr preferRelativeResize="0"/>
          <p:nvPr/>
        </p:nvPicPr>
        <p:blipFill>
          <a:blip r:embed="rId6">
            <a:alphaModFix/>
          </a:blip>
          <a:stretch>
            <a:fillRect/>
          </a:stretch>
        </p:blipFill>
        <p:spPr>
          <a:xfrm>
            <a:off x="3805749" y="3626002"/>
            <a:ext cx="361353" cy="21615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29"/>
          <p:cNvSpPr txBox="1"/>
          <p:nvPr/>
        </p:nvSpPr>
        <p:spPr>
          <a:xfrm>
            <a:off x="152400" y="266700"/>
            <a:ext cx="9144000" cy="534600"/>
          </a:xfrm>
          <a:prstGeom prst="rect">
            <a:avLst/>
          </a:prstGeom>
          <a:solidFill>
            <a:srgbClr val="054B3E"/>
          </a:solid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sz="2600">
                <a:solidFill>
                  <a:srgbClr val="FFFF00"/>
                </a:solidFill>
                <a:latin typeface="Oswald"/>
                <a:ea typeface="Oswald"/>
                <a:cs typeface="Oswald"/>
                <a:sym typeface="Oswald"/>
              </a:rPr>
              <a:t>Autoencoder: Simulations</a:t>
            </a:r>
            <a:endParaRPr sz="2600">
              <a:solidFill>
                <a:srgbClr val="FFFF00"/>
              </a:solidFill>
              <a:latin typeface="Oswald"/>
              <a:ea typeface="Oswald"/>
              <a:cs typeface="Oswald"/>
              <a:sym typeface="Oswald"/>
            </a:endParaRPr>
          </a:p>
        </p:txBody>
      </p:sp>
      <p:sp>
        <p:nvSpPr>
          <p:cNvPr id="442" name="Google Shape;442;p29"/>
          <p:cNvSpPr/>
          <p:nvPr/>
        </p:nvSpPr>
        <p:spPr>
          <a:xfrm>
            <a:off x="152400" y="152400"/>
            <a:ext cx="9144000" cy="1143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400">
              <a:solidFill>
                <a:srgbClr val="FFFFFF"/>
              </a:solidFill>
              <a:latin typeface="Oswald"/>
              <a:ea typeface="Oswald"/>
              <a:cs typeface="Oswald"/>
              <a:sym typeface="Oswald"/>
            </a:endParaRPr>
          </a:p>
        </p:txBody>
      </p:sp>
      <p:sp>
        <p:nvSpPr>
          <p:cNvPr id="443" name="Google Shape;443;p29"/>
          <p:cNvSpPr/>
          <p:nvPr/>
        </p:nvSpPr>
        <p:spPr>
          <a:xfrm>
            <a:off x="0" y="5067300"/>
            <a:ext cx="9144000" cy="570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444" name="Google Shape;444;p29"/>
          <p:cNvSpPr/>
          <p:nvPr/>
        </p:nvSpPr>
        <p:spPr>
          <a:xfrm>
            <a:off x="0" y="4895700"/>
            <a:ext cx="9144000" cy="171600"/>
          </a:xfrm>
          <a:prstGeom prst="rect">
            <a:avLst/>
          </a:prstGeom>
          <a:solidFill>
            <a:srgbClr val="054B3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445" name="Google Shape;445;p29"/>
          <p:cNvSpPr txBox="1"/>
          <p:nvPr/>
        </p:nvSpPr>
        <p:spPr>
          <a:xfrm>
            <a:off x="8624858" y="4349295"/>
            <a:ext cx="548700" cy="3543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46" name="Google Shape;446;p29"/>
          <p:cNvSpPr txBox="1"/>
          <p:nvPr/>
        </p:nvSpPr>
        <p:spPr>
          <a:xfrm>
            <a:off x="400250" y="992900"/>
            <a:ext cx="54111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Times New Roman"/>
                <a:ea typeface="Times New Roman"/>
                <a:cs typeface="Times New Roman"/>
                <a:sym typeface="Times New Roman"/>
              </a:rPr>
              <a:t>Data Set: </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
                <a:latin typeface="Times New Roman"/>
                <a:ea typeface="Times New Roman"/>
                <a:cs typeface="Times New Roman"/>
                <a:sym typeface="Times New Roman"/>
              </a:rPr>
              <a:t>T</a:t>
            </a:r>
            <a:r>
              <a:rPr lang="en">
                <a:latin typeface="Times New Roman"/>
                <a:ea typeface="Times New Roman"/>
                <a:cs typeface="Times New Roman"/>
                <a:sym typeface="Times New Roman"/>
              </a:rPr>
              <a:t>aken from a single trajectory of each system</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
                <a:latin typeface="Times New Roman"/>
                <a:ea typeface="Times New Roman"/>
                <a:cs typeface="Times New Roman"/>
                <a:sym typeface="Times New Roman"/>
              </a:rPr>
              <a:t>Evenly spaced points in the trajectory</a:t>
            </a:r>
            <a:endParaRPr>
              <a:latin typeface="Times New Roman"/>
              <a:ea typeface="Times New Roman"/>
              <a:cs typeface="Times New Roman"/>
              <a:sym typeface="Times New Roman"/>
            </a:endParaRPr>
          </a:p>
          <a:p>
            <a:pPr indent="0" lvl="0" marL="457200" rtl="0" algn="l">
              <a:spcBef>
                <a:spcPts val="0"/>
              </a:spcBef>
              <a:spcAft>
                <a:spcPts val="0"/>
              </a:spcAft>
              <a:buNone/>
            </a:pPr>
            <a:r>
              <a:t/>
            </a:r>
            <a:endParaRPr>
              <a:latin typeface="Times New Roman"/>
              <a:ea typeface="Times New Roman"/>
              <a:cs typeface="Times New Roman"/>
              <a:sym typeface="Times New Roman"/>
            </a:endParaRPr>
          </a:p>
        </p:txBody>
      </p:sp>
      <p:sp>
        <p:nvSpPr>
          <p:cNvPr id="447" name="Google Shape;447;p29"/>
          <p:cNvSpPr txBox="1"/>
          <p:nvPr/>
        </p:nvSpPr>
        <p:spPr>
          <a:xfrm>
            <a:off x="422200" y="2141850"/>
            <a:ext cx="83409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Times New Roman"/>
                <a:ea typeface="Times New Roman"/>
                <a:cs typeface="Times New Roman"/>
                <a:sym typeface="Times New Roman"/>
              </a:rPr>
              <a:t>Inputs of NN:</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
                <a:latin typeface="Times New Roman"/>
                <a:ea typeface="Times New Roman"/>
                <a:cs typeface="Times New Roman"/>
                <a:sym typeface="Times New Roman"/>
              </a:rPr>
              <a:t>Considered all state variables  of  each  data point</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
                <a:latin typeface="Times New Roman"/>
                <a:ea typeface="Times New Roman"/>
                <a:cs typeface="Times New Roman"/>
                <a:sym typeface="Times New Roman"/>
              </a:rPr>
              <a:t>Data points are randomly selected from data set</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
                <a:latin typeface="Times New Roman"/>
                <a:ea typeface="Times New Roman"/>
                <a:cs typeface="Times New Roman"/>
                <a:sym typeface="Times New Roman"/>
              </a:rPr>
              <a:t>Training set : 70% data set</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
                <a:latin typeface="Times New Roman"/>
                <a:ea typeface="Times New Roman"/>
                <a:cs typeface="Times New Roman"/>
                <a:sym typeface="Times New Roman"/>
              </a:rPr>
              <a:t>Validation set: 15% data set</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
                <a:latin typeface="Times New Roman"/>
                <a:ea typeface="Times New Roman"/>
                <a:cs typeface="Times New Roman"/>
                <a:sym typeface="Times New Roman"/>
              </a:rPr>
              <a:t>Test set : 15% data set</a:t>
            </a:r>
            <a:endParaRPr>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30"/>
          <p:cNvSpPr txBox="1"/>
          <p:nvPr/>
        </p:nvSpPr>
        <p:spPr>
          <a:xfrm>
            <a:off x="152400" y="266700"/>
            <a:ext cx="9144000" cy="534600"/>
          </a:xfrm>
          <a:prstGeom prst="rect">
            <a:avLst/>
          </a:prstGeom>
          <a:solidFill>
            <a:srgbClr val="054B3E"/>
          </a:solid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sz="2600">
                <a:solidFill>
                  <a:srgbClr val="FFFF00"/>
                </a:solidFill>
                <a:latin typeface="Oswald"/>
                <a:ea typeface="Oswald"/>
                <a:cs typeface="Oswald"/>
                <a:sym typeface="Oswald"/>
              </a:rPr>
              <a:t>Autoencoder: Circle</a:t>
            </a:r>
            <a:endParaRPr sz="2600">
              <a:solidFill>
                <a:srgbClr val="FFFF00"/>
              </a:solidFill>
              <a:latin typeface="Oswald"/>
              <a:ea typeface="Oswald"/>
              <a:cs typeface="Oswald"/>
              <a:sym typeface="Oswald"/>
            </a:endParaRPr>
          </a:p>
        </p:txBody>
      </p:sp>
      <p:sp>
        <p:nvSpPr>
          <p:cNvPr id="453" name="Google Shape;453;p30"/>
          <p:cNvSpPr/>
          <p:nvPr/>
        </p:nvSpPr>
        <p:spPr>
          <a:xfrm>
            <a:off x="152400" y="152400"/>
            <a:ext cx="9144000" cy="1143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400">
              <a:solidFill>
                <a:srgbClr val="FFFFFF"/>
              </a:solidFill>
              <a:latin typeface="Oswald"/>
              <a:ea typeface="Oswald"/>
              <a:cs typeface="Oswald"/>
              <a:sym typeface="Oswald"/>
            </a:endParaRPr>
          </a:p>
        </p:txBody>
      </p:sp>
      <p:sp>
        <p:nvSpPr>
          <p:cNvPr id="454" name="Google Shape;454;p30"/>
          <p:cNvSpPr/>
          <p:nvPr/>
        </p:nvSpPr>
        <p:spPr>
          <a:xfrm>
            <a:off x="0" y="5067300"/>
            <a:ext cx="9144000" cy="570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455" name="Google Shape;455;p30"/>
          <p:cNvSpPr/>
          <p:nvPr/>
        </p:nvSpPr>
        <p:spPr>
          <a:xfrm>
            <a:off x="0" y="4895700"/>
            <a:ext cx="9144000" cy="171600"/>
          </a:xfrm>
          <a:prstGeom prst="rect">
            <a:avLst/>
          </a:prstGeom>
          <a:solidFill>
            <a:srgbClr val="054B3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456" name="Google Shape;456;p30"/>
          <p:cNvSpPr txBox="1"/>
          <p:nvPr/>
        </p:nvSpPr>
        <p:spPr>
          <a:xfrm>
            <a:off x="8624858" y="4349295"/>
            <a:ext cx="548700" cy="3543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pic>
        <p:nvPicPr>
          <p:cNvPr id="457" name="Google Shape;457;p30"/>
          <p:cNvPicPr preferRelativeResize="0"/>
          <p:nvPr/>
        </p:nvPicPr>
        <p:blipFill>
          <a:blip r:embed="rId3">
            <a:alphaModFix/>
          </a:blip>
          <a:stretch>
            <a:fillRect/>
          </a:stretch>
        </p:blipFill>
        <p:spPr>
          <a:xfrm>
            <a:off x="152400" y="871525"/>
            <a:ext cx="1341409" cy="1172975"/>
          </a:xfrm>
          <a:prstGeom prst="rect">
            <a:avLst/>
          </a:prstGeom>
          <a:noFill/>
          <a:ln>
            <a:noFill/>
          </a:ln>
        </p:spPr>
      </p:pic>
      <p:sp>
        <p:nvSpPr>
          <p:cNvPr id="458" name="Google Shape;458;p30"/>
          <p:cNvSpPr txBox="1"/>
          <p:nvPr/>
        </p:nvSpPr>
        <p:spPr>
          <a:xfrm>
            <a:off x="6007475" y="333900"/>
            <a:ext cx="1447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FF00"/>
                </a:solidFill>
              </a:rPr>
              <a:t>2D → 1D → 2D</a:t>
            </a:r>
            <a:endParaRPr>
              <a:solidFill>
                <a:srgbClr val="FFFF00"/>
              </a:solidFill>
            </a:endParaRPr>
          </a:p>
        </p:txBody>
      </p:sp>
      <p:pic>
        <p:nvPicPr>
          <p:cNvPr id="459" name="Google Shape;459;p30"/>
          <p:cNvPicPr preferRelativeResize="0"/>
          <p:nvPr/>
        </p:nvPicPr>
        <p:blipFill>
          <a:blip r:embed="rId4">
            <a:alphaModFix/>
          </a:blip>
          <a:stretch>
            <a:fillRect/>
          </a:stretch>
        </p:blipFill>
        <p:spPr>
          <a:xfrm>
            <a:off x="5070511" y="1005900"/>
            <a:ext cx="3787640" cy="3597200"/>
          </a:xfrm>
          <a:prstGeom prst="rect">
            <a:avLst/>
          </a:prstGeom>
          <a:noFill/>
          <a:ln>
            <a:noFill/>
          </a:ln>
        </p:spPr>
      </p:pic>
      <p:pic>
        <p:nvPicPr>
          <p:cNvPr id="460" name="Google Shape;460;p30"/>
          <p:cNvPicPr preferRelativeResize="0"/>
          <p:nvPr/>
        </p:nvPicPr>
        <p:blipFill>
          <a:blip r:embed="rId5">
            <a:alphaModFix/>
          </a:blip>
          <a:stretch>
            <a:fillRect/>
          </a:stretch>
        </p:blipFill>
        <p:spPr>
          <a:xfrm>
            <a:off x="152400" y="1946600"/>
            <a:ext cx="4557676" cy="3011325"/>
          </a:xfrm>
          <a:prstGeom prst="rect">
            <a:avLst/>
          </a:prstGeom>
          <a:noFill/>
          <a:ln>
            <a:noFill/>
          </a:ln>
        </p:spPr>
      </p:pic>
      <p:pic>
        <p:nvPicPr>
          <p:cNvPr id="461" name="Google Shape;461;p30" title="[0,0,0,&quot;https://www.codecogs.com/eqnedit.php?latex=x%3Dr%20%5Ccos(%5Ctheta)#0&quot;]"/>
          <p:cNvPicPr preferRelativeResize="0"/>
          <p:nvPr/>
        </p:nvPicPr>
        <p:blipFill>
          <a:blip r:embed="rId6">
            <a:alphaModFix/>
          </a:blip>
          <a:stretch>
            <a:fillRect/>
          </a:stretch>
        </p:blipFill>
        <p:spPr>
          <a:xfrm>
            <a:off x="1493800" y="958798"/>
            <a:ext cx="1125600" cy="233493"/>
          </a:xfrm>
          <a:prstGeom prst="rect">
            <a:avLst/>
          </a:prstGeom>
          <a:noFill/>
          <a:ln>
            <a:noFill/>
          </a:ln>
        </p:spPr>
      </p:pic>
      <p:pic>
        <p:nvPicPr>
          <p:cNvPr id="462" name="Google Shape;462;p30" title="[0,0,0,&quot;https://www.codecogs.com/eqnedit.php?latex=y%3Dr%20%5Csin(%5Ctheta)#0&quot;]"/>
          <p:cNvPicPr preferRelativeResize="0"/>
          <p:nvPr/>
        </p:nvPicPr>
        <p:blipFill>
          <a:blip r:embed="rId7">
            <a:alphaModFix/>
          </a:blip>
          <a:stretch>
            <a:fillRect/>
          </a:stretch>
        </p:blipFill>
        <p:spPr>
          <a:xfrm>
            <a:off x="1510150" y="1226093"/>
            <a:ext cx="1092911" cy="233493"/>
          </a:xfrm>
          <a:prstGeom prst="rect">
            <a:avLst/>
          </a:prstGeom>
          <a:noFill/>
          <a:ln>
            <a:noFill/>
          </a:ln>
        </p:spPr>
      </p:pic>
      <p:pic>
        <p:nvPicPr>
          <p:cNvPr id="463" name="Google Shape;463;p30" title="[0,0,0,&quot;https://latex-staging.easygenerator.com/eqneditor/editor.php?latex=%5Ctheta%3D%5Carctan(%5Cfrac%7By%7D%7Bx%7D)#0&quot;]"/>
          <p:cNvPicPr preferRelativeResize="0"/>
          <p:nvPr/>
        </p:nvPicPr>
        <p:blipFill>
          <a:blip r:embed="rId8">
            <a:alphaModFix/>
          </a:blip>
          <a:stretch>
            <a:fillRect/>
          </a:stretch>
        </p:blipFill>
        <p:spPr>
          <a:xfrm>
            <a:off x="3384875" y="1048982"/>
            <a:ext cx="1092900" cy="334182"/>
          </a:xfrm>
          <a:prstGeom prst="rect">
            <a:avLst/>
          </a:prstGeom>
          <a:noFill/>
          <a:ln>
            <a:noFill/>
          </a:ln>
        </p:spPr>
      </p:pic>
      <p:sp>
        <p:nvSpPr>
          <p:cNvPr id="464" name="Google Shape;464;p30"/>
          <p:cNvSpPr/>
          <p:nvPr/>
        </p:nvSpPr>
        <p:spPr>
          <a:xfrm>
            <a:off x="2758400" y="1140700"/>
            <a:ext cx="487500" cy="114300"/>
          </a:xfrm>
          <a:prstGeom prst="lef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0"/>
                                        </p:tgtEl>
                                        <p:attrNameLst>
                                          <p:attrName>style.visibility</p:attrName>
                                        </p:attrNameLst>
                                      </p:cBhvr>
                                      <p:to>
                                        <p:strVal val="visible"/>
                                      </p:to>
                                    </p:set>
                                    <p:animEffect filter="fade" transition="in">
                                      <p:cBhvr>
                                        <p:cTn dur="1000"/>
                                        <p:tgtEl>
                                          <p:spTgt spid="4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31"/>
          <p:cNvSpPr txBox="1"/>
          <p:nvPr/>
        </p:nvSpPr>
        <p:spPr>
          <a:xfrm>
            <a:off x="152400" y="266700"/>
            <a:ext cx="9144000" cy="534600"/>
          </a:xfrm>
          <a:prstGeom prst="rect">
            <a:avLst/>
          </a:prstGeom>
          <a:solidFill>
            <a:srgbClr val="054B3E"/>
          </a:solid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sz="2600">
                <a:solidFill>
                  <a:srgbClr val="FFFF00"/>
                </a:solidFill>
                <a:latin typeface="Oswald"/>
                <a:ea typeface="Oswald"/>
                <a:cs typeface="Oswald"/>
                <a:sym typeface="Oswald"/>
              </a:rPr>
              <a:t>Autoencoder: Circle</a:t>
            </a:r>
            <a:endParaRPr sz="2600">
              <a:solidFill>
                <a:srgbClr val="FFFF00"/>
              </a:solidFill>
              <a:latin typeface="Oswald"/>
              <a:ea typeface="Oswald"/>
              <a:cs typeface="Oswald"/>
              <a:sym typeface="Oswald"/>
            </a:endParaRPr>
          </a:p>
        </p:txBody>
      </p:sp>
      <p:sp>
        <p:nvSpPr>
          <p:cNvPr id="470" name="Google Shape;470;p31"/>
          <p:cNvSpPr/>
          <p:nvPr/>
        </p:nvSpPr>
        <p:spPr>
          <a:xfrm>
            <a:off x="152400" y="152400"/>
            <a:ext cx="9144000" cy="1143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400">
              <a:solidFill>
                <a:srgbClr val="FFFFFF"/>
              </a:solidFill>
              <a:latin typeface="Oswald"/>
              <a:ea typeface="Oswald"/>
              <a:cs typeface="Oswald"/>
              <a:sym typeface="Oswald"/>
            </a:endParaRPr>
          </a:p>
        </p:txBody>
      </p:sp>
      <p:sp>
        <p:nvSpPr>
          <p:cNvPr id="471" name="Google Shape;471;p31"/>
          <p:cNvSpPr/>
          <p:nvPr/>
        </p:nvSpPr>
        <p:spPr>
          <a:xfrm>
            <a:off x="152400" y="5067300"/>
            <a:ext cx="9144000" cy="570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472" name="Google Shape;472;p31"/>
          <p:cNvSpPr/>
          <p:nvPr/>
        </p:nvSpPr>
        <p:spPr>
          <a:xfrm>
            <a:off x="29550" y="4952700"/>
            <a:ext cx="9144000" cy="171600"/>
          </a:xfrm>
          <a:prstGeom prst="rect">
            <a:avLst/>
          </a:prstGeom>
          <a:solidFill>
            <a:srgbClr val="054B3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473" name="Google Shape;473;p31"/>
          <p:cNvSpPr txBox="1"/>
          <p:nvPr/>
        </p:nvSpPr>
        <p:spPr>
          <a:xfrm>
            <a:off x="8624858" y="4349295"/>
            <a:ext cx="548700" cy="3543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pic>
        <p:nvPicPr>
          <p:cNvPr id="474" name="Google Shape;474;p31"/>
          <p:cNvPicPr preferRelativeResize="0"/>
          <p:nvPr/>
        </p:nvPicPr>
        <p:blipFill>
          <a:blip r:embed="rId3">
            <a:alphaModFix/>
          </a:blip>
          <a:stretch>
            <a:fillRect/>
          </a:stretch>
        </p:blipFill>
        <p:spPr>
          <a:xfrm>
            <a:off x="152400" y="871525"/>
            <a:ext cx="1167125" cy="1020575"/>
          </a:xfrm>
          <a:prstGeom prst="rect">
            <a:avLst/>
          </a:prstGeom>
          <a:noFill/>
          <a:ln>
            <a:noFill/>
          </a:ln>
        </p:spPr>
      </p:pic>
      <p:pic>
        <p:nvPicPr>
          <p:cNvPr id="475" name="Google Shape;475;p31" title="[0,0,0,&quot;https://www.codecogs.com/eqnedit.php?latex=y%3Dr%20%5Csin(%5Ctheta)#0&quot;]"/>
          <p:cNvPicPr preferRelativeResize="0"/>
          <p:nvPr/>
        </p:nvPicPr>
        <p:blipFill>
          <a:blip r:embed="rId4">
            <a:alphaModFix/>
          </a:blip>
          <a:stretch>
            <a:fillRect/>
          </a:stretch>
        </p:blipFill>
        <p:spPr>
          <a:xfrm>
            <a:off x="1319525" y="1254806"/>
            <a:ext cx="1092911" cy="233493"/>
          </a:xfrm>
          <a:prstGeom prst="rect">
            <a:avLst/>
          </a:prstGeom>
          <a:noFill/>
          <a:ln>
            <a:noFill/>
          </a:ln>
        </p:spPr>
      </p:pic>
      <p:pic>
        <p:nvPicPr>
          <p:cNvPr id="476" name="Google Shape;476;p31" title="[0,0,0,&quot;https://www.codecogs.com/eqnedit.php?latex=x%3Dr%20%5Ccos(%5Ctheta)#0&quot;]"/>
          <p:cNvPicPr preferRelativeResize="0"/>
          <p:nvPr/>
        </p:nvPicPr>
        <p:blipFill>
          <a:blip r:embed="rId5">
            <a:alphaModFix/>
          </a:blip>
          <a:stretch>
            <a:fillRect/>
          </a:stretch>
        </p:blipFill>
        <p:spPr>
          <a:xfrm>
            <a:off x="1319525" y="953698"/>
            <a:ext cx="1125600" cy="233493"/>
          </a:xfrm>
          <a:prstGeom prst="rect">
            <a:avLst/>
          </a:prstGeom>
          <a:noFill/>
          <a:ln>
            <a:noFill/>
          </a:ln>
        </p:spPr>
      </p:pic>
      <p:pic>
        <p:nvPicPr>
          <p:cNvPr id="477" name="Google Shape;477;p31" title="[0,0,0,&quot;https://latex-staging.easygenerator.com/eqneditor/editor.php?latex=%5Ctheta%3D%5Carctan(%5Cfrac%7By%7D%7Bx%7D)#0&quot;]"/>
          <p:cNvPicPr preferRelativeResize="0"/>
          <p:nvPr/>
        </p:nvPicPr>
        <p:blipFill>
          <a:blip r:embed="rId6">
            <a:alphaModFix/>
          </a:blip>
          <a:stretch>
            <a:fillRect/>
          </a:stretch>
        </p:blipFill>
        <p:spPr>
          <a:xfrm>
            <a:off x="3810050" y="4453200"/>
            <a:ext cx="1092900" cy="335540"/>
          </a:xfrm>
          <a:prstGeom prst="rect">
            <a:avLst/>
          </a:prstGeom>
          <a:noFill/>
          <a:ln>
            <a:noFill/>
          </a:ln>
        </p:spPr>
      </p:pic>
      <p:pic>
        <p:nvPicPr>
          <p:cNvPr id="478" name="Google Shape;478;p31"/>
          <p:cNvPicPr preferRelativeResize="0"/>
          <p:nvPr/>
        </p:nvPicPr>
        <p:blipFill>
          <a:blip r:embed="rId7">
            <a:alphaModFix/>
          </a:blip>
          <a:stretch>
            <a:fillRect/>
          </a:stretch>
        </p:blipFill>
        <p:spPr>
          <a:xfrm>
            <a:off x="3062100" y="2714563"/>
            <a:ext cx="2509550" cy="1738325"/>
          </a:xfrm>
          <a:prstGeom prst="rect">
            <a:avLst/>
          </a:prstGeom>
          <a:noFill/>
          <a:ln>
            <a:noFill/>
          </a:ln>
        </p:spPr>
      </p:pic>
      <p:sp>
        <p:nvSpPr>
          <p:cNvPr id="479" name="Google Shape;479;p31"/>
          <p:cNvSpPr txBox="1"/>
          <p:nvPr/>
        </p:nvSpPr>
        <p:spPr>
          <a:xfrm>
            <a:off x="6007475" y="333900"/>
            <a:ext cx="1447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FF00"/>
                </a:solidFill>
              </a:rPr>
              <a:t>2D → 1D → 2D</a:t>
            </a:r>
            <a:endParaRPr>
              <a:solidFill>
                <a:srgbClr val="FFFF00"/>
              </a:solidFill>
            </a:endParaRPr>
          </a:p>
        </p:txBody>
      </p:sp>
      <p:sp>
        <p:nvSpPr>
          <p:cNvPr id="480" name="Google Shape;480;p31"/>
          <p:cNvSpPr/>
          <p:nvPr/>
        </p:nvSpPr>
        <p:spPr>
          <a:xfrm>
            <a:off x="2726100" y="3473025"/>
            <a:ext cx="336000" cy="221400"/>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0000"/>
              </a:solidFill>
            </a:endParaRPr>
          </a:p>
        </p:txBody>
      </p:sp>
      <p:sp>
        <p:nvSpPr>
          <p:cNvPr id="481" name="Google Shape;481;p31"/>
          <p:cNvSpPr/>
          <p:nvPr/>
        </p:nvSpPr>
        <p:spPr>
          <a:xfrm>
            <a:off x="5689000" y="3473025"/>
            <a:ext cx="336000" cy="221400"/>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0000"/>
              </a:solidFill>
            </a:endParaRPr>
          </a:p>
        </p:txBody>
      </p:sp>
      <p:pic>
        <p:nvPicPr>
          <p:cNvPr id="482" name="Google Shape;482;p31"/>
          <p:cNvPicPr preferRelativeResize="0"/>
          <p:nvPr/>
        </p:nvPicPr>
        <p:blipFill>
          <a:blip r:embed="rId8">
            <a:alphaModFix/>
          </a:blip>
          <a:stretch>
            <a:fillRect/>
          </a:stretch>
        </p:blipFill>
        <p:spPr>
          <a:xfrm>
            <a:off x="6052150" y="2615525"/>
            <a:ext cx="2835500" cy="2173225"/>
          </a:xfrm>
          <a:prstGeom prst="rect">
            <a:avLst/>
          </a:prstGeom>
          <a:noFill/>
          <a:ln>
            <a:noFill/>
          </a:ln>
        </p:spPr>
      </p:pic>
      <p:pic>
        <p:nvPicPr>
          <p:cNvPr id="483" name="Google Shape;483;p31"/>
          <p:cNvPicPr preferRelativeResize="0"/>
          <p:nvPr/>
        </p:nvPicPr>
        <p:blipFill>
          <a:blip r:embed="rId9">
            <a:alphaModFix/>
          </a:blip>
          <a:stretch>
            <a:fillRect/>
          </a:stretch>
        </p:blipFill>
        <p:spPr>
          <a:xfrm>
            <a:off x="70375" y="2615525"/>
            <a:ext cx="2538382" cy="2173225"/>
          </a:xfrm>
          <a:prstGeom prst="rect">
            <a:avLst/>
          </a:prstGeom>
          <a:noFill/>
          <a:ln>
            <a:noFill/>
          </a:ln>
        </p:spPr>
      </p:pic>
      <p:sp>
        <p:nvSpPr>
          <p:cNvPr id="484" name="Google Shape;484;p31"/>
          <p:cNvSpPr txBox="1"/>
          <p:nvPr/>
        </p:nvSpPr>
        <p:spPr>
          <a:xfrm>
            <a:off x="6179900" y="871525"/>
            <a:ext cx="27804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Times New Roman"/>
                <a:ea typeface="Times New Roman"/>
                <a:cs typeface="Times New Roman"/>
                <a:sym typeface="Times New Roman"/>
              </a:rPr>
              <a:t>Data set : 10000 points</a:t>
            </a:r>
            <a:endParaRPr sz="1000">
              <a:latin typeface="Times New Roman"/>
              <a:ea typeface="Times New Roman"/>
              <a:cs typeface="Times New Roman"/>
              <a:sym typeface="Times New Roman"/>
            </a:endParaRPr>
          </a:p>
          <a:p>
            <a:pPr indent="0" lvl="0" marL="0" rtl="0" algn="l">
              <a:spcBef>
                <a:spcPts val="0"/>
              </a:spcBef>
              <a:spcAft>
                <a:spcPts val="0"/>
              </a:spcAft>
              <a:buNone/>
            </a:pPr>
            <a:r>
              <a:rPr lang="en" sz="1000">
                <a:latin typeface="Times New Roman"/>
                <a:ea typeface="Times New Roman"/>
                <a:cs typeface="Times New Roman"/>
                <a:sym typeface="Times New Roman"/>
              </a:rPr>
              <a:t>Loss function : Mean Square Error</a:t>
            </a:r>
            <a:endParaRPr sz="1000">
              <a:latin typeface="Times New Roman"/>
              <a:ea typeface="Times New Roman"/>
              <a:cs typeface="Times New Roman"/>
              <a:sym typeface="Times New Roman"/>
            </a:endParaRPr>
          </a:p>
          <a:p>
            <a:pPr indent="0" lvl="0" marL="0" rtl="0" algn="l">
              <a:spcBef>
                <a:spcPts val="0"/>
              </a:spcBef>
              <a:spcAft>
                <a:spcPts val="0"/>
              </a:spcAft>
              <a:buNone/>
            </a:pPr>
            <a:r>
              <a:rPr lang="en" sz="1000">
                <a:latin typeface="Times New Roman"/>
                <a:ea typeface="Times New Roman"/>
                <a:cs typeface="Times New Roman"/>
                <a:sym typeface="Times New Roman"/>
              </a:rPr>
              <a:t>Optimizer: Adam</a:t>
            </a:r>
            <a:endParaRPr sz="10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0"/>
                                        </p:tgtEl>
                                        <p:attrNameLst>
                                          <p:attrName>style.visibility</p:attrName>
                                        </p:attrNameLst>
                                      </p:cBhvr>
                                      <p:to>
                                        <p:strVal val="visible"/>
                                      </p:to>
                                    </p:set>
                                    <p:animEffect filter="fade" transition="in">
                                      <p:cBhvr>
                                        <p:cTn dur="1000"/>
                                        <p:tgtEl>
                                          <p:spTgt spid="480"/>
                                        </p:tgtEl>
                                      </p:cBhvr>
                                    </p:animEffect>
                                  </p:childTnLst>
                                </p:cTn>
                              </p:par>
                              <p:par>
                                <p:cTn fill="hold" nodeType="withEffect" presetClass="entr" presetID="10" presetSubtype="0">
                                  <p:stCondLst>
                                    <p:cond delay="0"/>
                                  </p:stCondLst>
                                  <p:childTnLst>
                                    <p:set>
                                      <p:cBhvr>
                                        <p:cTn dur="1" fill="hold">
                                          <p:stCondLst>
                                            <p:cond delay="0"/>
                                          </p:stCondLst>
                                        </p:cTn>
                                        <p:tgtEl>
                                          <p:spTgt spid="478"/>
                                        </p:tgtEl>
                                        <p:attrNameLst>
                                          <p:attrName>style.visibility</p:attrName>
                                        </p:attrNameLst>
                                      </p:cBhvr>
                                      <p:to>
                                        <p:strVal val="visible"/>
                                      </p:to>
                                    </p:set>
                                    <p:animEffect filter="fade" transition="in">
                                      <p:cBhvr>
                                        <p:cTn dur="1000"/>
                                        <p:tgtEl>
                                          <p:spTgt spid="4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
                                        </p:tgtEl>
                                        <p:attrNameLst>
                                          <p:attrName>style.visibility</p:attrName>
                                        </p:attrNameLst>
                                      </p:cBhvr>
                                      <p:to>
                                        <p:strVal val="visible"/>
                                      </p:to>
                                    </p:set>
                                    <p:animEffect filter="fade" transition="in">
                                      <p:cBhvr>
                                        <p:cTn dur="1000"/>
                                        <p:tgtEl>
                                          <p:spTgt spid="481"/>
                                        </p:tgtEl>
                                      </p:cBhvr>
                                    </p:animEffect>
                                  </p:childTnLst>
                                </p:cTn>
                              </p:par>
                              <p:par>
                                <p:cTn fill="hold" nodeType="withEffect" presetClass="entr" presetID="10" presetSubtype="0">
                                  <p:stCondLst>
                                    <p:cond delay="0"/>
                                  </p:stCondLst>
                                  <p:childTnLst>
                                    <p:set>
                                      <p:cBhvr>
                                        <p:cTn dur="1" fill="hold">
                                          <p:stCondLst>
                                            <p:cond delay="0"/>
                                          </p:stCondLst>
                                        </p:cTn>
                                        <p:tgtEl>
                                          <p:spTgt spid="482"/>
                                        </p:tgtEl>
                                        <p:attrNameLst>
                                          <p:attrName>style.visibility</p:attrName>
                                        </p:attrNameLst>
                                      </p:cBhvr>
                                      <p:to>
                                        <p:strVal val="visible"/>
                                      </p:to>
                                    </p:set>
                                    <p:animEffect filter="fade" transition="in">
                                      <p:cBhvr>
                                        <p:cTn dur="1000"/>
                                        <p:tgtEl>
                                          <p:spTgt spid="4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88" name="Shape 488"/>
        <p:cNvGrpSpPr/>
        <p:nvPr/>
      </p:nvGrpSpPr>
      <p:grpSpPr>
        <a:xfrm>
          <a:off x="0" y="0"/>
          <a:ext cx="0" cy="0"/>
          <a:chOff x="0" y="0"/>
          <a:chExt cx="0" cy="0"/>
        </a:xfrm>
      </p:grpSpPr>
      <p:sp>
        <p:nvSpPr>
          <p:cNvPr id="489" name="Google Shape;489;p32"/>
          <p:cNvSpPr txBox="1"/>
          <p:nvPr/>
        </p:nvSpPr>
        <p:spPr>
          <a:xfrm>
            <a:off x="152400" y="266700"/>
            <a:ext cx="9144000" cy="534600"/>
          </a:xfrm>
          <a:prstGeom prst="rect">
            <a:avLst/>
          </a:prstGeom>
          <a:solidFill>
            <a:srgbClr val="054B3E"/>
          </a:solid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sz="2600">
                <a:solidFill>
                  <a:srgbClr val="FFFF00"/>
                </a:solidFill>
                <a:latin typeface="Oswald"/>
                <a:ea typeface="Oswald"/>
                <a:cs typeface="Oswald"/>
                <a:sym typeface="Oswald"/>
              </a:rPr>
              <a:t>Autoencoder:  Trefoil Knot</a:t>
            </a:r>
            <a:endParaRPr sz="2600">
              <a:solidFill>
                <a:srgbClr val="FFFF00"/>
              </a:solidFill>
              <a:latin typeface="Oswald"/>
              <a:ea typeface="Oswald"/>
              <a:cs typeface="Oswald"/>
              <a:sym typeface="Oswald"/>
            </a:endParaRPr>
          </a:p>
        </p:txBody>
      </p:sp>
      <p:sp>
        <p:nvSpPr>
          <p:cNvPr id="490" name="Google Shape;490;p32"/>
          <p:cNvSpPr/>
          <p:nvPr/>
        </p:nvSpPr>
        <p:spPr>
          <a:xfrm>
            <a:off x="152400" y="152400"/>
            <a:ext cx="9144000" cy="1143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400">
              <a:solidFill>
                <a:srgbClr val="FFFFFF"/>
              </a:solidFill>
              <a:latin typeface="Oswald"/>
              <a:ea typeface="Oswald"/>
              <a:cs typeface="Oswald"/>
              <a:sym typeface="Oswald"/>
            </a:endParaRPr>
          </a:p>
        </p:txBody>
      </p:sp>
      <p:sp>
        <p:nvSpPr>
          <p:cNvPr id="491" name="Google Shape;491;p32"/>
          <p:cNvSpPr/>
          <p:nvPr/>
        </p:nvSpPr>
        <p:spPr>
          <a:xfrm>
            <a:off x="0" y="5067300"/>
            <a:ext cx="9144000" cy="570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492" name="Google Shape;492;p32"/>
          <p:cNvSpPr/>
          <p:nvPr/>
        </p:nvSpPr>
        <p:spPr>
          <a:xfrm>
            <a:off x="0" y="4895700"/>
            <a:ext cx="9144000" cy="171600"/>
          </a:xfrm>
          <a:prstGeom prst="rect">
            <a:avLst/>
          </a:prstGeom>
          <a:solidFill>
            <a:srgbClr val="054B3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493" name="Google Shape;493;p32"/>
          <p:cNvSpPr txBox="1"/>
          <p:nvPr/>
        </p:nvSpPr>
        <p:spPr>
          <a:xfrm>
            <a:off x="8624858" y="4349295"/>
            <a:ext cx="548700" cy="3543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94" name="Google Shape;494;p32"/>
          <p:cNvSpPr txBox="1"/>
          <p:nvPr/>
        </p:nvSpPr>
        <p:spPr>
          <a:xfrm>
            <a:off x="1554900" y="906150"/>
            <a:ext cx="27804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Times New Roman"/>
                <a:ea typeface="Times New Roman"/>
                <a:cs typeface="Times New Roman"/>
                <a:sym typeface="Times New Roman"/>
              </a:rPr>
              <a:t>Data set : 10000 points</a:t>
            </a:r>
            <a:endParaRPr sz="1000">
              <a:latin typeface="Times New Roman"/>
              <a:ea typeface="Times New Roman"/>
              <a:cs typeface="Times New Roman"/>
              <a:sym typeface="Times New Roman"/>
            </a:endParaRPr>
          </a:p>
          <a:p>
            <a:pPr indent="0" lvl="0" marL="0" rtl="0" algn="l">
              <a:spcBef>
                <a:spcPts val="0"/>
              </a:spcBef>
              <a:spcAft>
                <a:spcPts val="0"/>
              </a:spcAft>
              <a:buNone/>
            </a:pPr>
            <a:r>
              <a:rPr lang="en" sz="1000">
                <a:latin typeface="Times New Roman"/>
                <a:ea typeface="Times New Roman"/>
                <a:cs typeface="Times New Roman"/>
                <a:sym typeface="Times New Roman"/>
              </a:rPr>
              <a:t>Loss function : Mean Square Error</a:t>
            </a:r>
            <a:endParaRPr sz="1000">
              <a:latin typeface="Times New Roman"/>
              <a:ea typeface="Times New Roman"/>
              <a:cs typeface="Times New Roman"/>
              <a:sym typeface="Times New Roman"/>
            </a:endParaRPr>
          </a:p>
          <a:p>
            <a:pPr indent="0" lvl="0" marL="0" rtl="0" algn="l">
              <a:spcBef>
                <a:spcPts val="0"/>
              </a:spcBef>
              <a:spcAft>
                <a:spcPts val="0"/>
              </a:spcAft>
              <a:buNone/>
            </a:pPr>
            <a:r>
              <a:rPr lang="en" sz="1000">
                <a:latin typeface="Times New Roman"/>
                <a:ea typeface="Times New Roman"/>
                <a:cs typeface="Times New Roman"/>
                <a:sym typeface="Times New Roman"/>
              </a:rPr>
              <a:t>Optimizer: Adam</a:t>
            </a:r>
            <a:endParaRPr sz="1000">
              <a:latin typeface="Times New Roman"/>
              <a:ea typeface="Times New Roman"/>
              <a:cs typeface="Times New Roman"/>
              <a:sym typeface="Times New Roman"/>
            </a:endParaRPr>
          </a:p>
        </p:txBody>
      </p:sp>
      <p:sp>
        <p:nvSpPr>
          <p:cNvPr id="495" name="Google Shape;495;p32"/>
          <p:cNvSpPr txBox="1"/>
          <p:nvPr/>
        </p:nvSpPr>
        <p:spPr>
          <a:xfrm>
            <a:off x="6315475" y="333900"/>
            <a:ext cx="1447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FF00"/>
                </a:solidFill>
              </a:rPr>
              <a:t>3D → 2D → 3D</a:t>
            </a:r>
            <a:endParaRPr>
              <a:solidFill>
                <a:srgbClr val="FFFF00"/>
              </a:solidFill>
            </a:endParaRPr>
          </a:p>
        </p:txBody>
      </p:sp>
      <p:pic>
        <p:nvPicPr>
          <p:cNvPr id="496" name="Google Shape;496;p32"/>
          <p:cNvPicPr preferRelativeResize="0"/>
          <p:nvPr/>
        </p:nvPicPr>
        <p:blipFill rotWithShape="1">
          <a:blip r:embed="rId3">
            <a:alphaModFix/>
          </a:blip>
          <a:srcRect b="-9155" l="16328" r="1865" t="3914"/>
          <a:stretch/>
        </p:blipFill>
        <p:spPr>
          <a:xfrm>
            <a:off x="152400" y="853500"/>
            <a:ext cx="1187592" cy="979050"/>
          </a:xfrm>
          <a:prstGeom prst="rect">
            <a:avLst/>
          </a:prstGeom>
          <a:noFill/>
          <a:ln>
            <a:noFill/>
          </a:ln>
        </p:spPr>
      </p:pic>
      <p:pic>
        <p:nvPicPr>
          <p:cNvPr id="497" name="Google Shape;497;p32"/>
          <p:cNvPicPr preferRelativeResize="0"/>
          <p:nvPr/>
        </p:nvPicPr>
        <p:blipFill>
          <a:blip r:embed="rId4">
            <a:alphaModFix/>
          </a:blip>
          <a:stretch>
            <a:fillRect/>
          </a:stretch>
        </p:blipFill>
        <p:spPr>
          <a:xfrm>
            <a:off x="4915225" y="977837"/>
            <a:ext cx="4051420" cy="3835837"/>
          </a:xfrm>
          <a:prstGeom prst="rect">
            <a:avLst/>
          </a:prstGeom>
          <a:noFill/>
          <a:ln>
            <a:noFill/>
          </a:ln>
        </p:spPr>
      </p:pic>
      <p:pic>
        <p:nvPicPr>
          <p:cNvPr id="498" name="Google Shape;498;p32"/>
          <p:cNvPicPr preferRelativeResize="0"/>
          <p:nvPr/>
        </p:nvPicPr>
        <p:blipFill>
          <a:blip r:embed="rId5">
            <a:alphaModFix/>
          </a:blip>
          <a:stretch>
            <a:fillRect/>
          </a:stretch>
        </p:blipFill>
        <p:spPr>
          <a:xfrm>
            <a:off x="152400" y="1984950"/>
            <a:ext cx="4402578" cy="2758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gtEl>
                                        <p:attrNameLst>
                                          <p:attrName>style.visibility</p:attrName>
                                        </p:attrNameLst>
                                      </p:cBhvr>
                                      <p:to>
                                        <p:strVal val="visible"/>
                                      </p:to>
                                    </p:set>
                                    <p:animEffect filter="fade" transition="in">
                                      <p:cBhvr>
                                        <p:cTn dur="1000"/>
                                        <p:tgtEl>
                                          <p:spTgt spid="4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33"/>
          <p:cNvSpPr txBox="1"/>
          <p:nvPr/>
        </p:nvSpPr>
        <p:spPr>
          <a:xfrm>
            <a:off x="152400" y="266700"/>
            <a:ext cx="9144000" cy="534600"/>
          </a:xfrm>
          <a:prstGeom prst="rect">
            <a:avLst/>
          </a:prstGeom>
          <a:solidFill>
            <a:srgbClr val="054B3E"/>
          </a:solid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sz="2600">
                <a:solidFill>
                  <a:srgbClr val="FFFF00"/>
                </a:solidFill>
                <a:latin typeface="Oswald"/>
                <a:ea typeface="Oswald"/>
                <a:cs typeface="Oswald"/>
                <a:sym typeface="Oswald"/>
              </a:rPr>
              <a:t>Autoencoder: Trefoil Knot</a:t>
            </a:r>
            <a:endParaRPr sz="2600">
              <a:solidFill>
                <a:srgbClr val="FFFF00"/>
              </a:solidFill>
              <a:latin typeface="Oswald"/>
              <a:ea typeface="Oswald"/>
              <a:cs typeface="Oswald"/>
              <a:sym typeface="Oswald"/>
            </a:endParaRPr>
          </a:p>
        </p:txBody>
      </p:sp>
      <p:sp>
        <p:nvSpPr>
          <p:cNvPr id="504" name="Google Shape;504;p33"/>
          <p:cNvSpPr/>
          <p:nvPr/>
        </p:nvSpPr>
        <p:spPr>
          <a:xfrm>
            <a:off x="152400" y="152400"/>
            <a:ext cx="9144000" cy="1143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400">
              <a:solidFill>
                <a:srgbClr val="FFFFFF"/>
              </a:solidFill>
              <a:latin typeface="Oswald"/>
              <a:ea typeface="Oswald"/>
              <a:cs typeface="Oswald"/>
              <a:sym typeface="Oswald"/>
            </a:endParaRPr>
          </a:p>
        </p:txBody>
      </p:sp>
      <p:sp>
        <p:nvSpPr>
          <p:cNvPr id="505" name="Google Shape;505;p33"/>
          <p:cNvSpPr/>
          <p:nvPr/>
        </p:nvSpPr>
        <p:spPr>
          <a:xfrm>
            <a:off x="152400" y="5067300"/>
            <a:ext cx="9144000" cy="570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506" name="Google Shape;506;p33"/>
          <p:cNvSpPr/>
          <p:nvPr/>
        </p:nvSpPr>
        <p:spPr>
          <a:xfrm>
            <a:off x="0" y="4952700"/>
            <a:ext cx="9144000" cy="171600"/>
          </a:xfrm>
          <a:prstGeom prst="rect">
            <a:avLst/>
          </a:prstGeom>
          <a:solidFill>
            <a:srgbClr val="054B3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507" name="Google Shape;507;p33"/>
          <p:cNvSpPr txBox="1"/>
          <p:nvPr/>
        </p:nvSpPr>
        <p:spPr>
          <a:xfrm>
            <a:off x="8624858" y="4349295"/>
            <a:ext cx="548700" cy="3543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pic>
        <p:nvPicPr>
          <p:cNvPr id="508" name="Google Shape;508;p33"/>
          <p:cNvPicPr preferRelativeResize="0"/>
          <p:nvPr/>
        </p:nvPicPr>
        <p:blipFill>
          <a:blip r:embed="rId3">
            <a:alphaModFix/>
          </a:blip>
          <a:stretch>
            <a:fillRect/>
          </a:stretch>
        </p:blipFill>
        <p:spPr>
          <a:xfrm>
            <a:off x="1212225" y="853500"/>
            <a:ext cx="1524000" cy="723900"/>
          </a:xfrm>
          <a:prstGeom prst="rect">
            <a:avLst/>
          </a:prstGeom>
          <a:noFill/>
          <a:ln>
            <a:noFill/>
          </a:ln>
        </p:spPr>
      </p:pic>
      <p:pic>
        <p:nvPicPr>
          <p:cNvPr id="509" name="Google Shape;509;p33"/>
          <p:cNvPicPr preferRelativeResize="0"/>
          <p:nvPr/>
        </p:nvPicPr>
        <p:blipFill>
          <a:blip r:embed="rId4">
            <a:alphaModFix/>
          </a:blip>
          <a:stretch>
            <a:fillRect/>
          </a:stretch>
        </p:blipFill>
        <p:spPr>
          <a:xfrm>
            <a:off x="3376413" y="2612375"/>
            <a:ext cx="2391175" cy="1871800"/>
          </a:xfrm>
          <a:prstGeom prst="rect">
            <a:avLst/>
          </a:prstGeom>
          <a:noFill/>
          <a:ln>
            <a:noFill/>
          </a:ln>
        </p:spPr>
      </p:pic>
      <p:pic>
        <p:nvPicPr>
          <p:cNvPr id="510" name="Google Shape;510;p33"/>
          <p:cNvPicPr preferRelativeResize="0"/>
          <p:nvPr/>
        </p:nvPicPr>
        <p:blipFill rotWithShape="1">
          <a:blip r:embed="rId5">
            <a:alphaModFix/>
          </a:blip>
          <a:srcRect b="49233" l="0" r="0" t="-1232"/>
          <a:stretch/>
        </p:blipFill>
        <p:spPr>
          <a:xfrm>
            <a:off x="305375" y="2164200"/>
            <a:ext cx="2598300" cy="2470025"/>
          </a:xfrm>
          <a:prstGeom prst="rect">
            <a:avLst/>
          </a:prstGeom>
          <a:noFill/>
          <a:ln>
            <a:noFill/>
          </a:ln>
        </p:spPr>
      </p:pic>
      <p:sp>
        <p:nvSpPr>
          <p:cNvPr id="511" name="Google Shape;511;p33"/>
          <p:cNvSpPr txBox="1"/>
          <p:nvPr/>
        </p:nvSpPr>
        <p:spPr>
          <a:xfrm>
            <a:off x="6315475" y="333900"/>
            <a:ext cx="1447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FF00"/>
                </a:solidFill>
              </a:rPr>
              <a:t>3</a:t>
            </a:r>
            <a:r>
              <a:rPr lang="en">
                <a:solidFill>
                  <a:srgbClr val="FFFF00"/>
                </a:solidFill>
              </a:rPr>
              <a:t>D → 2D → 3D</a:t>
            </a:r>
            <a:endParaRPr>
              <a:solidFill>
                <a:srgbClr val="FFFF00"/>
              </a:solidFill>
            </a:endParaRPr>
          </a:p>
        </p:txBody>
      </p:sp>
      <p:pic>
        <p:nvPicPr>
          <p:cNvPr id="512" name="Google Shape;512;p33"/>
          <p:cNvPicPr preferRelativeResize="0"/>
          <p:nvPr/>
        </p:nvPicPr>
        <p:blipFill rotWithShape="1">
          <a:blip r:embed="rId6">
            <a:alphaModFix/>
          </a:blip>
          <a:srcRect b="-9155" l="16328" r="1865" t="3914"/>
          <a:stretch/>
        </p:blipFill>
        <p:spPr>
          <a:xfrm>
            <a:off x="152400" y="853500"/>
            <a:ext cx="1095525" cy="903150"/>
          </a:xfrm>
          <a:prstGeom prst="rect">
            <a:avLst/>
          </a:prstGeom>
          <a:noFill/>
          <a:ln>
            <a:noFill/>
          </a:ln>
        </p:spPr>
      </p:pic>
      <p:pic>
        <p:nvPicPr>
          <p:cNvPr id="513" name="Google Shape;513;p33"/>
          <p:cNvPicPr preferRelativeResize="0"/>
          <p:nvPr/>
        </p:nvPicPr>
        <p:blipFill rotWithShape="1">
          <a:blip r:embed="rId5">
            <a:alphaModFix/>
          </a:blip>
          <a:srcRect b="0" l="0" r="0" t="49680"/>
          <a:stretch/>
        </p:blipFill>
        <p:spPr>
          <a:xfrm>
            <a:off x="6420162" y="2328750"/>
            <a:ext cx="2561888" cy="2356775"/>
          </a:xfrm>
          <a:prstGeom prst="rect">
            <a:avLst/>
          </a:prstGeom>
          <a:noFill/>
          <a:ln>
            <a:noFill/>
          </a:ln>
        </p:spPr>
      </p:pic>
      <p:sp>
        <p:nvSpPr>
          <p:cNvPr id="514" name="Google Shape;514;p33"/>
          <p:cNvSpPr/>
          <p:nvPr/>
        </p:nvSpPr>
        <p:spPr>
          <a:xfrm>
            <a:off x="2937350" y="3513925"/>
            <a:ext cx="336000" cy="221400"/>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0000"/>
              </a:solidFill>
            </a:endParaRPr>
          </a:p>
        </p:txBody>
      </p:sp>
      <p:sp>
        <p:nvSpPr>
          <p:cNvPr id="515" name="Google Shape;515;p33"/>
          <p:cNvSpPr/>
          <p:nvPr/>
        </p:nvSpPr>
        <p:spPr>
          <a:xfrm>
            <a:off x="6011475" y="3458600"/>
            <a:ext cx="336000" cy="221400"/>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4"/>
                                        </p:tgtEl>
                                        <p:attrNameLst>
                                          <p:attrName>style.visibility</p:attrName>
                                        </p:attrNameLst>
                                      </p:cBhvr>
                                      <p:to>
                                        <p:strVal val="visible"/>
                                      </p:to>
                                    </p:set>
                                    <p:animEffect filter="fade" transition="in">
                                      <p:cBhvr>
                                        <p:cTn dur="1000"/>
                                        <p:tgtEl>
                                          <p:spTgt spid="514"/>
                                        </p:tgtEl>
                                      </p:cBhvr>
                                    </p:animEffect>
                                  </p:childTnLst>
                                </p:cTn>
                              </p:par>
                              <p:par>
                                <p:cTn fill="hold" nodeType="withEffect" presetClass="entr" presetID="10" presetSubtype="0">
                                  <p:stCondLst>
                                    <p:cond delay="0"/>
                                  </p:stCondLst>
                                  <p:childTnLst>
                                    <p:set>
                                      <p:cBhvr>
                                        <p:cTn dur="1" fill="hold">
                                          <p:stCondLst>
                                            <p:cond delay="0"/>
                                          </p:stCondLst>
                                        </p:cTn>
                                        <p:tgtEl>
                                          <p:spTgt spid="509"/>
                                        </p:tgtEl>
                                        <p:attrNameLst>
                                          <p:attrName>style.visibility</p:attrName>
                                        </p:attrNameLst>
                                      </p:cBhvr>
                                      <p:to>
                                        <p:strVal val="visible"/>
                                      </p:to>
                                    </p:set>
                                    <p:animEffect filter="fade" transition="in">
                                      <p:cBhvr>
                                        <p:cTn dur="1000"/>
                                        <p:tgtEl>
                                          <p:spTgt spid="5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5"/>
                                        </p:tgtEl>
                                        <p:attrNameLst>
                                          <p:attrName>style.visibility</p:attrName>
                                        </p:attrNameLst>
                                      </p:cBhvr>
                                      <p:to>
                                        <p:strVal val="visible"/>
                                      </p:to>
                                    </p:set>
                                    <p:animEffect filter="fade" transition="in">
                                      <p:cBhvr>
                                        <p:cTn dur="1000"/>
                                        <p:tgtEl>
                                          <p:spTgt spid="515"/>
                                        </p:tgtEl>
                                      </p:cBhvr>
                                    </p:animEffect>
                                  </p:childTnLst>
                                </p:cTn>
                              </p:par>
                              <p:par>
                                <p:cTn fill="hold" nodeType="withEffect" presetClass="entr" presetID="10" presetSubtype="0">
                                  <p:stCondLst>
                                    <p:cond delay="0"/>
                                  </p:stCondLst>
                                  <p:childTnLst>
                                    <p:set>
                                      <p:cBhvr>
                                        <p:cTn dur="1" fill="hold">
                                          <p:stCondLst>
                                            <p:cond delay="0"/>
                                          </p:stCondLst>
                                        </p:cTn>
                                        <p:tgtEl>
                                          <p:spTgt spid="513"/>
                                        </p:tgtEl>
                                        <p:attrNameLst>
                                          <p:attrName>style.visibility</p:attrName>
                                        </p:attrNameLst>
                                      </p:cBhvr>
                                      <p:to>
                                        <p:strVal val="visible"/>
                                      </p:to>
                                    </p:set>
                                    <p:animEffect filter="fade" transition="in">
                                      <p:cBhvr>
                                        <p:cTn dur="1000"/>
                                        <p:tgtEl>
                                          <p:spTgt spid="5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19" name="Shape 519"/>
        <p:cNvGrpSpPr/>
        <p:nvPr/>
      </p:nvGrpSpPr>
      <p:grpSpPr>
        <a:xfrm>
          <a:off x="0" y="0"/>
          <a:ext cx="0" cy="0"/>
          <a:chOff x="0" y="0"/>
          <a:chExt cx="0" cy="0"/>
        </a:xfrm>
      </p:grpSpPr>
      <p:sp>
        <p:nvSpPr>
          <p:cNvPr id="520" name="Google Shape;520;p34"/>
          <p:cNvSpPr txBox="1"/>
          <p:nvPr/>
        </p:nvSpPr>
        <p:spPr>
          <a:xfrm>
            <a:off x="152400" y="266700"/>
            <a:ext cx="9144000" cy="534600"/>
          </a:xfrm>
          <a:prstGeom prst="rect">
            <a:avLst/>
          </a:prstGeom>
          <a:solidFill>
            <a:srgbClr val="054B3E"/>
          </a:solid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sz="2600">
                <a:solidFill>
                  <a:srgbClr val="FFFF00"/>
                </a:solidFill>
                <a:latin typeface="Oswald"/>
                <a:ea typeface="Oswald"/>
                <a:cs typeface="Oswald"/>
                <a:sym typeface="Oswald"/>
              </a:rPr>
              <a:t>Autoencoder: Circle</a:t>
            </a:r>
            <a:endParaRPr sz="2600">
              <a:solidFill>
                <a:srgbClr val="FFFF00"/>
              </a:solidFill>
              <a:latin typeface="Oswald"/>
              <a:ea typeface="Oswald"/>
              <a:cs typeface="Oswald"/>
              <a:sym typeface="Oswald"/>
            </a:endParaRPr>
          </a:p>
        </p:txBody>
      </p:sp>
      <p:sp>
        <p:nvSpPr>
          <p:cNvPr id="521" name="Google Shape;521;p34"/>
          <p:cNvSpPr/>
          <p:nvPr/>
        </p:nvSpPr>
        <p:spPr>
          <a:xfrm>
            <a:off x="152400" y="152400"/>
            <a:ext cx="9144000" cy="1143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400">
              <a:solidFill>
                <a:srgbClr val="FFFFFF"/>
              </a:solidFill>
              <a:latin typeface="Oswald"/>
              <a:ea typeface="Oswald"/>
              <a:cs typeface="Oswald"/>
              <a:sym typeface="Oswald"/>
            </a:endParaRPr>
          </a:p>
        </p:txBody>
      </p:sp>
      <p:sp>
        <p:nvSpPr>
          <p:cNvPr id="522" name="Google Shape;522;p34"/>
          <p:cNvSpPr/>
          <p:nvPr/>
        </p:nvSpPr>
        <p:spPr>
          <a:xfrm>
            <a:off x="0" y="5067300"/>
            <a:ext cx="9144000" cy="570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523" name="Google Shape;523;p34"/>
          <p:cNvSpPr/>
          <p:nvPr/>
        </p:nvSpPr>
        <p:spPr>
          <a:xfrm>
            <a:off x="0" y="4895700"/>
            <a:ext cx="9144000" cy="171600"/>
          </a:xfrm>
          <a:prstGeom prst="rect">
            <a:avLst/>
          </a:prstGeom>
          <a:solidFill>
            <a:srgbClr val="054B3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524" name="Google Shape;524;p34"/>
          <p:cNvSpPr txBox="1"/>
          <p:nvPr/>
        </p:nvSpPr>
        <p:spPr>
          <a:xfrm>
            <a:off x="8624858" y="4349295"/>
            <a:ext cx="548700" cy="3543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25" name="Google Shape;525;p34"/>
          <p:cNvSpPr txBox="1"/>
          <p:nvPr/>
        </p:nvSpPr>
        <p:spPr>
          <a:xfrm>
            <a:off x="6007475" y="333900"/>
            <a:ext cx="1447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FF00"/>
                </a:solidFill>
              </a:rPr>
              <a:t>2D → 1D → 2D</a:t>
            </a:r>
            <a:endParaRPr>
              <a:solidFill>
                <a:srgbClr val="FFFF00"/>
              </a:solidFill>
            </a:endParaRPr>
          </a:p>
        </p:txBody>
      </p:sp>
      <p:sp>
        <p:nvSpPr>
          <p:cNvPr id="526" name="Google Shape;526;p34"/>
          <p:cNvSpPr txBox="1"/>
          <p:nvPr/>
        </p:nvSpPr>
        <p:spPr>
          <a:xfrm>
            <a:off x="1554900" y="906150"/>
            <a:ext cx="27804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Times New Roman"/>
                <a:ea typeface="Times New Roman"/>
                <a:cs typeface="Times New Roman"/>
                <a:sym typeface="Times New Roman"/>
              </a:rPr>
              <a:t>Data set : 100,000  points</a:t>
            </a:r>
            <a:endParaRPr sz="1000">
              <a:latin typeface="Times New Roman"/>
              <a:ea typeface="Times New Roman"/>
              <a:cs typeface="Times New Roman"/>
              <a:sym typeface="Times New Roman"/>
            </a:endParaRPr>
          </a:p>
          <a:p>
            <a:pPr indent="0" lvl="0" marL="0" rtl="0" algn="l">
              <a:spcBef>
                <a:spcPts val="0"/>
              </a:spcBef>
              <a:spcAft>
                <a:spcPts val="0"/>
              </a:spcAft>
              <a:buNone/>
            </a:pPr>
            <a:r>
              <a:rPr lang="en" sz="1000">
                <a:latin typeface="Times New Roman"/>
                <a:ea typeface="Times New Roman"/>
                <a:cs typeface="Times New Roman"/>
                <a:sym typeface="Times New Roman"/>
              </a:rPr>
              <a:t>Batch : 32</a:t>
            </a:r>
            <a:endParaRPr sz="1000">
              <a:latin typeface="Times New Roman"/>
              <a:ea typeface="Times New Roman"/>
              <a:cs typeface="Times New Roman"/>
              <a:sym typeface="Times New Roman"/>
            </a:endParaRPr>
          </a:p>
          <a:p>
            <a:pPr indent="0" lvl="0" marL="0" rtl="0" algn="l">
              <a:spcBef>
                <a:spcPts val="0"/>
              </a:spcBef>
              <a:spcAft>
                <a:spcPts val="0"/>
              </a:spcAft>
              <a:buNone/>
            </a:pPr>
            <a:r>
              <a:rPr lang="en" sz="1000">
                <a:latin typeface="Times New Roman"/>
                <a:ea typeface="Times New Roman"/>
                <a:cs typeface="Times New Roman"/>
                <a:sym typeface="Times New Roman"/>
              </a:rPr>
              <a:t>Loss function : Mean Square Error</a:t>
            </a:r>
            <a:endParaRPr sz="1000">
              <a:latin typeface="Times New Roman"/>
              <a:ea typeface="Times New Roman"/>
              <a:cs typeface="Times New Roman"/>
              <a:sym typeface="Times New Roman"/>
            </a:endParaRPr>
          </a:p>
          <a:p>
            <a:pPr indent="0" lvl="0" marL="0" rtl="0" algn="l">
              <a:spcBef>
                <a:spcPts val="0"/>
              </a:spcBef>
              <a:spcAft>
                <a:spcPts val="0"/>
              </a:spcAft>
              <a:buNone/>
            </a:pPr>
            <a:r>
              <a:rPr lang="en" sz="1000">
                <a:latin typeface="Times New Roman"/>
                <a:ea typeface="Times New Roman"/>
                <a:cs typeface="Times New Roman"/>
                <a:sym typeface="Times New Roman"/>
              </a:rPr>
              <a:t>Optimizer: Adam</a:t>
            </a:r>
            <a:endParaRPr sz="1000">
              <a:latin typeface="Times New Roman"/>
              <a:ea typeface="Times New Roman"/>
              <a:cs typeface="Times New Roman"/>
              <a:sym typeface="Times New Roman"/>
            </a:endParaRPr>
          </a:p>
        </p:txBody>
      </p:sp>
      <p:pic>
        <p:nvPicPr>
          <p:cNvPr id="527" name="Google Shape;527;p34"/>
          <p:cNvPicPr preferRelativeResize="0"/>
          <p:nvPr/>
        </p:nvPicPr>
        <p:blipFill>
          <a:blip r:embed="rId3">
            <a:alphaModFix/>
          </a:blip>
          <a:stretch>
            <a:fillRect/>
          </a:stretch>
        </p:blipFill>
        <p:spPr>
          <a:xfrm>
            <a:off x="245075" y="908250"/>
            <a:ext cx="1251073" cy="869175"/>
          </a:xfrm>
          <a:prstGeom prst="rect">
            <a:avLst/>
          </a:prstGeom>
          <a:noFill/>
          <a:ln>
            <a:noFill/>
          </a:ln>
        </p:spPr>
      </p:pic>
      <p:pic>
        <p:nvPicPr>
          <p:cNvPr id="528" name="Google Shape;528;p34"/>
          <p:cNvPicPr preferRelativeResize="0"/>
          <p:nvPr/>
        </p:nvPicPr>
        <p:blipFill>
          <a:blip r:embed="rId4">
            <a:alphaModFix/>
          </a:blip>
          <a:stretch>
            <a:fillRect/>
          </a:stretch>
        </p:blipFill>
        <p:spPr>
          <a:xfrm>
            <a:off x="5833486" y="854813"/>
            <a:ext cx="3001589" cy="3980463"/>
          </a:xfrm>
          <a:prstGeom prst="rect">
            <a:avLst/>
          </a:prstGeom>
          <a:noFill/>
          <a:ln>
            <a:noFill/>
          </a:ln>
        </p:spPr>
      </p:pic>
      <p:pic>
        <p:nvPicPr>
          <p:cNvPr id="529" name="Google Shape;529;p34"/>
          <p:cNvPicPr preferRelativeResize="0"/>
          <p:nvPr/>
        </p:nvPicPr>
        <p:blipFill>
          <a:blip r:embed="rId5">
            <a:alphaModFix/>
          </a:blip>
          <a:stretch>
            <a:fillRect/>
          </a:stretch>
        </p:blipFill>
        <p:spPr>
          <a:xfrm>
            <a:off x="152400" y="2831725"/>
            <a:ext cx="2622032" cy="1720275"/>
          </a:xfrm>
          <a:prstGeom prst="rect">
            <a:avLst/>
          </a:prstGeom>
          <a:noFill/>
          <a:ln>
            <a:noFill/>
          </a:ln>
        </p:spPr>
      </p:pic>
      <p:pic>
        <p:nvPicPr>
          <p:cNvPr id="530" name="Google Shape;530;p34"/>
          <p:cNvPicPr preferRelativeResize="0"/>
          <p:nvPr/>
        </p:nvPicPr>
        <p:blipFill>
          <a:blip r:embed="rId6">
            <a:alphaModFix/>
          </a:blip>
          <a:stretch>
            <a:fillRect/>
          </a:stretch>
        </p:blipFill>
        <p:spPr>
          <a:xfrm>
            <a:off x="2774432" y="2832400"/>
            <a:ext cx="2661580" cy="17189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9"/>
                                        </p:tgtEl>
                                        <p:attrNameLst>
                                          <p:attrName>style.visibility</p:attrName>
                                        </p:attrNameLst>
                                      </p:cBhvr>
                                      <p:to>
                                        <p:strVal val="visible"/>
                                      </p:to>
                                    </p:set>
                                    <p:animEffect filter="fade" transition="in">
                                      <p:cBhvr>
                                        <p:cTn dur="1000"/>
                                        <p:tgtEl>
                                          <p:spTgt spid="529"/>
                                        </p:tgtEl>
                                      </p:cBhvr>
                                    </p:animEffect>
                                  </p:childTnLst>
                                </p:cTn>
                              </p:par>
                              <p:par>
                                <p:cTn fill="hold" nodeType="withEffect" presetClass="entr" presetID="10" presetSubtype="0">
                                  <p:stCondLst>
                                    <p:cond delay="0"/>
                                  </p:stCondLst>
                                  <p:childTnLst>
                                    <p:set>
                                      <p:cBhvr>
                                        <p:cTn dur="1" fill="hold">
                                          <p:stCondLst>
                                            <p:cond delay="0"/>
                                          </p:stCondLst>
                                        </p:cTn>
                                        <p:tgtEl>
                                          <p:spTgt spid="530"/>
                                        </p:tgtEl>
                                        <p:attrNameLst>
                                          <p:attrName>style.visibility</p:attrName>
                                        </p:attrNameLst>
                                      </p:cBhvr>
                                      <p:to>
                                        <p:strVal val="visible"/>
                                      </p:to>
                                    </p:set>
                                    <p:animEffect filter="fade" transition="in">
                                      <p:cBhvr>
                                        <p:cTn dur="1000"/>
                                        <p:tgtEl>
                                          <p:spTgt spid="5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35"/>
          <p:cNvSpPr txBox="1"/>
          <p:nvPr/>
        </p:nvSpPr>
        <p:spPr>
          <a:xfrm>
            <a:off x="0" y="210075"/>
            <a:ext cx="9144000" cy="534600"/>
          </a:xfrm>
          <a:prstGeom prst="rect">
            <a:avLst/>
          </a:prstGeom>
          <a:solidFill>
            <a:srgbClr val="054B3E"/>
          </a:solid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sz="2600">
                <a:solidFill>
                  <a:srgbClr val="FFFF00"/>
                </a:solidFill>
                <a:latin typeface="Oswald"/>
                <a:ea typeface="Oswald"/>
                <a:cs typeface="Oswald"/>
                <a:sym typeface="Oswald"/>
              </a:rPr>
              <a:t>Part 1:Hénon Map</a:t>
            </a:r>
            <a:endParaRPr sz="2600">
              <a:solidFill>
                <a:srgbClr val="FFFF00"/>
              </a:solidFill>
              <a:latin typeface="Oswald"/>
              <a:ea typeface="Oswald"/>
              <a:cs typeface="Oswald"/>
              <a:sym typeface="Oswald"/>
            </a:endParaRPr>
          </a:p>
        </p:txBody>
      </p:sp>
      <p:sp>
        <p:nvSpPr>
          <p:cNvPr id="536" name="Google Shape;536;p35"/>
          <p:cNvSpPr/>
          <p:nvPr/>
        </p:nvSpPr>
        <p:spPr>
          <a:xfrm>
            <a:off x="0" y="95775"/>
            <a:ext cx="9144000" cy="1143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400">
              <a:solidFill>
                <a:srgbClr val="FFFFFF"/>
              </a:solidFill>
              <a:latin typeface="Oswald"/>
              <a:ea typeface="Oswald"/>
              <a:cs typeface="Oswald"/>
              <a:sym typeface="Oswald"/>
            </a:endParaRPr>
          </a:p>
        </p:txBody>
      </p:sp>
      <p:sp>
        <p:nvSpPr>
          <p:cNvPr id="537" name="Google Shape;537;p35"/>
          <p:cNvSpPr/>
          <p:nvPr/>
        </p:nvSpPr>
        <p:spPr>
          <a:xfrm>
            <a:off x="0" y="5067300"/>
            <a:ext cx="9144000" cy="570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538" name="Google Shape;538;p35"/>
          <p:cNvSpPr/>
          <p:nvPr/>
        </p:nvSpPr>
        <p:spPr>
          <a:xfrm>
            <a:off x="0" y="4952700"/>
            <a:ext cx="9144000" cy="171600"/>
          </a:xfrm>
          <a:prstGeom prst="rect">
            <a:avLst/>
          </a:prstGeom>
          <a:solidFill>
            <a:srgbClr val="054B3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539" name="Google Shape;539;p35"/>
          <p:cNvSpPr txBox="1"/>
          <p:nvPr/>
        </p:nvSpPr>
        <p:spPr>
          <a:xfrm>
            <a:off x="8624858" y="4349295"/>
            <a:ext cx="548700" cy="3543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pic>
        <p:nvPicPr>
          <p:cNvPr id="540" name="Google Shape;540;p35"/>
          <p:cNvPicPr preferRelativeResize="0"/>
          <p:nvPr/>
        </p:nvPicPr>
        <p:blipFill>
          <a:blip r:embed="rId3">
            <a:alphaModFix/>
          </a:blip>
          <a:stretch>
            <a:fillRect/>
          </a:stretch>
        </p:blipFill>
        <p:spPr>
          <a:xfrm>
            <a:off x="99800" y="2728450"/>
            <a:ext cx="2510325" cy="1739425"/>
          </a:xfrm>
          <a:prstGeom prst="rect">
            <a:avLst/>
          </a:prstGeom>
          <a:noFill/>
          <a:ln>
            <a:noFill/>
          </a:ln>
        </p:spPr>
      </p:pic>
      <p:pic>
        <p:nvPicPr>
          <p:cNvPr id="541" name="Google Shape;541;p35"/>
          <p:cNvPicPr preferRelativeResize="0"/>
          <p:nvPr/>
        </p:nvPicPr>
        <p:blipFill>
          <a:blip r:embed="rId4">
            <a:alphaModFix/>
          </a:blip>
          <a:stretch>
            <a:fillRect/>
          </a:stretch>
        </p:blipFill>
        <p:spPr>
          <a:xfrm>
            <a:off x="6415550" y="2726225"/>
            <a:ext cx="2459875" cy="1708953"/>
          </a:xfrm>
          <a:prstGeom prst="rect">
            <a:avLst/>
          </a:prstGeom>
          <a:noFill/>
          <a:ln>
            <a:noFill/>
          </a:ln>
        </p:spPr>
      </p:pic>
      <p:sp>
        <p:nvSpPr>
          <p:cNvPr id="542" name="Google Shape;542;p35"/>
          <p:cNvSpPr txBox="1"/>
          <p:nvPr/>
        </p:nvSpPr>
        <p:spPr>
          <a:xfrm>
            <a:off x="1409675" y="818550"/>
            <a:ext cx="2704200" cy="87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br>
              <a:rPr lang="en"/>
            </a:b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543" name="Google Shape;543;p35" title="[0,0,0,&quot;https://www.codecogs.com/eqnedit.php?latex=x_%7Bn%2B1%7D%20%3D%201%20-%20a%20x_n%5E2%20%2B%20y_n#0&quot;]"/>
          <p:cNvPicPr preferRelativeResize="0"/>
          <p:nvPr/>
        </p:nvPicPr>
        <p:blipFill>
          <a:blip r:embed="rId5">
            <a:alphaModFix/>
          </a:blip>
          <a:stretch>
            <a:fillRect/>
          </a:stretch>
        </p:blipFill>
        <p:spPr>
          <a:xfrm>
            <a:off x="1409675" y="881354"/>
            <a:ext cx="2207024" cy="246692"/>
          </a:xfrm>
          <a:prstGeom prst="rect">
            <a:avLst/>
          </a:prstGeom>
          <a:noFill/>
          <a:ln>
            <a:noFill/>
          </a:ln>
        </p:spPr>
      </p:pic>
      <p:pic>
        <p:nvPicPr>
          <p:cNvPr id="544" name="Google Shape;544;p35" title="[0,0,0,&quot;https://www.codecogs.com/eqnedit.php?latex=y_%7Bn%2B1%7D%20%3D%20b%20x_n#0&quot;]"/>
          <p:cNvPicPr preferRelativeResize="0"/>
          <p:nvPr/>
        </p:nvPicPr>
        <p:blipFill>
          <a:blip r:embed="rId6">
            <a:alphaModFix/>
          </a:blip>
          <a:stretch>
            <a:fillRect/>
          </a:stretch>
        </p:blipFill>
        <p:spPr>
          <a:xfrm>
            <a:off x="1409675" y="1128046"/>
            <a:ext cx="1150004" cy="200616"/>
          </a:xfrm>
          <a:prstGeom prst="rect">
            <a:avLst/>
          </a:prstGeom>
          <a:noFill/>
          <a:ln>
            <a:noFill/>
          </a:ln>
        </p:spPr>
      </p:pic>
      <p:pic>
        <p:nvPicPr>
          <p:cNvPr id="545" name="Google Shape;545;p35" title="[0,0,0,&quot;https://www.codecogs.com/eqnedit.php?latex=a%3D1.4#0&quot;]"/>
          <p:cNvPicPr preferRelativeResize="0"/>
          <p:nvPr/>
        </p:nvPicPr>
        <p:blipFill>
          <a:blip r:embed="rId7">
            <a:alphaModFix/>
          </a:blip>
          <a:stretch>
            <a:fillRect/>
          </a:stretch>
        </p:blipFill>
        <p:spPr>
          <a:xfrm>
            <a:off x="1476334" y="1349965"/>
            <a:ext cx="562179" cy="109459"/>
          </a:xfrm>
          <a:prstGeom prst="rect">
            <a:avLst/>
          </a:prstGeom>
          <a:noFill/>
          <a:ln>
            <a:noFill/>
          </a:ln>
        </p:spPr>
      </p:pic>
      <p:pic>
        <p:nvPicPr>
          <p:cNvPr id="546" name="Google Shape;546;p35" title="[0,0,0,&quot;https://www.codecogs.com/eqnedit.php?latex=b%20%3D%200.3%20#0&quot;]"/>
          <p:cNvPicPr preferRelativeResize="0"/>
          <p:nvPr/>
        </p:nvPicPr>
        <p:blipFill>
          <a:blip r:embed="rId8">
            <a:alphaModFix/>
          </a:blip>
          <a:stretch>
            <a:fillRect/>
          </a:stretch>
        </p:blipFill>
        <p:spPr>
          <a:xfrm>
            <a:off x="1476334" y="1489642"/>
            <a:ext cx="562186" cy="119482"/>
          </a:xfrm>
          <a:prstGeom prst="rect">
            <a:avLst/>
          </a:prstGeom>
          <a:noFill/>
          <a:ln>
            <a:noFill/>
          </a:ln>
        </p:spPr>
      </p:pic>
      <p:sp>
        <p:nvSpPr>
          <p:cNvPr id="547" name="Google Shape;547;p35"/>
          <p:cNvSpPr txBox="1"/>
          <p:nvPr/>
        </p:nvSpPr>
        <p:spPr>
          <a:xfrm>
            <a:off x="6007475" y="333900"/>
            <a:ext cx="1447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FF00"/>
                </a:solidFill>
              </a:rPr>
              <a:t>2D → 1D → 2D</a:t>
            </a:r>
            <a:endParaRPr>
              <a:solidFill>
                <a:srgbClr val="FFFF00"/>
              </a:solidFill>
            </a:endParaRPr>
          </a:p>
        </p:txBody>
      </p:sp>
      <p:sp>
        <p:nvSpPr>
          <p:cNvPr id="548" name="Google Shape;548;p35"/>
          <p:cNvSpPr/>
          <p:nvPr/>
        </p:nvSpPr>
        <p:spPr>
          <a:xfrm>
            <a:off x="2761225" y="3572625"/>
            <a:ext cx="336000" cy="221400"/>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0000"/>
              </a:solidFill>
            </a:endParaRPr>
          </a:p>
        </p:txBody>
      </p:sp>
      <p:sp>
        <p:nvSpPr>
          <p:cNvPr id="549" name="Google Shape;549;p35"/>
          <p:cNvSpPr/>
          <p:nvPr/>
        </p:nvSpPr>
        <p:spPr>
          <a:xfrm>
            <a:off x="5988525" y="3535375"/>
            <a:ext cx="336000" cy="221400"/>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0000"/>
              </a:solidFill>
            </a:endParaRPr>
          </a:p>
        </p:txBody>
      </p:sp>
      <p:pic>
        <p:nvPicPr>
          <p:cNvPr id="550" name="Google Shape;550;p35"/>
          <p:cNvPicPr preferRelativeResize="0"/>
          <p:nvPr/>
        </p:nvPicPr>
        <p:blipFill>
          <a:blip r:embed="rId9">
            <a:alphaModFix/>
          </a:blip>
          <a:stretch>
            <a:fillRect/>
          </a:stretch>
        </p:blipFill>
        <p:spPr>
          <a:xfrm>
            <a:off x="49425" y="881350"/>
            <a:ext cx="1264785" cy="878700"/>
          </a:xfrm>
          <a:prstGeom prst="rect">
            <a:avLst/>
          </a:prstGeom>
          <a:noFill/>
          <a:ln>
            <a:noFill/>
          </a:ln>
        </p:spPr>
      </p:pic>
      <p:pic>
        <p:nvPicPr>
          <p:cNvPr id="551" name="Google Shape;551;p35"/>
          <p:cNvPicPr preferRelativeResize="0"/>
          <p:nvPr/>
        </p:nvPicPr>
        <p:blipFill>
          <a:blip r:embed="rId10">
            <a:alphaModFix/>
          </a:blip>
          <a:stretch>
            <a:fillRect/>
          </a:stretch>
        </p:blipFill>
        <p:spPr>
          <a:xfrm>
            <a:off x="3095199" y="2726225"/>
            <a:ext cx="2704200" cy="184710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8"/>
                                        </p:tgtEl>
                                        <p:attrNameLst>
                                          <p:attrName>style.visibility</p:attrName>
                                        </p:attrNameLst>
                                      </p:cBhvr>
                                      <p:to>
                                        <p:strVal val="visible"/>
                                      </p:to>
                                    </p:set>
                                    <p:animEffect filter="fade" transition="in">
                                      <p:cBhvr>
                                        <p:cTn dur="1000"/>
                                        <p:tgtEl>
                                          <p:spTgt spid="548"/>
                                        </p:tgtEl>
                                      </p:cBhvr>
                                    </p:animEffect>
                                  </p:childTnLst>
                                </p:cTn>
                              </p:par>
                              <p:par>
                                <p:cTn fill="hold" nodeType="withEffect" presetClass="entr" presetID="10" presetSubtype="0">
                                  <p:stCondLst>
                                    <p:cond delay="0"/>
                                  </p:stCondLst>
                                  <p:childTnLst>
                                    <p:set>
                                      <p:cBhvr>
                                        <p:cTn dur="1" fill="hold">
                                          <p:stCondLst>
                                            <p:cond delay="0"/>
                                          </p:stCondLst>
                                        </p:cTn>
                                        <p:tgtEl>
                                          <p:spTgt spid="551"/>
                                        </p:tgtEl>
                                        <p:attrNameLst>
                                          <p:attrName>style.visibility</p:attrName>
                                        </p:attrNameLst>
                                      </p:cBhvr>
                                      <p:to>
                                        <p:strVal val="visible"/>
                                      </p:to>
                                    </p:set>
                                    <p:animEffect filter="fade" transition="in">
                                      <p:cBhvr>
                                        <p:cTn dur="1000"/>
                                        <p:tgtEl>
                                          <p:spTgt spid="5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gtEl>
                                        <p:attrNameLst>
                                          <p:attrName>style.visibility</p:attrName>
                                        </p:attrNameLst>
                                      </p:cBhvr>
                                      <p:to>
                                        <p:strVal val="visible"/>
                                      </p:to>
                                    </p:set>
                                    <p:animEffect filter="fade" transition="in">
                                      <p:cBhvr>
                                        <p:cTn dur="1000"/>
                                        <p:tgtEl>
                                          <p:spTgt spid="549"/>
                                        </p:tgtEl>
                                      </p:cBhvr>
                                    </p:animEffect>
                                  </p:childTnLst>
                                </p:cTn>
                              </p:par>
                              <p:par>
                                <p:cTn fill="hold" nodeType="withEffect" presetClass="entr" presetID="10" presetSubtype="0">
                                  <p:stCondLst>
                                    <p:cond delay="0"/>
                                  </p:stCondLst>
                                  <p:childTnLst>
                                    <p:set>
                                      <p:cBhvr>
                                        <p:cTn dur="1" fill="hold">
                                          <p:stCondLst>
                                            <p:cond delay="0"/>
                                          </p:stCondLst>
                                        </p:cTn>
                                        <p:tgtEl>
                                          <p:spTgt spid="541"/>
                                        </p:tgtEl>
                                        <p:attrNameLst>
                                          <p:attrName>style.visibility</p:attrName>
                                        </p:attrNameLst>
                                      </p:cBhvr>
                                      <p:to>
                                        <p:strVal val="visible"/>
                                      </p:to>
                                    </p:set>
                                    <p:animEffect filter="fade" transition="in">
                                      <p:cBhvr>
                                        <p:cTn dur="1000"/>
                                        <p:tgtEl>
                                          <p:spTgt spid="5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36"/>
          <p:cNvSpPr txBox="1"/>
          <p:nvPr/>
        </p:nvSpPr>
        <p:spPr>
          <a:xfrm>
            <a:off x="152400" y="266700"/>
            <a:ext cx="9144000" cy="534600"/>
          </a:xfrm>
          <a:prstGeom prst="rect">
            <a:avLst/>
          </a:prstGeom>
          <a:solidFill>
            <a:srgbClr val="054B3E"/>
          </a:solid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sz="2600">
                <a:solidFill>
                  <a:srgbClr val="FFFF00"/>
                </a:solidFill>
                <a:latin typeface="Oswald"/>
                <a:ea typeface="Oswald"/>
                <a:cs typeface="Oswald"/>
                <a:sym typeface="Oswald"/>
              </a:rPr>
              <a:t>Autoencoder: </a:t>
            </a:r>
            <a:r>
              <a:rPr lang="en" sz="2600">
                <a:solidFill>
                  <a:srgbClr val="FFFF00"/>
                </a:solidFill>
                <a:latin typeface="Oswald"/>
                <a:ea typeface="Oswald"/>
                <a:cs typeface="Oswald"/>
                <a:sym typeface="Oswald"/>
              </a:rPr>
              <a:t>Lorenz system</a:t>
            </a:r>
            <a:endParaRPr sz="2600">
              <a:solidFill>
                <a:srgbClr val="FFFF00"/>
              </a:solidFill>
              <a:latin typeface="Oswald"/>
              <a:ea typeface="Oswald"/>
              <a:cs typeface="Oswald"/>
              <a:sym typeface="Oswald"/>
            </a:endParaRPr>
          </a:p>
        </p:txBody>
      </p:sp>
      <p:sp>
        <p:nvSpPr>
          <p:cNvPr id="557" name="Google Shape;557;p36"/>
          <p:cNvSpPr/>
          <p:nvPr/>
        </p:nvSpPr>
        <p:spPr>
          <a:xfrm>
            <a:off x="152400" y="152400"/>
            <a:ext cx="9144000" cy="1143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400">
              <a:solidFill>
                <a:srgbClr val="FFFFFF"/>
              </a:solidFill>
              <a:latin typeface="Oswald"/>
              <a:ea typeface="Oswald"/>
              <a:cs typeface="Oswald"/>
              <a:sym typeface="Oswald"/>
            </a:endParaRPr>
          </a:p>
        </p:txBody>
      </p:sp>
      <p:sp>
        <p:nvSpPr>
          <p:cNvPr id="558" name="Google Shape;558;p36"/>
          <p:cNvSpPr/>
          <p:nvPr/>
        </p:nvSpPr>
        <p:spPr>
          <a:xfrm>
            <a:off x="0" y="5067300"/>
            <a:ext cx="9144000" cy="570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559" name="Google Shape;559;p36"/>
          <p:cNvSpPr/>
          <p:nvPr/>
        </p:nvSpPr>
        <p:spPr>
          <a:xfrm>
            <a:off x="0" y="4895700"/>
            <a:ext cx="9144000" cy="171600"/>
          </a:xfrm>
          <a:prstGeom prst="rect">
            <a:avLst/>
          </a:prstGeom>
          <a:solidFill>
            <a:srgbClr val="054B3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560" name="Google Shape;560;p36"/>
          <p:cNvSpPr txBox="1"/>
          <p:nvPr/>
        </p:nvSpPr>
        <p:spPr>
          <a:xfrm>
            <a:off x="8624858" y="4349295"/>
            <a:ext cx="548700" cy="3543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61" name="Google Shape;561;p36"/>
          <p:cNvSpPr txBox="1"/>
          <p:nvPr/>
        </p:nvSpPr>
        <p:spPr>
          <a:xfrm>
            <a:off x="5463450" y="3702800"/>
            <a:ext cx="31614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Times New Roman"/>
                <a:ea typeface="Times New Roman"/>
                <a:cs typeface="Times New Roman"/>
                <a:sym typeface="Times New Roman"/>
              </a:rPr>
              <a:t>Data set : 10000 points</a:t>
            </a:r>
            <a:endParaRPr sz="1000">
              <a:latin typeface="Times New Roman"/>
              <a:ea typeface="Times New Roman"/>
              <a:cs typeface="Times New Roman"/>
              <a:sym typeface="Times New Roman"/>
            </a:endParaRPr>
          </a:p>
          <a:p>
            <a:pPr indent="0" lvl="0" marL="0" rtl="0" algn="l">
              <a:spcBef>
                <a:spcPts val="0"/>
              </a:spcBef>
              <a:spcAft>
                <a:spcPts val="0"/>
              </a:spcAft>
              <a:buNone/>
            </a:pPr>
            <a:r>
              <a:rPr lang="en" sz="1000">
                <a:latin typeface="Times New Roman"/>
                <a:ea typeface="Times New Roman"/>
                <a:cs typeface="Times New Roman"/>
                <a:sym typeface="Times New Roman"/>
              </a:rPr>
              <a:t>Batch : 32</a:t>
            </a:r>
            <a:endParaRPr sz="1000">
              <a:latin typeface="Times New Roman"/>
              <a:ea typeface="Times New Roman"/>
              <a:cs typeface="Times New Roman"/>
              <a:sym typeface="Times New Roman"/>
            </a:endParaRPr>
          </a:p>
          <a:p>
            <a:pPr indent="0" lvl="0" marL="0" rtl="0" algn="l">
              <a:spcBef>
                <a:spcPts val="0"/>
              </a:spcBef>
              <a:spcAft>
                <a:spcPts val="0"/>
              </a:spcAft>
              <a:buNone/>
            </a:pPr>
            <a:r>
              <a:rPr lang="en" sz="1000">
                <a:latin typeface="Times New Roman"/>
                <a:ea typeface="Times New Roman"/>
                <a:cs typeface="Times New Roman"/>
                <a:sym typeface="Times New Roman"/>
              </a:rPr>
              <a:t>Loss function : Mean Square Error</a:t>
            </a:r>
            <a:endParaRPr sz="1000">
              <a:latin typeface="Times New Roman"/>
              <a:ea typeface="Times New Roman"/>
              <a:cs typeface="Times New Roman"/>
              <a:sym typeface="Times New Roman"/>
            </a:endParaRPr>
          </a:p>
          <a:p>
            <a:pPr indent="0" lvl="0" marL="0" rtl="0" algn="l">
              <a:spcBef>
                <a:spcPts val="0"/>
              </a:spcBef>
              <a:spcAft>
                <a:spcPts val="0"/>
              </a:spcAft>
              <a:buNone/>
            </a:pPr>
            <a:r>
              <a:rPr lang="en" sz="1000">
                <a:latin typeface="Times New Roman"/>
                <a:ea typeface="Times New Roman"/>
                <a:cs typeface="Times New Roman"/>
                <a:sym typeface="Times New Roman"/>
              </a:rPr>
              <a:t>Optimizer: Adam</a:t>
            </a:r>
            <a:endParaRPr sz="1000">
              <a:latin typeface="Times New Roman"/>
              <a:ea typeface="Times New Roman"/>
              <a:cs typeface="Times New Roman"/>
              <a:sym typeface="Times New Roman"/>
            </a:endParaRPr>
          </a:p>
        </p:txBody>
      </p:sp>
      <p:sp>
        <p:nvSpPr>
          <p:cNvPr id="562" name="Google Shape;562;p36"/>
          <p:cNvSpPr txBox="1"/>
          <p:nvPr/>
        </p:nvSpPr>
        <p:spPr>
          <a:xfrm>
            <a:off x="6490550" y="410100"/>
            <a:ext cx="1447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FF00"/>
                </a:solidFill>
              </a:rPr>
              <a:t>4D → 3D → 4D</a:t>
            </a:r>
            <a:endParaRPr>
              <a:solidFill>
                <a:srgbClr val="FFFF00"/>
              </a:solidFill>
            </a:endParaRPr>
          </a:p>
        </p:txBody>
      </p:sp>
      <p:pic>
        <p:nvPicPr>
          <p:cNvPr id="563" name="Google Shape;563;p36"/>
          <p:cNvPicPr preferRelativeResize="0"/>
          <p:nvPr/>
        </p:nvPicPr>
        <p:blipFill>
          <a:blip r:embed="rId3">
            <a:alphaModFix/>
          </a:blip>
          <a:stretch>
            <a:fillRect/>
          </a:stretch>
        </p:blipFill>
        <p:spPr>
          <a:xfrm>
            <a:off x="376606" y="2571752"/>
            <a:ext cx="3701125" cy="2159000"/>
          </a:xfrm>
          <a:prstGeom prst="rect">
            <a:avLst/>
          </a:prstGeom>
          <a:noFill/>
          <a:ln>
            <a:noFill/>
          </a:ln>
        </p:spPr>
      </p:pic>
      <p:pic>
        <p:nvPicPr>
          <p:cNvPr id="564" name="Google Shape;564;p36"/>
          <p:cNvPicPr preferRelativeResize="0"/>
          <p:nvPr/>
        </p:nvPicPr>
        <p:blipFill rotWithShape="1">
          <a:blip r:embed="rId4">
            <a:alphaModFix/>
          </a:blip>
          <a:srcRect b="-6677" l="0" r="0" t="23100"/>
          <a:stretch/>
        </p:blipFill>
        <p:spPr>
          <a:xfrm>
            <a:off x="98575" y="1044650"/>
            <a:ext cx="5089909" cy="927275"/>
          </a:xfrm>
          <a:prstGeom prst="rect">
            <a:avLst/>
          </a:prstGeom>
          <a:noFill/>
          <a:ln>
            <a:noFill/>
          </a:ln>
        </p:spPr>
      </p:pic>
      <p:pic>
        <p:nvPicPr>
          <p:cNvPr id="565" name="Google Shape;565;p36"/>
          <p:cNvPicPr preferRelativeResize="0"/>
          <p:nvPr/>
        </p:nvPicPr>
        <p:blipFill>
          <a:blip r:embed="rId5">
            <a:alphaModFix/>
          </a:blip>
          <a:stretch>
            <a:fillRect/>
          </a:stretch>
        </p:blipFill>
        <p:spPr>
          <a:xfrm>
            <a:off x="5340884" y="953700"/>
            <a:ext cx="3505200" cy="2362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37"/>
          <p:cNvSpPr txBox="1"/>
          <p:nvPr/>
        </p:nvSpPr>
        <p:spPr>
          <a:xfrm>
            <a:off x="152400" y="266700"/>
            <a:ext cx="9144000" cy="534600"/>
          </a:xfrm>
          <a:prstGeom prst="rect">
            <a:avLst/>
          </a:prstGeom>
          <a:solidFill>
            <a:srgbClr val="054B3E"/>
          </a:solid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sz="2600">
                <a:solidFill>
                  <a:srgbClr val="FFFF00"/>
                </a:solidFill>
                <a:latin typeface="Oswald"/>
                <a:ea typeface="Oswald"/>
                <a:cs typeface="Oswald"/>
                <a:sym typeface="Oswald"/>
              </a:rPr>
              <a:t>Autoencoder: Lorenz system</a:t>
            </a:r>
            <a:endParaRPr sz="2600">
              <a:solidFill>
                <a:srgbClr val="FFFF00"/>
              </a:solidFill>
              <a:latin typeface="Oswald"/>
              <a:ea typeface="Oswald"/>
              <a:cs typeface="Oswald"/>
              <a:sym typeface="Oswald"/>
            </a:endParaRPr>
          </a:p>
        </p:txBody>
      </p:sp>
      <p:sp>
        <p:nvSpPr>
          <p:cNvPr id="571" name="Google Shape;571;p37"/>
          <p:cNvSpPr/>
          <p:nvPr/>
        </p:nvSpPr>
        <p:spPr>
          <a:xfrm>
            <a:off x="152400" y="152400"/>
            <a:ext cx="9144000" cy="1143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400">
              <a:solidFill>
                <a:srgbClr val="FFFFFF"/>
              </a:solidFill>
              <a:latin typeface="Oswald"/>
              <a:ea typeface="Oswald"/>
              <a:cs typeface="Oswald"/>
              <a:sym typeface="Oswald"/>
            </a:endParaRPr>
          </a:p>
        </p:txBody>
      </p:sp>
      <p:sp>
        <p:nvSpPr>
          <p:cNvPr id="572" name="Google Shape;572;p37"/>
          <p:cNvSpPr/>
          <p:nvPr/>
        </p:nvSpPr>
        <p:spPr>
          <a:xfrm>
            <a:off x="0" y="5067300"/>
            <a:ext cx="9144000" cy="570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573" name="Google Shape;573;p37"/>
          <p:cNvSpPr/>
          <p:nvPr/>
        </p:nvSpPr>
        <p:spPr>
          <a:xfrm>
            <a:off x="0" y="4895700"/>
            <a:ext cx="9144000" cy="171600"/>
          </a:xfrm>
          <a:prstGeom prst="rect">
            <a:avLst/>
          </a:prstGeom>
          <a:solidFill>
            <a:srgbClr val="054B3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574" name="Google Shape;574;p37"/>
          <p:cNvSpPr txBox="1"/>
          <p:nvPr/>
        </p:nvSpPr>
        <p:spPr>
          <a:xfrm>
            <a:off x="8624858" y="4349295"/>
            <a:ext cx="548700" cy="3543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75" name="Google Shape;575;p37"/>
          <p:cNvSpPr txBox="1"/>
          <p:nvPr/>
        </p:nvSpPr>
        <p:spPr>
          <a:xfrm>
            <a:off x="6490550" y="410100"/>
            <a:ext cx="1447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FF00"/>
                </a:solidFill>
              </a:rPr>
              <a:t>4D → 3D → 4D</a:t>
            </a:r>
            <a:endParaRPr>
              <a:solidFill>
                <a:srgbClr val="FFFF00"/>
              </a:solidFill>
            </a:endParaRPr>
          </a:p>
        </p:txBody>
      </p:sp>
      <p:pic>
        <p:nvPicPr>
          <p:cNvPr id="576" name="Google Shape;576;p37"/>
          <p:cNvPicPr preferRelativeResize="0"/>
          <p:nvPr/>
        </p:nvPicPr>
        <p:blipFill>
          <a:blip r:embed="rId3">
            <a:alphaModFix/>
          </a:blip>
          <a:stretch>
            <a:fillRect/>
          </a:stretch>
        </p:blipFill>
        <p:spPr>
          <a:xfrm>
            <a:off x="5059350" y="976825"/>
            <a:ext cx="3890276" cy="2884650"/>
          </a:xfrm>
          <a:prstGeom prst="rect">
            <a:avLst/>
          </a:prstGeom>
          <a:noFill/>
          <a:ln>
            <a:noFill/>
          </a:ln>
        </p:spPr>
      </p:pic>
      <p:pic>
        <p:nvPicPr>
          <p:cNvPr id="577" name="Google Shape;577;p37"/>
          <p:cNvPicPr preferRelativeResize="0"/>
          <p:nvPr/>
        </p:nvPicPr>
        <p:blipFill>
          <a:blip r:embed="rId4">
            <a:alphaModFix/>
          </a:blip>
          <a:stretch>
            <a:fillRect/>
          </a:stretch>
        </p:blipFill>
        <p:spPr>
          <a:xfrm>
            <a:off x="152400" y="810300"/>
            <a:ext cx="2854400" cy="2055750"/>
          </a:xfrm>
          <a:prstGeom prst="rect">
            <a:avLst/>
          </a:prstGeom>
          <a:noFill/>
          <a:ln>
            <a:noFill/>
          </a:ln>
        </p:spPr>
      </p:pic>
      <p:pic>
        <p:nvPicPr>
          <p:cNvPr id="578" name="Google Shape;578;p37"/>
          <p:cNvPicPr preferRelativeResize="0"/>
          <p:nvPr/>
        </p:nvPicPr>
        <p:blipFill>
          <a:blip r:embed="rId5">
            <a:alphaModFix/>
          </a:blip>
          <a:stretch>
            <a:fillRect/>
          </a:stretch>
        </p:blipFill>
        <p:spPr>
          <a:xfrm>
            <a:off x="203900" y="2810429"/>
            <a:ext cx="2802900" cy="201867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
                                        </p:tgtEl>
                                        <p:attrNameLst>
                                          <p:attrName>style.visibility</p:attrName>
                                        </p:attrNameLst>
                                      </p:cBhvr>
                                      <p:to>
                                        <p:strVal val="visible"/>
                                      </p:to>
                                    </p:set>
                                    <p:animEffect filter="fade" transition="in">
                                      <p:cBhvr>
                                        <p:cTn dur="1000"/>
                                        <p:tgtEl>
                                          <p:spTgt spid="577"/>
                                        </p:tgtEl>
                                      </p:cBhvr>
                                    </p:animEffect>
                                  </p:childTnLst>
                                </p:cTn>
                              </p:par>
                              <p:par>
                                <p:cTn fill="hold" nodeType="withEffect" presetClass="entr" presetID="10" presetSubtype="0">
                                  <p:stCondLst>
                                    <p:cond delay="0"/>
                                  </p:stCondLst>
                                  <p:childTnLst>
                                    <p:set>
                                      <p:cBhvr>
                                        <p:cTn dur="1" fill="hold">
                                          <p:stCondLst>
                                            <p:cond delay="0"/>
                                          </p:stCondLst>
                                        </p:cTn>
                                        <p:tgtEl>
                                          <p:spTgt spid="578"/>
                                        </p:tgtEl>
                                        <p:attrNameLst>
                                          <p:attrName>style.visibility</p:attrName>
                                        </p:attrNameLst>
                                      </p:cBhvr>
                                      <p:to>
                                        <p:strVal val="visible"/>
                                      </p:to>
                                    </p:set>
                                    <p:animEffect filter="fade" transition="in">
                                      <p:cBhvr>
                                        <p:cTn dur="1000"/>
                                        <p:tgtEl>
                                          <p:spTgt spid="5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38"/>
          <p:cNvSpPr txBox="1"/>
          <p:nvPr/>
        </p:nvSpPr>
        <p:spPr>
          <a:xfrm>
            <a:off x="0" y="210075"/>
            <a:ext cx="9144000" cy="534600"/>
          </a:xfrm>
          <a:prstGeom prst="rect">
            <a:avLst/>
          </a:prstGeom>
          <a:solidFill>
            <a:srgbClr val="054B3E"/>
          </a:solid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sz="2600">
                <a:solidFill>
                  <a:srgbClr val="FFFF00"/>
                </a:solidFill>
                <a:latin typeface="Oswald"/>
                <a:ea typeface="Oswald"/>
                <a:cs typeface="Oswald"/>
                <a:sym typeface="Oswald"/>
              </a:rPr>
              <a:t>Part 1:</a:t>
            </a:r>
            <a:r>
              <a:rPr lang="en" sz="2600">
                <a:solidFill>
                  <a:srgbClr val="FFFF00"/>
                </a:solidFill>
                <a:latin typeface="Oswald"/>
                <a:ea typeface="Oswald"/>
                <a:cs typeface="Oswald"/>
                <a:sym typeface="Oswald"/>
              </a:rPr>
              <a:t>Lorenz</a:t>
            </a:r>
            <a:r>
              <a:rPr lang="en" sz="2600">
                <a:solidFill>
                  <a:srgbClr val="FFFF00"/>
                </a:solidFill>
                <a:latin typeface="Oswald"/>
                <a:ea typeface="Oswald"/>
                <a:cs typeface="Oswald"/>
                <a:sym typeface="Oswald"/>
              </a:rPr>
              <a:t> </a:t>
            </a:r>
            <a:r>
              <a:rPr lang="en" sz="2600">
                <a:solidFill>
                  <a:srgbClr val="FFFF00"/>
                </a:solidFill>
                <a:latin typeface="Oswald"/>
                <a:ea typeface="Oswald"/>
                <a:cs typeface="Oswald"/>
                <a:sym typeface="Oswald"/>
              </a:rPr>
              <a:t>system</a:t>
            </a:r>
            <a:endParaRPr sz="2600">
              <a:solidFill>
                <a:srgbClr val="FFFF00"/>
              </a:solidFill>
              <a:latin typeface="Oswald"/>
              <a:ea typeface="Oswald"/>
              <a:cs typeface="Oswald"/>
              <a:sym typeface="Oswald"/>
            </a:endParaRPr>
          </a:p>
        </p:txBody>
      </p:sp>
      <p:sp>
        <p:nvSpPr>
          <p:cNvPr id="584" name="Google Shape;584;p38"/>
          <p:cNvSpPr/>
          <p:nvPr/>
        </p:nvSpPr>
        <p:spPr>
          <a:xfrm>
            <a:off x="0" y="95775"/>
            <a:ext cx="9144000" cy="1143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400">
              <a:solidFill>
                <a:srgbClr val="FFFFFF"/>
              </a:solidFill>
              <a:latin typeface="Oswald"/>
              <a:ea typeface="Oswald"/>
              <a:cs typeface="Oswald"/>
              <a:sym typeface="Oswald"/>
            </a:endParaRPr>
          </a:p>
        </p:txBody>
      </p:sp>
      <p:sp>
        <p:nvSpPr>
          <p:cNvPr id="585" name="Google Shape;585;p38"/>
          <p:cNvSpPr/>
          <p:nvPr/>
        </p:nvSpPr>
        <p:spPr>
          <a:xfrm>
            <a:off x="0" y="5067300"/>
            <a:ext cx="9144000" cy="570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586" name="Google Shape;586;p38"/>
          <p:cNvSpPr/>
          <p:nvPr/>
        </p:nvSpPr>
        <p:spPr>
          <a:xfrm>
            <a:off x="0" y="4952700"/>
            <a:ext cx="9144000" cy="171600"/>
          </a:xfrm>
          <a:prstGeom prst="rect">
            <a:avLst/>
          </a:prstGeom>
          <a:solidFill>
            <a:srgbClr val="054B3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587" name="Google Shape;587;p38"/>
          <p:cNvSpPr txBox="1"/>
          <p:nvPr/>
        </p:nvSpPr>
        <p:spPr>
          <a:xfrm>
            <a:off x="8624858" y="4349295"/>
            <a:ext cx="548700" cy="3543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88" name="Google Shape;588;p38"/>
          <p:cNvSpPr txBox="1"/>
          <p:nvPr/>
        </p:nvSpPr>
        <p:spPr>
          <a:xfrm>
            <a:off x="6315475" y="333900"/>
            <a:ext cx="1447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FF00"/>
                </a:solidFill>
              </a:rPr>
              <a:t>4</a:t>
            </a:r>
            <a:r>
              <a:rPr lang="en">
                <a:solidFill>
                  <a:srgbClr val="FFFF00"/>
                </a:solidFill>
              </a:rPr>
              <a:t>D → 3D → 4D</a:t>
            </a:r>
            <a:endParaRPr>
              <a:solidFill>
                <a:srgbClr val="FFFF00"/>
              </a:solidFill>
            </a:endParaRPr>
          </a:p>
        </p:txBody>
      </p:sp>
      <p:sp>
        <p:nvSpPr>
          <p:cNvPr id="589" name="Google Shape;589;p38"/>
          <p:cNvSpPr/>
          <p:nvPr/>
        </p:nvSpPr>
        <p:spPr>
          <a:xfrm>
            <a:off x="3026575" y="3220538"/>
            <a:ext cx="336000" cy="221400"/>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0000"/>
              </a:solidFill>
            </a:endParaRPr>
          </a:p>
        </p:txBody>
      </p:sp>
      <p:sp>
        <p:nvSpPr>
          <p:cNvPr id="590" name="Google Shape;590;p38"/>
          <p:cNvSpPr/>
          <p:nvPr/>
        </p:nvSpPr>
        <p:spPr>
          <a:xfrm>
            <a:off x="5677625" y="3315050"/>
            <a:ext cx="336000" cy="221400"/>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0000"/>
              </a:solidFill>
            </a:endParaRPr>
          </a:p>
        </p:txBody>
      </p:sp>
      <p:pic>
        <p:nvPicPr>
          <p:cNvPr id="591" name="Google Shape;591;p38"/>
          <p:cNvPicPr preferRelativeResize="0"/>
          <p:nvPr/>
        </p:nvPicPr>
        <p:blipFill rotWithShape="1">
          <a:blip r:embed="rId3">
            <a:alphaModFix/>
          </a:blip>
          <a:srcRect b="-1370" l="9575" r="0" t="1370"/>
          <a:stretch/>
        </p:blipFill>
        <p:spPr>
          <a:xfrm>
            <a:off x="174475" y="2087775"/>
            <a:ext cx="2934475" cy="2172900"/>
          </a:xfrm>
          <a:prstGeom prst="rect">
            <a:avLst/>
          </a:prstGeom>
          <a:noFill/>
          <a:ln>
            <a:noFill/>
          </a:ln>
        </p:spPr>
      </p:pic>
      <p:pic>
        <p:nvPicPr>
          <p:cNvPr id="592" name="Google Shape;592;p38"/>
          <p:cNvPicPr preferRelativeResize="0"/>
          <p:nvPr/>
        </p:nvPicPr>
        <p:blipFill rotWithShape="1">
          <a:blip r:embed="rId4">
            <a:alphaModFix/>
          </a:blip>
          <a:srcRect b="0" l="0" r="0" t="81463"/>
          <a:stretch/>
        </p:blipFill>
        <p:spPr>
          <a:xfrm>
            <a:off x="127375" y="4406589"/>
            <a:ext cx="3701125" cy="400200"/>
          </a:xfrm>
          <a:prstGeom prst="rect">
            <a:avLst/>
          </a:prstGeom>
          <a:noFill/>
          <a:ln>
            <a:noFill/>
          </a:ln>
        </p:spPr>
      </p:pic>
      <p:pic>
        <p:nvPicPr>
          <p:cNvPr id="593" name="Google Shape;593;p38"/>
          <p:cNvPicPr preferRelativeResize="0"/>
          <p:nvPr/>
        </p:nvPicPr>
        <p:blipFill rotWithShape="1">
          <a:blip r:embed="rId5">
            <a:alphaModFix/>
          </a:blip>
          <a:srcRect b="0" l="8550" r="0" t="0"/>
          <a:stretch/>
        </p:blipFill>
        <p:spPr>
          <a:xfrm>
            <a:off x="6013625" y="2185280"/>
            <a:ext cx="3130375" cy="2291920"/>
          </a:xfrm>
          <a:prstGeom prst="rect">
            <a:avLst/>
          </a:prstGeom>
          <a:noFill/>
          <a:ln>
            <a:noFill/>
          </a:ln>
        </p:spPr>
      </p:pic>
      <p:pic>
        <p:nvPicPr>
          <p:cNvPr id="594" name="Google Shape;594;p38"/>
          <p:cNvPicPr preferRelativeResize="0"/>
          <p:nvPr/>
        </p:nvPicPr>
        <p:blipFill>
          <a:blip r:embed="rId6">
            <a:alphaModFix/>
          </a:blip>
          <a:stretch>
            <a:fillRect/>
          </a:stretch>
        </p:blipFill>
        <p:spPr>
          <a:xfrm>
            <a:off x="3261350" y="897075"/>
            <a:ext cx="2416275" cy="1599303"/>
          </a:xfrm>
          <a:prstGeom prst="rect">
            <a:avLst/>
          </a:prstGeom>
          <a:noFill/>
          <a:ln>
            <a:noFill/>
          </a:ln>
        </p:spPr>
      </p:pic>
      <p:pic>
        <p:nvPicPr>
          <p:cNvPr id="595" name="Google Shape;595;p38"/>
          <p:cNvPicPr preferRelativeResize="0"/>
          <p:nvPr/>
        </p:nvPicPr>
        <p:blipFill>
          <a:blip r:embed="rId7">
            <a:alphaModFix/>
          </a:blip>
          <a:stretch>
            <a:fillRect/>
          </a:stretch>
        </p:blipFill>
        <p:spPr>
          <a:xfrm>
            <a:off x="3200400" y="2559517"/>
            <a:ext cx="2477225" cy="179340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9"/>
                                        </p:tgtEl>
                                        <p:attrNameLst>
                                          <p:attrName>style.visibility</p:attrName>
                                        </p:attrNameLst>
                                      </p:cBhvr>
                                      <p:to>
                                        <p:strVal val="visible"/>
                                      </p:to>
                                    </p:set>
                                    <p:animEffect filter="fade" transition="in">
                                      <p:cBhvr>
                                        <p:cTn dur="1000"/>
                                        <p:tgtEl>
                                          <p:spTgt spid="589"/>
                                        </p:tgtEl>
                                      </p:cBhvr>
                                    </p:animEffect>
                                  </p:childTnLst>
                                </p:cTn>
                              </p:par>
                              <p:par>
                                <p:cTn fill="hold" nodeType="withEffect" presetClass="entr" presetID="10" presetSubtype="0">
                                  <p:stCondLst>
                                    <p:cond delay="0"/>
                                  </p:stCondLst>
                                  <p:childTnLst>
                                    <p:set>
                                      <p:cBhvr>
                                        <p:cTn dur="1" fill="hold">
                                          <p:stCondLst>
                                            <p:cond delay="0"/>
                                          </p:stCondLst>
                                        </p:cTn>
                                        <p:tgtEl>
                                          <p:spTgt spid="595"/>
                                        </p:tgtEl>
                                        <p:attrNameLst>
                                          <p:attrName>style.visibility</p:attrName>
                                        </p:attrNameLst>
                                      </p:cBhvr>
                                      <p:to>
                                        <p:strVal val="visible"/>
                                      </p:to>
                                    </p:set>
                                    <p:animEffect filter="fade" transition="in">
                                      <p:cBhvr>
                                        <p:cTn dur="1000"/>
                                        <p:tgtEl>
                                          <p:spTgt spid="595"/>
                                        </p:tgtEl>
                                      </p:cBhvr>
                                    </p:animEffect>
                                  </p:childTnLst>
                                </p:cTn>
                              </p:par>
                              <p:par>
                                <p:cTn fill="hold" nodeType="withEffect" presetClass="entr" presetID="10" presetSubtype="0">
                                  <p:stCondLst>
                                    <p:cond delay="0"/>
                                  </p:stCondLst>
                                  <p:childTnLst>
                                    <p:set>
                                      <p:cBhvr>
                                        <p:cTn dur="1" fill="hold">
                                          <p:stCondLst>
                                            <p:cond delay="0"/>
                                          </p:stCondLst>
                                        </p:cTn>
                                        <p:tgtEl>
                                          <p:spTgt spid="594"/>
                                        </p:tgtEl>
                                        <p:attrNameLst>
                                          <p:attrName>style.visibility</p:attrName>
                                        </p:attrNameLst>
                                      </p:cBhvr>
                                      <p:to>
                                        <p:strVal val="visible"/>
                                      </p:to>
                                    </p:set>
                                    <p:animEffect filter="fade" transition="in">
                                      <p:cBhvr>
                                        <p:cTn dur="1000"/>
                                        <p:tgtEl>
                                          <p:spTgt spid="5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0"/>
                                        </p:tgtEl>
                                        <p:attrNameLst>
                                          <p:attrName>style.visibility</p:attrName>
                                        </p:attrNameLst>
                                      </p:cBhvr>
                                      <p:to>
                                        <p:strVal val="visible"/>
                                      </p:to>
                                    </p:set>
                                    <p:animEffect filter="fade" transition="in">
                                      <p:cBhvr>
                                        <p:cTn dur="1000"/>
                                        <p:tgtEl>
                                          <p:spTgt spid="590"/>
                                        </p:tgtEl>
                                      </p:cBhvr>
                                    </p:animEffect>
                                  </p:childTnLst>
                                </p:cTn>
                              </p:par>
                              <p:par>
                                <p:cTn fill="hold" nodeType="withEffect" presetClass="entr" presetID="10" presetSubtype="0">
                                  <p:stCondLst>
                                    <p:cond delay="0"/>
                                  </p:stCondLst>
                                  <p:childTnLst>
                                    <p:set>
                                      <p:cBhvr>
                                        <p:cTn dur="1" fill="hold">
                                          <p:stCondLst>
                                            <p:cond delay="0"/>
                                          </p:stCondLst>
                                        </p:cTn>
                                        <p:tgtEl>
                                          <p:spTgt spid="593"/>
                                        </p:tgtEl>
                                        <p:attrNameLst>
                                          <p:attrName>style.visibility</p:attrName>
                                        </p:attrNameLst>
                                      </p:cBhvr>
                                      <p:to>
                                        <p:strVal val="visible"/>
                                      </p:to>
                                    </p:set>
                                    <p:animEffect filter="fade" transition="in">
                                      <p:cBhvr>
                                        <p:cTn dur="1000"/>
                                        <p:tgtEl>
                                          <p:spTgt spid="5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39"/>
          <p:cNvSpPr txBox="1"/>
          <p:nvPr/>
        </p:nvSpPr>
        <p:spPr>
          <a:xfrm>
            <a:off x="0" y="210075"/>
            <a:ext cx="9144000" cy="534600"/>
          </a:xfrm>
          <a:prstGeom prst="rect">
            <a:avLst/>
          </a:prstGeom>
          <a:solidFill>
            <a:srgbClr val="054B3E"/>
          </a:solid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sz="2600">
                <a:solidFill>
                  <a:srgbClr val="FFFF00"/>
                </a:solidFill>
                <a:latin typeface="Oswald"/>
                <a:ea typeface="Oswald"/>
                <a:cs typeface="Oswald"/>
                <a:sym typeface="Oswald"/>
              </a:rPr>
              <a:t>Conclusion</a:t>
            </a:r>
            <a:endParaRPr sz="2600">
              <a:solidFill>
                <a:srgbClr val="FFFF00"/>
              </a:solidFill>
              <a:latin typeface="Oswald"/>
              <a:ea typeface="Oswald"/>
              <a:cs typeface="Oswald"/>
              <a:sym typeface="Oswald"/>
            </a:endParaRPr>
          </a:p>
        </p:txBody>
      </p:sp>
      <p:sp>
        <p:nvSpPr>
          <p:cNvPr id="601" name="Google Shape;601;p39"/>
          <p:cNvSpPr/>
          <p:nvPr/>
        </p:nvSpPr>
        <p:spPr>
          <a:xfrm>
            <a:off x="0" y="95775"/>
            <a:ext cx="9144000" cy="1143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400">
              <a:solidFill>
                <a:srgbClr val="FFFFFF"/>
              </a:solidFill>
              <a:latin typeface="Oswald"/>
              <a:ea typeface="Oswald"/>
              <a:cs typeface="Oswald"/>
              <a:sym typeface="Oswald"/>
            </a:endParaRPr>
          </a:p>
        </p:txBody>
      </p:sp>
      <p:sp>
        <p:nvSpPr>
          <p:cNvPr id="602" name="Google Shape;602;p39"/>
          <p:cNvSpPr/>
          <p:nvPr/>
        </p:nvSpPr>
        <p:spPr>
          <a:xfrm>
            <a:off x="0" y="5067300"/>
            <a:ext cx="9144000" cy="570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603" name="Google Shape;603;p39"/>
          <p:cNvSpPr/>
          <p:nvPr/>
        </p:nvSpPr>
        <p:spPr>
          <a:xfrm>
            <a:off x="0" y="4952700"/>
            <a:ext cx="9144000" cy="171600"/>
          </a:xfrm>
          <a:prstGeom prst="rect">
            <a:avLst/>
          </a:prstGeom>
          <a:solidFill>
            <a:srgbClr val="054B3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604" name="Google Shape;604;p39"/>
          <p:cNvSpPr txBox="1"/>
          <p:nvPr/>
        </p:nvSpPr>
        <p:spPr>
          <a:xfrm>
            <a:off x="8624858" y="4349295"/>
            <a:ext cx="548700" cy="3543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05" name="Google Shape;605;p39"/>
          <p:cNvSpPr txBox="1"/>
          <p:nvPr/>
        </p:nvSpPr>
        <p:spPr>
          <a:xfrm>
            <a:off x="473625" y="1043925"/>
            <a:ext cx="6862800" cy="2914200"/>
          </a:xfrm>
          <a:prstGeom prst="rect">
            <a:avLst/>
          </a:prstGeom>
          <a:noFill/>
          <a:ln>
            <a:noFill/>
          </a:ln>
        </p:spPr>
        <p:txBody>
          <a:bodyPr anchorCtr="0" anchor="t" bIns="91425" lIns="91425" spcFirstLastPara="1" rIns="91425" wrap="square" tIns="91425">
            <a:spAutoFit/>
          </a:bodyPr>
          <a:lstStyle/>
          <a:p>
            <a:pPr indent="-330200" lvl="0" marL="457200" rtl="0" algn="l">
              <a:spcBef>
                <a:spcPts val="1000"/>
              </a:spcBef>
              <a:spcAft>
                <a:spcPts val="0"/>
              </a:spcAft>
              <a:buSzPts val="1600"/>
              <a:buFont typeface="Times New Roman"/>
              <a:buChar char="●"/>
            </a:pPr>
            <a:r>
              <a:rPr lang="en" sz="1600">
                <a:latin typeface="Times New Roman"/>
                <a:ea typeface="Times New Roman"/>
                <a:cs typeface="Times New Roman"/>
                <a:sym typeface="Times New Roman"/>
              </a:rPr>
              <a:t>Neural networks are one of the best ways to </a:t>
            </a:r>
            <a:r>
              <a:rPr lang="en" sz="1600">
                <a:solidFill>
                  <a:schemeClr val="dk1"/>
                </a:solidFill>
                <a:latin typeface="Times New Roman"/>
                <a:ea typeface="Times New Roman"/>
                <a:cs typeface="Times New Roman"/>
                <a:sym typeface="Times New Roman"/>
              </a:rPr>
              <a:t>learn features</a:t>
            </a:r>
            <a:r>
              <a:rPr lang="en" sz="1600">
                <a:latin typeface="Times New Roman"/>
                <a:ea typeface="Times New Roman"/>
                <a:cs typeface="Times New Roman"/>
                <a:sym typeface="Times New Roman"/>
              </a:rPr>
              <a:t> of data with unknown models.</a:t>
            </a:r>
            <a:endParaRPr sz="1600">
              <a:latin typeface="Times New Roman"/>
              <a:ea typeface="Times New Roman"/>
              <a:cs typeface="Times New Roman"/>
              <a:sym typeface="Times New Roman"/>
            </a:endParaRPr>
          </a:p>
          <a:p>
            <a:pPr indent="-330200" lvl="0" marL="457200" rtl="0" algn="l">
              <a:spcBef>
                <a:spcPts val="1000"/>
              </a:spcBef>
              <a:spcAft>
                <a:spcPts val="0"/>
              </a:spcAft>
              <a:buSzPts val="1600"/>
              <a:buFont typeface="Times New Roman"/>
              <a:buChar char="●"/>
            </a:pPr>
            <a:r>
              <a:rPr lang="en" sz="1600">
                <a:latin typeface="Times New Roman"/>
                <a:ea typeface="Times New Roman"/>
                <a:cs typeface="Times New Roman"/>
                <a:sym typeface="Times New Roman"/>
              </a:rPr>
              <a:t>Our aim here is to create a neural network to predict future state of a given dynamical system.</a:t>
            </a:r>
            <a:endParaRPr sz="1600">
              <a:latin typeface="Times New Roman"/>
              <a:ea typeface="Times New Roman"/>
              <a:cs typeface="Times New Roman"/>
              <a:sym typeface="Times New Roman"/>
            </a:endParaRPr>
          </a:p>
          <a:p>
            <a:pPr indent="-330200" lvl="0" marL="457200" rtl="0" algn="l">
              <a:spcBef>
                <a:spcPts val="1000"/>
              </a:spcBef>
              <a:spcAft>
                <a:spcPts val="0"/>
              </a:spcAft>
              <a:buSzPts val="1600"/>
              <a:buFont typeface="Times New Roman"/>
              <a:buChar char="●"/>
            </a:pPr>
            <a:r>
              <a:rPr lang="en" sz="1600">
                <a:latin typeface="Times New Roman"/>
                <a:ea typeface="Times New Roman"/>
                <a:cs typeface="Times New Roman"/>
                <a:sym typeface="Times New Roman"/>
              </a:rPr>
              <a:t>Dimension reduction of the data is important  along the process.</a:t>
            </a:r>
            <a:endParaRPr sz="1600">
              <a:latin typeface="Times New Roman"/>
              <a:ea typeface="Times New Roman"/>
              <a:cs typeface="Times New Roman"/>
              <a:sym typeface="Times New Roman"/>
            </a:endParaRPr>
          </a:p>
          <a:p>
            <a:pPr indent="-330200" lvl="0" marL="457200" rtl="0" algn="l">
              <a:spcBef>
                <a:spcPts val="1000"/>
              </a:spcBef>
              <a:spcAft>
                <a:spcPts val="0"/>
              </a:spcAft>
              <a:buSzPts val="1600"/>
              <a:buFont typeface="Times New Roman"/>
              <a:buChar char="●"/>
            </a:pPr>
            <a:r>
              <a:rPr lang="en" sz="1600">
                <a:latin typeface="Times New Roman"/>
                <a:ea typeface="Times New Roman"/>
                <a:cs typeface="Times New Roman"/>
                <a:sym typeface="Times New Roman"/>
              </a:rPr>
              <a:t>Autoencoders can learn mapping back and forth between high dimensional data and reduce dimensional data.</a:t>
            </a:r>
            <a:endParaRPr sz="1600">
              <a:latin typeface="Times New Roman"/>
              <a:ea typeface="Times New Roman"/>
              <a:cs typeface="Times New Roman"/>
              <a:sym typeface="Times New Roman"/>
            </a:endParaRPr>
          </a:p>
          <a:p>
            <a:pPr indent="-330200" lvl="0" marL="457200" rtl="0" algn="l">
              <a:spcBef>
                <a:spcPts val="1000"/>
              </a:spcBef>
              <a:spcAft>
                <a:spcPts val="1000"/>
              </a:spcAft>
              <a:buSzPts val="1600"/>
              <a:buFont typeface="Times New Roman"/>
              <a:buChar char="●"/>
            </a:pPr>
            <a:r>
              <a:rPr lang="en" sz="1600">
                <a:latin typeface="Times New Roman"/>
                <a:ea typeface="Times New Roman"/>
                <a:cs typeface="Times New Roman"/>
                <a:sym typeface="Times New Roman"/>
              </a:rPr>
              <a:t>We use autoencoders to reduce the dimension of the given system data before we create the corresponding N-ODE model of the system.</a:t>
            </a:r>
            <a:endParaRPr sz="1600">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40"/>
          <p:cNvSpPr txBox="1"/>
          <p:nvPr/>
        </p:nvSpPr>
        <p:spPr>
          <a:xfrm>
            <a:off x="0" y="210075"/>
            <a:ext cx="9144000" cy="534600"/>
          </a:xfrm>
          <a:prstGeom prst="rect">
            <a:avLst/>
          </a:prstGeom>
          <a:solidFill>
            <a:srgbClr val="054B3E"/>
          </a:solidFill>
          <a:ln>
            <a:noFill/>
          </a:ln>
        </p:spPr>
        <p:txBody>
          <a:bodyPr anchorCtr="0" anchor="ctr" bIns="45700" lIns="91425" spcFirstLastPara="1" rIns="91425" wrap="square" tIns="45700">
            <a:normAutofit/>
          </a:bodyPr>
          <a:lstStyle/>
          <a:p>
            <a:pPr indent="0" lvl="0" marL="0" rtl="0" algn="ctr">
              <a:spcBef>
                <a:spcPts val="0"/>
              </a:spcBef>
              <a:spcAft>
                <a:spcPts val="0"/>
              </a:spcAft>
              <a:buNone/>
            </a:pPr>
            <a:r>
              <a:t/>
            </a:r>
            <a:endParaRPr sz="2600">
              <a:solidFill>
                <a:srgbClr val="FFFF00"/>
              </a:solidFill>
              <a:latin typeface="Oswald"/>
              <a:ea typeface="Oswald"/>
              <a:cs typeface="Oswald"/>
              <a:sym typeface="Oswald"/>
            </a:endParaRPr>
          </a:p>
        </p:txBody>
      </p:sp>
      <p:sp>
        <p:nvSpPr>
          <p:cNvPr id="611" name="Google Shape;611;p40"/>
          <p:cNvSpPr/>
          <p:nvPr/>
        </p:nvSpPr>
        <p:spPr>
          <a:xfrm>
            <a:off x="0" y="95775"/>
            <a:ext cx="9144000" cy="1143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4400">
              <a:solidFill>
                <a:srgbClr val="FFFFFF"/>
              </a:solidFill>
              <a:latin typeface="Oswald"/>
              <a:ea typeface="Oswald"/>
              <a:cs typeface="Oswald"/>
              <a:sym typeface="Oswald"/>
            </a:endParaRPr>
          </a:p>
        </p:txBody>
      </p:sp>
      <p:sp>
        <p:nvSpPr>
          <p:cNvPr id="612" name="Google Shape;612;p40"/>
          <p:cNvSpPr/>
          <p:nvPr/>
        </p:nvSpPr>
        <p:spPr>
          <a:xfrm>
            <a:off x="0" y="5067300"/>
            <a:ext cx="9144000" cy="57000"/>
          </a:xfrm>
          <a:prstGeom prst="rect">
            <a:avLst/>
          </a:prstGeom>
          <a:solidFill>
            <a:srgbClr val="274E1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613" name="Google Shape;613;p40"/>
          <p:cNvSpPr/>
          <p:nvPr/>
        </p:nvSpPr>
        <p:spPr>
          <a:xfrm>
            <a:off x="0" y="4952700"/>
            <a:ext cx="9144000" cy="171600"/>
          </a:xfrm>
          <a:prstGeom prst="rect">
            <a:avLst/>
          </a:prstGeom>
          <a:solidFill>
            <a:srgbClr val="054B3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4400">
                <a:solidFill>
                  <a:srgbClr val="FFFFFF"/>
                </a:solidFill>
                <a:latin typeface="Oswald"/>
                <a:ea typeface="Oswald"/>
                <a:cs typeface="Oswald"/>
                <a:sym typeface="Oswald"/>
              </a:rPr>
              <a:t>                            </a:t>
            </a:r>
            <a:endParaRPr>
              <a:latin typeface="Oswald"/>
              <a:ea typeface="Oswald"/>
              <a:cs typeface="Oswald"/>
              <a:sym typeface="Oswald"/>
            </a:endParaRPr>
          </a:p>
        </p:txBody>
      </p:sp>
      <p:sp>
        <p:nvSpPr>
          <p:cNvPr id="614" name="Google Shape;614;p40"/>
          <p:cNvSpPr txBox="1"/>
          <p:nvPr/>
        </p:nvSpPr>
        <p:spPr>
          <a:xfrm>
            <a:off x="8624858" y="4349295"/>
            <a:ext cx="548700" cy="3543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15" name="Google Shape;615;p40"/>
          <p:cNvSpPr txBox="1"/>
          <p:nvPr/>
        </p:nvSpPr>
        <p:spPr>
          <a:xfrm>
            <a:off x="2271550" y="2136800"/>
            <a:ext cx="3522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